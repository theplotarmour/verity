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frame: this is not a document tool. It is the system the firm runs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exists. It is the connection between it that the firm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one of these questions costs a phone call, a search, or an apology.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centre of the product and the centre of this deck. Everything hangs off the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record, maintained once, used by everyone. Identity, ownership and scope of service in a single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client and the state of the relationship is visible in five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physical client file, digitally: categorised, versioned, verified, searchable.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request itself becomes tracked work, so nobody has to remember who was chased and when.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Compliance is not a separate calendar. It is a state of the client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Ownership and review are properties of the work, not of a WhatsApp thread.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practice-wide view of everything due, sliced by whichever lens the viewer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emotional centre of the pitch: client knowledge belongs to the 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record, four lenses. Nobody gets a screen full of somebody else's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client side is deliberately plain: what you need from me, and what you already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compounding argument: every year of work makes the next one cheaper to deliver.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CA firm this is table stakes, and it is also a selling point to their own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partner slide. This is where managing clients becomes managing the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Attention goes where it is needed, before the client rings to complain.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Sequenced so the firm gets value at phase one and nothing depends on a big-bang cutover.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story idea, then the lockup. Then offer the live product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7602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CHARTERED ACCOUNTANCY FIRMS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695700"/>
            <a:ext cx="17602200" cy="154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919"/>
              </a:lnSpc>
              <a:buNone/>
            </a:pPr>
            <a:r>
              <a:rPr lang="en-US" sz="12900" b="1" spc="-580" kern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VERITY</a:t>
            </a:r>
            <a:endParaRPr lang="en-US" sz="12900" dirty="0"/>
          </a:p>
        </p:txBody>
      </p:sp>
      <p:sp>
        <p:nvSpPr>
          <p:cNvPr id="4" name="Shape 2"/>
          <p:cNvSpPr/>
          <p:nvPr/>
        </p:nvSpPr>
        <p:spPr>
          <a:xfrm>
            <a:off x="1143000" y="5619750"/>
            <a:ext cx="1714500" cy="19050"/>
          </a:xfrm>
          <a:prstGeom prst="rect">
            <a:avLst/>
          </a:prstGeom>
          <a:solidFill>
            <a:srgbClr val="A8853F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6057900"/>
            <a:ext cx="1204912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3900" spc="-78" kern="0" dirty="0">
                <a:solidFill>
                  <a:srgbClr val="ED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Operating System for a modern CA firm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143000" y="9010650"/>
            <a:ext cx="16027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9C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client.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362027" y="9010650"/>
            <a:ext cx="322395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9C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complete record.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054900" y="9010650"/>
            <a:ext cx="363438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9C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connected practice.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OPENING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38275"/>
            <a:ext cx="1571625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018"/>
              </a:lnSpc>
              <a:buNone/>
            </a:pPr>
            <a:r>
              <a:rPr lang="en-US" sz="7200" b="1" spc="-252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firm knows your clients.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52500" y="25908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018"/>
              </a:lnSpc>
              <a:buNone/>
            </a:pPr>
            <a:r>
              <a:rPr lang="en-US" sz="7200" b="1" spc="-252" kern="0" dirty="0">
                <a:solidFill>
                  <a:srgbClr val="A08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does your system?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952500" y="4976813"/>
            <a:ext cx="395287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3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7775" y="5310187"/>
            <a:ext cx="34809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3D3B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095875" y="4976813"/>
            <a:ext cx="395287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3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1150" y="5310187"/>
            <a:ext cx="34809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3D3B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WHATSAPP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239250" y="4976813"/>
            <a:ext cx="395287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3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34525" y="5310187"/>
            <a:ext cx="34809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3D3B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EXCEL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3382625" y="4976813"/>
            <a:ext cx="395287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3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677900" y="5310187"/>
            <a:ext cx="34809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3D3B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2500" y="6119813"/>
            <a:ext cx="395287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3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7775" y="6453187"/>
            <a:ext cx="34809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3D3B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5095875" y="6119813"/>
            <a:ext cx="395287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3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1150" y="6453187"/>
            <a:ext cx="34809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3D3B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239250" y="6119813"/>
            <a:ext cx="395287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3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34525" y="6453187"/>
            <a:ext cx="34809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3D3B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PHYSICAL FILE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3382625" y="6119813"/>
            <a:ext cx="395287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3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677900" y="6453187"/>
            <a:ext cx="34809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3D3B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ACCOUNTING SOFTWARE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52500" y="8534400"/>
            <a:ext cx="16383000" cy="9525"/>
          </a:xfrm>
          <a:prstGeom prst="rect">
            <a:avLst/>
          </a:prstGeom>
          <a:solidFill>
            <a:srgbClr val="1C1B19">
              <a:alpha val="1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" y="8963025"/>
            <a:ext cx="586805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06"/>
              </a:lnSpc>
              <a:buNone/>
            </a:pPr>
            <a:r>
              <a:rPr lang="en-US" sz="4050" b="1" spc="-101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 exists.</a:t>
            </a:r>
            <a:endParaRPr lang="en-US" sz="4050" dirty="0"/>
          </a:p>
        </p:txBody>
      </p:sp>
      <p:sp>
        <p:nvSpPr>
          <p:cNvPr id="23" name="Text 21"/>
          <p:cNvSpPr/>
          <p:nvPr/>
        </p:nvSpPr>
        <p:spPr>
          <a:xfrm>
            <a:off x="6553795" y="8963025"/>
            <a:ext cx="6158969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06"/>
              </a:lnSpc>
              <a:buNone/>
            </a:pPr>
            <a:r>
              <a:rPr lang="en-US" sz="4050" b="1" spc="-101" kern="0" dirty="0">
                <a:solidFill>
                  <a:srgbClr val="1E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connection doesn't.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COST OF FRAGMENTATION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38275"/>
            <a:ext cx="180213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13"/>
              </a:lnSpc>
              <a:buNone/>
            </a:pPr>
            <a:r>
              <a:rPr lang="en-US" sz="4500" b="1" spc="-135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day, in questions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4110038"/>
            <a:ext cx="35063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55539" y="3948112"/>
            <a:ext cx="661670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84"/>
              </a:lnSpc>
              <a:buNone/>
            </a:pPr>
            <a:r>
              <a:rPr lang="en-US" sz="28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is the latest bank statement?”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429750" y="4110038"/>
            <a:ext cx="35063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32789" y="3948112"/>
            <a:ext cx="546549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84"/>
              </a:lnSpc>
              <a:buNone/>
            </a:pPr>
            <a:r>
              <a:rPr lang="en-US" sz="28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is this task still pending?”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52500" y="4824413"/>
            <a:ext cx="35063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55539" y="4662488"/>
            <a:ext cx="7406447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84"/>
              </a:lnSpc>
              <a:buNone/>
            </a:pPr>
            <a:r>
              <a:rPr lang="en-US" sz="28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“Did the client send the GST documents?”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429750" y="4824413"/>
            <a:ext cx="35063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932789" y="4662488"/>
            <a:ext cx="491329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84"/>
              </a:lnSpc>
              <a:buNone/>
            </a:pPr>
            <a:r>
              <a:rPr lang="en-US" sz="28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happened last year?”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52500" y="5538788"/>
            <a:ext cx="35063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55539" y="5376863"/>
            <a:ext cx="520044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84"/>
              </a:lnSpc>
              <a:buNone/>
            </a:pPr>
            <a:r>
              <a:rPr lang="en-US" sz="28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“Who is handling this return?”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429750" y="5538788"/>
            <a:ext cx="35063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32789" y="5376863"/>
            <a:ext cx="579733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84"/>
              </a:lnSpc>
              <a:buNone/>
            </a:pPr>
            <a:r>
              <a:rPr lang="en-US" sz="28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documents are missing?”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952500" y="6253163"/>
            <a:ext cx="35063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55539" y="6091238"/>
            <a:ext cx="612999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84"/>
              </a:lnSpc>
              <a:buNone/>
            </a:pPr>
            <a:r>
              <a:rPr lang="en-US" sz="28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“When did we last speak to them?”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952500" y="8458200"/>
            <a:ext cx="16383000" cy="9525"/>
          </a:xfrm>
          <a:prstGeom prst="rect">
            <a:avLst/>
          </a:prstGeom>
          <a:solidFill>
            <a:srgbClr val="1C1B19">
              <a:alpha val="1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8886825"/>
            <a:ext cx="168744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11"/>
              </a:lnSpc>
              <a:buNone/>
            </a:pPr>
            <a:r>
              <a:rPr lang="en-US" sz="4800" b="1" spc="-144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questions should have simple answers.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114675"/>
            <a:ext cx="67056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BIG IDEA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3714750"/>
            <a:ext cx="67056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34"/>
              </a:lnSpc>
              <a:buNone/>
            </a:pPr>
            <a:r>
              <a:rPr lang="en-US" sz="6150" b="1" spc="-215" kern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360°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1047750" y="4838700"/>
            <a:ext cx="4611052" cy="237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2550" dirty="0">
                <a:solidFill>
                  <a:srgbClr val="B7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client. One complete record. Every document, task, deadline, interaction and piece of client intelligence connected to it.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0991850" y="3419475"/>
            <a:ext cx="3448050" cy="3448050"/>
          </a:xfrm>
          <a:prstGeom prst="ellipse">
            <a:avLst/>
          </a:prstGeom>
          <a:solidFill>
            <a:srgbClr val="1E3A32"/>
          </a:solidFill>
          <a:ln w="9525">
            <a:solidFill>
              <a:srgbClr val="3356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51332" y="4667250"/>
            <a:ext cx="190199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78" kern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319546" y="5334000"/>
            <a:ext cx="8688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360°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086850" y="1514475"/>
            <a:ext cx="7258050" cy="7258050"/>
          </a:xfrm>
          <a:prstGeom prst="ellipse">
            <a:avLst/>
          </a:prstGeom>
          <a:ln w="9525">
            <a:solidFill>
              <a:srgbClr val="F6F4EF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39350" y="2466975"/>
            <a:ext cx="5353050" cy="5353050"/>
          </a:xfrm>
          <a:prstGeom prst="ellipse">
            <a:avLst/>
          </a:prstGeom>
          <a:ln w="9525">
            <a:solidFill>
              <a:srgbClr val="F6F4E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13394" y="617190"/>
            <a:ext cx="1602730" cy="581025"/>
          </a:xfrm>
          <a:prstGeom prst="rect">
            <a:avLst/>
          </a:prstGeom>
          <a:solidFill>
            <a:srgbClr val="1F1E1C"/>
          </a:solidFill>
          <a:ln w="9525">
            <a:solidFill>
              <a:srgbClr val="F6F4EF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70569" y="779115"/>
            <a:ext cx="11645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5836205" y="1645890"/>
            <a:ext cx="1913632" cy="581025"/>
          </a:xfrm>
          <a:prstGeom prst="rect">
            <a:avLst/>
          </a:prstGeom>
          <a:solidFill>
            <a:srgbClr val="1F1E1C"/>
          </a:solidFill>
          <a:ln w="9525">
            <a:solidFill>
              <a:srgbClr val="F6F4EF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93380" y="1807815"/>
            <a:ext cx="147548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996047" y="4217640"/>
            <a:ext cx="2069157" cy="581025"/>
          </a:xfrm>
          <a:prstGeom prst="rect">
            <a:avLst/>
          </a:prstGeom>
          <a:solidFill>
            <a:srgbClr val="1F1E1C"/>
          </a:solidFill>
          <a:ln w="9525">
            <a:solidFill>
              <a:srgbClr val="F6F4EF">
                <a:alpha val="1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253222" y="4379565"/>
            <a:ext cx="16310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6059150" y="6789390"/>
            <a:ext cx="1291828" cy="581025"/>
          </a:xfrm>
          <a:prstGeom prst="rect">
            <a:avLst/>
          </a:prstGeom>
          <a:solidFill>
            <a:srgbClr val="1F1E1C"/>
          </a:solidFill>
          <a:ln w="9525">
            <a:solidFill>
              <a:srgbClr val="F6F4EF">
                <a:alpha val="1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316325" y="6951315"/>
            <a:ext cx="8536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49050" y="9052471"/>
            <a:ext cx="2535585" cy="581025"/>
          </a:xfrm>
          <a:prstGeom prst="rect">
            <a:avLst/>
          </a:prstGeom>
          <a:solidFill>
            <a:srgbClr val="1F1E1C"/>
          </a:solidFill>
          <a:ln w="9525">
            <a:solidFill>
              <a:srgbClr val="F6F4EF">
                <a:alpha val="1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6225" y="9214396"/>
            <a:ext cx="20974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COMMUNICATION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480971" y="7200900"/>
            <a:ext cx="1136303" cy="581025"/>
          </a:xfrm>
          <a:prstGeom prst="rect">
            <a:avLst/>
          </a:prstGeom>
          <a:solidFill>
            <a:srgbClr val="1F1E1C"/>
          </a:solidFill>
          <a:ln w="9525">
            <a:solidFill>
              <a:srgbClr val="F6F4EF">
                <a:alpha val="1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38146" y="7362825"/>
            <a:ext cx="69815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589490" y="4629150"/>
            <a:ext cx="1136303" cy="581025"/>
          </a:xfrm>
          <a:prstGeom prst="rect">
            <a:avLst/>
          </a:prstGeom>
          <a:solidFill>
            <a:srgbClr val="1F1E1C"/>
          </a:solidFill>
          <a:ln w="9525">
            <a:solidFill>
              <a:srgbClr val="F6F4EF">
                <a:alpha val="1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46665" y="4791075"/>
            <a:ext cx="69815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146703" y="2057400"/>
            <a:ext cx="1602730" cy="581025"/>
          </a:xfrm>
          <a:prstGeom prst="rect">
            <a:avLst/>
          </a:prstGeom>
          <a:solidFill>
            <a:srgbClr val="1F1E1C"/>
          </a:solidFill>
          <a:ln w="9525">
            <a:solidFill>
              <a:srgbClr val="F6F4EF">
                <a:alpha val="1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03878" y="2219325"/>
            <a:ext cx="11645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4498836" y="8846790"/>
            <a:ext cx="1913632" cy="581025"/>
          </a:xfrm>
          <a:prstGeom prst="rect">
            <a:avLst/>
          </a:prstGeom>
          <a:solidFill>
            <a:srgbClr val="1F1E1C"/>
          </a:solidFill>
          <a:ln w="9525">
            <a:solidFill>
              <a:srgbClr val="F6F4EF">
                <a:alpha val="1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756011" y="9008715"/>
            <a:ext cx="147548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REPORTING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CLIENT MASTER RECORD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80213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13"/>
              </a:lnSpc>
              <a:buNone/>
            </a:pPr>
            <a:r>
              <a:rPr lang="en-US" sz="4500" b="1" spc="-135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client, described once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14575"/>
            <a:ext cx="16383000" cy="7305675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  <a:effectLst>
            <a:outerShdw sx="100000" sy="100000" kx="0" ky="0" algn="bl" rotWithShape="0" blurRad="342900" dist="133350" dir="5400000">
              <a:srgbClr val="1C1B19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2025" y="3676650"/>
            <a:ext cx="16363950" cy="9525"/>
          </a:xfrm>
          <a:prstGeom prst="rect">
            <a:avLst/>
          </a:prstGeom>
          <a:solidFill>
            <a:srgbClr val="1C1B19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43025" y="2695575"/>
            <a:ext cx="609600" cy="609600"/>
          </a:xfrm>
          <a:prstGeom prst="rect">
            <a:avLst/>
          </a:prstGeom>
          <a:solidFill>
            <a:srgbClr val="1E3A32"/>
          </a:solidFill>
          <a:ln/>
        </p:spPr>
      </p:sp>
      <p:sp>
        <p:nvSpPr>
          <p:cNvPr id="7" name="Text 5"/>
          <p:cNvSpPr/>
          <p:nvPr/>
        </p:nvSpPr>
        <p:spPr>
          <a:xfrm>
            <a:off x="1304925" y="26955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200275" y="2628900"/>
            <a:ext cx="890325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 Private Limited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200275" y="3114675"/>
            <a:ext cx="89032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LIMITED COMPANY · MANUFACTURING · CLIENT SINCE 2017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683657" y="2747963"/>
            <a:ext cx="1261318" cy="504825"/>
          </a:xfrm>
          <a:prstGeom prst="rect">
            <a:avLst/>
          </a:prstGeom>
          <a:solidFill>
            <a:srgbClr val="EDF1EE"/>
          </a:solidFill>
          <a:ln w="9525">
            <a:solidFill>
              <a:srgbClr val="C7D5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902732" y="2871788"/>
            <a:ext cx="89936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62025" y="4457700"/>
            <a:ext cx="16363950" cy="9525"/>
          </a:xfrm>
          <a:prstGeom prst="rect">
            <a:avLst/>
          </a:prstGeom>
          <a:solidFill>
            <a:srgbClr val="1C1B19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43025" y="4229100"/>
            <a:ext cx="960388" cy="19050"/>
          </a:xfrm>
          <a:prstGeom prst="rect">
            <a:avLst/>
          </a:prstGeom>
          <a:solidFill>
            <a:srgbClr val="A8853F"/>
          </a:solidFill>
          <a:ln/>
        </p:spPr>
      </p:sp>
      <p:sp>
        <p:nvSpPr>
          <p:cNvPr id="14" name="Text 12"/>
          <p:cNvSpPr/>
          <p:nvPr/>
        </p:nvSpPr>
        <p:spPr>
          <a:xfrm>
            <a:off x="1343025" y="3895725"/>
            <a:ext cx="10365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22513" y="3895725"/>
            <a:ext cx="135814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76291" y="3895725"/>
            <a:ext cx="150908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67289" y="3895725"/>
            <a:ext cx="7621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72338" y="3895725"/>
            <a:ext cx="196174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COMMUNICATION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74845" y="3895725"/>
            <a:ext cx="6249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442674" y="3895725"/>
            <a:ext cx="103658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98841" y="4467225"/>
            <a:ext cx="9525" cy="5143500"/>
          </a:xfrm>
          <a:prstGeom prst="rect">
            <a:avLst/>
          </a:prstGeom>
          <a:solidFill>
            <a:srgbClr val="1C1B19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343025" y="4829175"/>
            <a:ext cx="62422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IDENTIFIERS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43025" y="5334000"/>
            <a:ext cx="29639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43025" y="5648325"/>
            <a:ext cx="296398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AABCA1234K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4323308" y="5334000"/>
            <a:ext cx="29639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GSTIN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323308" y="5648325"/>
            <a:ext cx="296398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27AABCA1234K1Z9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343025" y="6200775"/>
            <a:ext cx="29639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43025" y="6515100"/>
            <a:ext cx="296398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MUMA12345B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4323308" y="6200775"/>
            <a:ext cx="29639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 YEAR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323308" y="6515100"/>
            <a:ext cx="296398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2026–27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343025" y="7086600"/>
            <a:ext cx="62422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REGISTERED ADDRESS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43025" y="7400925"/>
            <a:ext cx="584506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402, Kanti Estate, Andheri East, Mumbai 400093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12357646" y="4467225"/>
            <a:ext cx="9525" cy="5143500"/>
          </a:xfrm>
          <a:prstGeom prst="rect">
            <a:avLst/>
          </a:prstGeom>
          <a:solidFill>
            <a:srgbClr val="1C1B19">
              <a:alpha val="1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789366" y="4829175"/>
            <a:ext cx="46060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ENGAGEMENT TEAM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789366" y="5334000"/>
            <a:ext cx="46060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PARTNER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789366" y="5648325"/>
            <a:ext cx="460600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Iyer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7789366" y="6219825"/>
            <a:ext cx="46060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789366" y="6534150"/>
            <a:ext cx="460600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Nair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7789366" y="7105650"/>
            <a:ext cx="46060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EXECUTIVES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789366" y="7419975"/>
            <a:ext cx="431289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Rahul Mehta Aditi Rao</a:t>
            </a:r>
            <a:endParaRPr lang="en-US" sz="2250" dirty="0"/>
          </a:p>
        </p:txBody>
      </p:sp>
      <p:sp>
        <p:nvSpPr>
          <p:cNvPr id="41" name="Text 39"/>
          <p:cNvSpPr/>
          <p:nvPr/>
        </p:nvSpPr>
        <p:spPr>
          <a:xfrm>
            <a:off x="12748171" y="4829175"/>
            <a:ext cx="461648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2748171" y="5334000"/>
            <a:ext cx="849809" cy="504825"/>
          </a:xfrm>
          <a:prstGeom prst="rect">
            <a:avLst/>
          </a:prstGeom>
          <a:ln w="9525">
            <a:solidFill>
              <a:srgbClr val="1C1B19">
                <a:alpha val="2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967246" y="5457825"/>
            <a:ext cx="4878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GST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3731329" y="5334000"/>
            <a:ext cx="1810048" cy="504825"/>
          </a:xfrm>
          <a:prstGeom prst="rect">
            <a:avLst/>
          </a:prstGeom>
          <a:ln w="9525">
            <a:solidFill>
              <a:srgbClr val="1C1B19">
                <a:alpha val="2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950404" y="5457825"/>
            <a:ext cx="14480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 TAX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5674727" y="5334000"/>
            <a:ext cx="1124099" cy="504825"/>
          </a:xfrm>
          <a:prstGeom prst="rect">
            <a:avLst/>
          </a:prstGeom>
          <a:ln w="9525">
            <a:solidFill>
              <a:srgbClr val="1C1B19">
                <a:alpha val="2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893802" y="5457825"/>
            <a:ext cx="7621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2748171" y="5972175"/>
            <a:ext cx="849809" cy="504825"/>
          </a:xfrm>
          <a:prstGeom prst="rect">
            <a:avLst/>
          </a:prstGeom>
          <a:ln w="9525">
            <a:solidFill>
              <a:srgbClr val="1C1B19">
                <a:alpha val="2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967246" y="6096000"/>
            <a:ext cx="4878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TDS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2748171" y="8372475"/>
            <a:ext cx="4196804" cy="9525"/>
          </a:xfrm>
          <a:prstGeom prst="rect">
            <a:avLst/>
          </a:prstGeom>
          <a:solidFill>
            <a:srgbClr val="1C1B19">
              <a:alpha val="1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2748171" y="8610600"/>
            <a:ext cx="461648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DEADLINE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2748171" y="8924925"/>
            <a:ext cx="46164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GSTR-3B · 20 Sep 2026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HEALTH AT A GLANCE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80213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13"/>
              </a:lnSpc>
              <a:buNone/>
            </a:pPr>
            <a:r>
              <a:rPr lang="en-US" sz="4500" b="1" spc="-135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client. Know what's happening.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90775"/>
            <a:ext cx="5308550" cy="2219325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  <a:effectLst>
            <a:outerShdw sx="100000" sy="100000" kx="0" ky="0" algn="bl" rotWithShape="0" blurRad="247650" dist="95250" dir="5400000">
              <a:srgbClr val="1C1B19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04925" y="2762250"/>
            <a:ext cx="50640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04925" y="3190875"/>
            <a:ext cx="506407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1E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1304925" y="3981450"/>
            <a:ext cx="4603700" cy="57150"/>
          </a:xfrm>
          <a:prstGeom prst="rect">
            <a:avLst/>
          </a:prstGeom>
          <a:solidFill>
            <a:srgbClr val="EAE7E0"/>
          </a:solidFill>
          <a:ln/>
        </p:spPr>
      </p:sp>
      <p:sp>
        <p:nvSpPr>
          <p:cNvPr id="8" name="Shape 6"/>
          <p:cNvSpPr/>
          <p:nvPr/>
        </p:nvSpPr>
        <p:spPr>
          <a:xfrm>
            <a:off x="1304925" y="3981450"/>
            <a:ext cx="4235351" cy="57150"/>
          </a:xfrm>
          <a:prstGeom prst="rect">
            <a:avLst/>
          </a:prstGeom>
          <a:solidFill>
            <a:srgbClr val="1E3A32"/>
          </a:solidFill>
          <a:ln/>
        </p:spPr>
      </p:sp>
      <p:sp>
        <p:nvSpPr>
          <p:cNvPr id="9" name="Shape 7"/>
          <p:cNvSpPr/>
          <p:nvPr/>
        </p:nvSpPr>
        <p:spPr>
          <a:xfrm>
            <a:off x="6489650" y="2390775"/>
            <a:ext cx="5308550" cy="2219325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  <a:effectLst>
            <a:outerShdw sx="100000" sy="100000" kx="0" ky="0" algn="bl" rotWithShape="0" blurRad="247650" dist="95250" dir="5400000">
              <a:srgbClr val="1C1B19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42075" y="2762250"/>
            <a:ext cx="50640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42075" y="3190875"/>
            <a:ext cx="506407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PENDING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842075" y="3981450"/>
            <a:ext cx="50640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 · GST · KYC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026801" y="2390775"/>
            <a:ext cx="5308699" cy="2219325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  <a:effectLst>
            <a:outerShdw sx="100000" sy="100000" kx="0" ky="0" algn="bl" rotWithShape="0" blurRad="247650" dist="95250" dir="5400000">
              <a:srgbClr val="1C1B19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379226" y="2762250"/>
            <a:ext cx="50642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79226" y="3190875"/>
            <a:ext cx="506423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8C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OVERDUE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2379226" y="3981450"/>
            <a:ext cx="50642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OWNER: RAHUL MEHTA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2500" y="4838700"/>
            <a:ext cx="5308550" cy="2257425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  <a:effectLst>
            <a:outerShdw sx="100000" sy="100000" kx="0" ky="0" algn="bl" rotWithShape="0" blurRad="247650" dist="95250" dir="5400000">
              <a:srgbClr val="1C1B19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04925" y="5210175"/>
            <a:ext cx="50640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04925" y="5638800"/>
            <a:ext cx="506407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₹84,000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304925" y="6467475"/>
            <a:ext cx="50640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OUTSTANDING · 42 DAYS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89650" y="4838700"/>
            <a:ext cx="5308550" cy="2257425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  <a:effectLst>
            <a:outerShdw sx="100000" sy="100000" kx="0" ky="0" algn="bl" rotWithShape="0" blurRad="247650" dist="95250" dir="5400000">
              <a:srgbClr val="1C1B19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42075" y="5210175"/>
            <a:ext cx="50640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CONTACT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42075" y="5638800"/>
            <a:ext cx="506407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DAYS AGO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6842075" y="6429375"/>
            <a:ext cx="50640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· PRIYA NAIR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026801" y="4838700"/>
            <a:ext cx="5308699" cy="2257425"/>
          </a:xfrm>
          <a:prstGeom prst="rect">
            <a:avLst/>
          </a:prstGeom>
          <a:solidFill>
            <a:srgbClr val="151413"/>
          </a:solidFill>
          <a:ln w="9525">
            <a:solidFill>
              <a:srgbClr val="15141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79226" y="5210175"/>
            <a:ext cx="50642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DEADLINE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79226" y="5638800"/>
            <a:ext cx="506423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SEP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12379226" y="6429375"/>
            <a:ext cx="50642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C97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TDS RETURN · Q1 FY 2026–27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62514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 MANAGEMENT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625146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13"/>
              </a:lnSpc>
              <a:buNone/>
            </a:pPr>
            <a:r>
              <a:rPr lang="en-US" sz="4500" b="1" spc="-135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file, digitally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497020" y="1209675"/>
            <a:ext cx="7838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73245" y="1409700"/>
            <a:ext cx="96797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17423" y="1409700"/>
            <a:ext cx="68660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D3B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 Pvt Ltd → FY 2025–26 → Bank Statements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" y="2276475"/>
            <a:ext cx="16383000" cy="7343775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  <a:effectLst>
            <a:outerShdw sx="100000" sy="100000" kx="0" ky="0" algn="bl" rotWithShape="0" blurRad="342900" dist="133350" dir="5400000">
              <a:srgbClr val="1C1B19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05275" y="2286000"/>
            <a:ext cx="9525" cy="7324725"/>
          </a:xfrm>
          <a:prstGeom prst="rect">
            <a:avLst/>
          </a:prstGeom>
          <a:solidFill>
            <a:srgbClr val="1C1B19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85875" y="2743200"/>
            <a:ext cx="258984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5875" y="3305175"/>
            <a:ext cx="25898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KYC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62025" y="3743325"/>
            <a:ext cx="3143250" cy="590550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12" name="Shape 10"/>
          <p:cNvSpPr/>
          <p:nvPr/>
        </p:nvSpPr>
        <p:spPr>
          <a:xfrm>
            <a:off x="962025" y="3743325"/>
            <a:ext cx="28575" cy="590550"/>
          </a:xfrm>
          <a:prstGeom prst="rect">
            <a:avLst/>
          </a:prstGeom>
          <a:solidFill>
            <a:srgbClr val="A8853F"/>
          </a:solidFill>
          <a:ln/>
        </p:spPr>
      </p:sp>
      <p:sp>
        <p:nvSpPr>
          <p:cNvPr id="13" name="Text 11"/>
          <p:cNvSpPr/>
          <p:nvPr/>
        </p:nvSpPr>
        <p:spPr>
          <a:xfrm>
            <a:off x="1314450" y="3895725"/>
            <a:ext cx="25612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85875" y="4486275"/>
            <a:ext cx="25898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GST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85875" y="5076825"/>
            <a:ext cx="25898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85875" y="5667375"/>
            <a:ext cx="25898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85875" y="6257925"/>
            <a:ext cx="25898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85875" y="6848475"/>
            <a:ext cx="25898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85875" y="7439025"/>
            <a:ext cx="25898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 YEAR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4114800" y="3257550"/>
            <a:ext cx="13211175" cy="9525"/>
          </a:xfrm>
          <a:prstGeom prst="rect">
            <a:avLst/>
          </a:prstGeom>
          <a:solidFill>
            <a:srgbClr val="1C1B19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457700" y="2514600"/>
            <a:ext cx="359226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35838" y="2514600"/>
            <a:ext cx="166151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911655" y="2514600"/>
            <a:ext cx="166151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687473" y="2514600"/>
            <a:ext cx="182001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621792" y="2514600"/>
            <a:ext cx="166151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UPLOADED BY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397609" y="2514600"/>
            <a:ext cx="166151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 BY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114800" y="4057650"/>
            <a:ext cx="13211175" cy="9525"/>
          </a:xfrm>
          <a:prstGeom prst="rect">
            <a:avLst/>
          </a:prstGeom>
          <a:solidFill>
            <a:srgbClr val="1C1B19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457700" y="3514725"/>
            <a:ext cx="38364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Statement — HDFC 4021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8135838" y="3519488"/>
            <a:ext cx="17438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2025–26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9911655" y="3519488"/>
            <a:ext cx="17438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APR–JUN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1687473" y="3533775"/>
            <a:ext cx="191820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621792" y="3514725"/>
            <a:ext cx="17438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5397609" y="3514725"/>
            <a:ext cx="17438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Mehta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4114800" y="4857750"/>
            <a:ext cx="13211175" cy="9525"/>
          </a:xfrm>
          <a:prstGeom prst="rect">
            <a:avLst/>
          </a:prstGeom>
          <a:solidFill>
            <a:srgbClr val="1C1B19">
              <a:alpha val="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457700" y="4314825"/>
            <a:ext cx="38364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Statement — HDFC 4021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8135838" y="4319588"/>
            <a:ext cx="17438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2025–26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9911655" y="4319588"/>
            <a:ext cx="17438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JUL–SEP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1687473" y="4333875"/>
            <a:ext cx="191820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REVIEW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621792" y="4314825"/>
            <a:ext cx="17438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5397609" y="4314825"/>
            <a:ext cx="17438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3A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4114800" y="5657850"/>
            <a:ext cx="13211175" cy="9525"/>
          </a:xfrm>
          <a:prstGeom prst="rect">
            <a:avLst/>
          </a:prstGeom>
          <a:solidFill>
            <a:srgbClr val="1C1B19">
              <a:alpha val="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457700" y="5114925"/>
            <a:ext cx="38364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Statement — ICICI 8890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8135838" y="5119688"/>
            <a:ext cx="17438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2025–26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9911655" y="5119688"/>
            <a:ext cx="17438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APR–JUN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1687473" y="5133975"/>
            <a:ext cx="191820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3621792" y="5114925"/>
            <a:ext cx="17438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Rao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5397609" y="5114925"/>
            <a:ext cx="17438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Nair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4114800" y="6457950"/>
            <a:ext cx="13211175" cy="9525"/>
          </a:xfrm>
          <a:prstGeom prst="rect">
            <a:avLst/>
          </a:prstGeom>
          <a:solidFill>
            <a:srgbClr val="1C1B19">
              <a:alpha val="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457700" y="5915025"/>
            <a:ext cx="38364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Statement — Term Loan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8135838" y="5919788"/>
            <a:ext cx="17438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2025–26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9911655" y="5919788"/>
            <a:ext cx="17438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YEAR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11687473" y="5934075"/>
            <a:ext cx="191820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C3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3621792" y="5915025"/>
            <a:ext cx="17438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3A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15397609" y="5915025"/>
            <a:ext cx="17438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3A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4457700" y="6715125"/>
            <a:ext cx="38364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Reconciliation Workings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8135838" y="6719888"/>
            <a:ext cx="17438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2025–26</a:t>
            </a:r>
            <a:endParaRPr lang="en-US" sz="1950" dirty="0"/>
          </a:p>
        </p:txBody>
      </p:sp>
      <p:sp>
        <p:nvSpPr>
          <p:cNvPr id="57" name="Text 55"/>
          <p:cNvSpPr/>
          <p:nvPr/>
        </p:nvSpPr>
        <p:spPr>
          <a:xfrm>
            <a:off x="9911655" y="6719888"/>
            <a:ext cx="17438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1950" dirty="0"/>
          </a:p>
        </p:txBody>
      </p:sp>
      <p:sp>
        <p:nvSpPr>
          <p:cNvPr id="58" name="Text 56"/>
          <p:cNvSpPr/>
          <p:nvPr/>
        </p:nvSpPr>
        <p:spPr>
          <a:xfrm>
            <a:off x="11687473" y="6734175"/>
            <a:ext cx="191820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3621792" y="6715125"/>
            <a:ext cx="17438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Mehta</a:t>
            </a:r>
            <a:endParaRPr lang="en-US" sz="1950" dirty="0"/>
          </a:p>
        </p:txBody>
      </p:sp>
      <p:sp>
        <p:nvSpPr>
          <p:cNvPr id="60" name="Text 58"/>
          <p:cNvSpPr/>
          <p:nvPr/>
        </p:nvSpPr>
        <p:spPr>
          <a:xfrm>
            <a:off x="15397609" y="6715125"/>
            <a:ext cx="17438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Nair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 REQUESTS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80213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13"/>
              </a:lnSpc>
              <a:buNone/>
            </a:pPr>
            <a:r>
              <a:rPr lang="en-US" sz="4500" b="1" spc="-135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chasing documents manually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4048125"/>
            <a:ext cx="4036368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  <a:effectLst>
            <a:outerShdw sx="100000" sy="100000" kx="0" ky="0" algn="bl" rotWithShape="0" blurRad="247650" dist="95250" dir="5400000">
              <a:srgbClr val="1C1B19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66825" y="4381500"/>
            <a:ext cx="37484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66825" y="4772025"/>
            <a:ext cx="350994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“Please upload April–June bank statements.”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66825" y="5667375"/>
            <a:ext cx="37484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 12 AUG · DUE 18 AUG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79368" y="4976813"/>
            <a:ext cx="2591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552777" y="4448175"/>
            <a:ext cx="2522637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29002" y="4781550"/>
            <a:ext cx="21672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29002" y="5153025"/>
            <a:ext cx="21672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265914" y="4976813"/>
            <a:ext cx="2591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639324" y="4448175"/>
            <a:ext cx="2522786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549" y="4781550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15549" y="5153025"/>
            <a:ext cx="216736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352609" y="4976813"/>
            <a:ext cx="2591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1726019" y="4448175"/>
            <a:ext cx="2522786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02244" y="4781550"/>
            <a:ext cx="21673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002244" y="5153025"/>
            <a:ext cx="216736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/ Reject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4439305" y="4976813"/>
            <a:ext cx="2591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4812714" y="4457700"/>
            <a:ext cx="2522786" cy="1390650"/>
          </a:xfrm>
          <a:prstGeom prst="rect">
            <a:avLst/>
          </a:prstGeom>
          <a:solidFill>
            <a:srgbClr val="1E3A32"/>
          </a:solidFill>
          <a:ln/>
        </p:spPr>
      </p:sp>
      <p:sp>
        <p:nvSpPr>
          <p:cNvPr id="22" name="Text 20"/>
          <p:cNvSpPr/>
          <p:nvPr/>
        </p:nvSpPr>
        <p:spPr>
          <a:xfrm>
            <a:off x="15079414" y="4781550"/>
            <a:ext cx="21883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79414" y="5153025"/>
            <a:ext cx="218832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225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52500" y="8410575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REQUEST CARRIES A STATUS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52500" y="8915400"/>
            <a:ext cx="1890117" cy="609600"/>
          </a:xfrm>
          <a:prstGeom prst="rect">
            <a:avLst/>
          </a:prstGeom>
          <a:ln w="9525">
            <a:solidFill>
              <a:srgbClr val="1C1B19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28725" y="9077325"/>
            <a:ext cx="141386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REQUESTED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2995017" y="8915400"/>
            <a:ext cx="1741438" cy="609600"/>
          </a:xfrm>
          <a:prstGeom prst="rect">
            <a:avLst/>
          </a:prstGeom>
          <a:ln w="9525">
            <a:solidFill>
              <a:srgbClr val="1C1B19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1242" y="9077325"/>
            <a:ext cx="12651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RECEIVED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4888855" y="8915400"/>
            <a:ext cx="2335857" cy="609600"/>
          </a:xfrm>
          <a:prstGeom prst="rect">
            <a:avLst/>
          </a:prstGeom>
          <a:solidFill>
            <a:srgbClr val="F6EFDC"/>
          </a:solidFill>
          <a:ln w="9525">
            <a:solidFill>
              <a:srgbClr val="D9C7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5080" y="9077325"/>
            <a:ext cx="18596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REVIEW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7377113" y="8915400"/>
            <a:ext cx="1741438" cy="609600"/>
          </a:xfrm>
          <a:prstGeom prst="rect">
            <a:avLst/>
          </a:prstGeom>
          <a:solidFill>
            <a:srgbClr val="EDF1EE"/>
          </a:solidFill>
          <a:ln w="9525">
            <a:solidFill>
              <a:srgbClr val="C7D5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53338" y="9077325"/>
            <a:ext cx="12651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E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9270950" y="8915400"/>
            <a:ext cx="1592759" cy="609600"/>
          </a:xfrm>
          <a:prstGeom prst="rect">
            <a:avLst/>
          </a:prstGeom>
          <a:solidFill>
            <a:srgbClr val="F7EBE8"/>
          </a:solidFill>
          <a:ln w="9525">
            <a:solidFill>
              <a:srgbClr val="E0C2B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47175" y="9077325"/>
            <a:ext cx="11165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C3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80213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13"/>
              </a:lnSpc>
              <a:buNone/>
            </a:pPr>
            <a:r>
              <a:rPr lang="en-US" sz="4500" b="1" spc="-135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lives inside the client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52675"/>
            <a:ext cx="9192518" cy="7172325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  <a:effectLst>
            <a:outerShdw sx="100000" sy="100000" kx="0" ky="0" algn="bl" rotWithShape="0" blurRad="342900" dist="133350" dir="5400000">
              <a:srgbClr val="1C1B19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2025" y="3514725"/>
            <a:ext cx="9173468" cy="9525"/>
          </a:xfrm>
          <a:prstGeom prst="rect">
            <a:avLst/>
          </a:prstGeom>
          <a:solidFill>
            <a:srgbClr val="1C1B19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43025" y="2724150"/>
            <a:ext cx="437271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 Return · GSTR-3B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984206" y="2686050"/>
            <a:ext cx="2770287" cy="504825"/>
          </a:xfrm>
          <a:prstGeom prst="rect">
            <a:avLst/>
          </a:prstGeom>
          <a:solidFill>
            <a:srgbClr val="F6EFDC"/>
          </a:solidFill>
          <a:ln w="9525">
            <a:solidFill>
              <a:srgbClr val="D9C7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03281" y="2809875"/>
            <a:ext cx="2415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PENDING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539234" y="3524250"/>
            <a:ext cx="9525" cy="5991225"/>
          </a:xfrm>
          <a:prstGeom prst="rect">
            <a:avLst/>
          </a:prstGeom>
          <a:solidFill>
            <a:srgbClr val="1C1B19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43025" y="3848100"/>
            <a:ext cx="419673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43025" y="4162425"/>
            <a:ext cx="41967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 Private Limited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343025" y="4752975"/>
            <a:ext cx="419673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43025" y="5067300"/>
            <a:ext cx="41967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343025" y="5657850"/>
            <a:ext cx="419673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43025" y="5972175"/>
            <a:ext cx="41967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September 2026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5929759" y="3848100"/>
            <a:ext cx="42072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29759" y="4162425"/>
            <a:ext cx="420720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Rahul Mehta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5929759" y="4752975"/>
            <a:ext cx="42072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29759" y="5067300"/>
            <a:ext cx="420720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Iyer, Partner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5929759" y="5657850"/>
            <a:ext cx="42072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29759" y="5972175"/>
            <a:ext cx="420720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complete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5929759" y="6410325"/>
            <a:ext cx="3824734" cy="57150"/>
          </a:xfrm>
          <a:prstGeom prst="rect">
            <a:avLst/>
          </a:prstGeom>
          <a:solidFill>
            <a:srgbClr val="EAE7E0"/>
          </a:solidFill>
          <a:ln/>
        </p:spPr>
      </p:sp>
      <p:sp>
        <p:nvSpPr>
          <p:cNvPr id="23" name="Shape 21"/>
          <p:cNvSpPr/>
          <p:nvPr/>
        </p:nvSpPr>
        <p:spPr>
          <a:xfrm>
            <a:off x="5929759" y="6410325"/>
            <a:ext cx="3059757" cy="57150"/>
          </a:xfrm>
          <a:prstGeom prst="rect">
            <a:avLst/>
          </a:prstGeom>
          <a:solidFill>
            <a:srgbClr val="1E3A32"/>
          </a:solidFill>
          <a:ln/>
        </p:spPr>
      </p:sp>
      <p:sp>
        <p:nvSpPr>
          <p:cNvPr id="24" name="Text 22"/>
          <p:cNvSpPr/>
          <p:nvPr/>
        </p:nvSpPr>
        <p:spPr>
          <a:xfrm>
            <a:off x="10526018" y="2352675"/>
            <a:ext cx="749043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CHAIN, END TO END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526018" y="3044726"/>
            <a:ext cx="6809482" cy="704850"/>
          </a:xfrm>
          <a:prstGeom prst="rect">
            <a:avLst/>
          </a:prstGeom>
          <a:solidFill>
            <a:srgbClr val="151413"/>
          </a:solidFill>
          <a:ln/>
        </p:spPr>
      </p:sp>
      <p:sp>
        <p:nvSpPr>
          <p:cNvPr id="26" name="Text 24"/>
          <p:cNvSpPr/>
          <p:nvPr/>
        </p:nvSpPr>
        <p:spPr>
          <a:xfrm>
            <a:off x="10811768" y="3254276"/>
            <a:ext cx="64422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0526018" y="4184452"/>
            <a:ext cx="6809482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6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21293" y="4403527"/>
            <a:ext cx="64232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0526018" y="5343227"/>
            <a:ext cx="6809482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6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821293" y="5562302"/>
            <a:ext cx="64232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0526018" y="6502003"/>
            <a:ext cx="6809482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6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821293" y="6721078"/>
            <a:ext cx="64232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0526018" y="7660779"/>
            <a:ext cx="6809482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6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821293" y="7879854"/>
            <a:ext cx="64232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FILING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0526018" y="8819555"/>
            <a:ext cx="6809482" cy="704850"/>
          </a:xfrm>
          <a:prstGeom prst="rect">
            <a:avLst/>
          </a:prstGeom>
          <a:solidFill>
            <a:srgbClr val="1E3A32"/>
          </a:solidFill>
          <a:ln/>
        </p:spPr>
      </p:sp>
      <p:sp>
        <p:nvSpPr>
          <p:cNvPr id="36" name="Text 34"/>
          <p:cNvSpPr/>
          <p:nvPr/>
        </p:nvSpPr>
        <p:spPr>
          <a:xfrm>
            <a:off x="10811768" y="9029105"/>
            <a:ext cx="64422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MANAGEMENT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80213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13"/>
              </a:lnSpc>
              <a:buNone/>
            </a:pPr>
            <a:r>
              <a:rPr lang="en-US" sz="4500" b="1" spc="-135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pending item needs an owner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52675"/>
            <a:ext cx="8477548" cy="592455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  <a:effectLst>
            <a:outerShdw sx="100000" sy="100000" kx="0" ky="0" algn="bl" rotWithShape="0" blurRad="342900" dist="133350" dir="5400000">
              <a:srgbClr val="1C1B19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2025" y="3438525"/>
            <a:ext cx="8458498" cy="9525"/>
          </a:xfrm>
          <a:prstGeom prst="rect">
            <a:avLst/>
          </a:prstGeom>
          <a:solidFill>
            <a:srgbClr val="1C1B19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43025" y="2686050"/>
            <a:ext cx="38316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TDS Return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942064" y="2771775"/>
            <a:ext cx="11736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TSK-2041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81749" y="3448050"/>
            <a:ext cx="9525" cy="3057525"/>
          </a:xfrm>
          <a:prstGeom prst="rect">
            <a:avLst/>
          </a:prstGeom>
          <a:solidFill>
            <a:srgbClr val="1C1B19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343025" y="3771900"/>
            <a:ext cx="38034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43025" y="4086225"/>
            <a:ext cx="380349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 Private Limited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43025" y="4657725"/>
            <a:ext cx="38034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43025" y="4972050"/>
            <a:ext cx="380349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FY 2026–27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43025" y="5543550"/>
            <a:ext cx="38034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43025" y="5857875"/>
            <a:ext cx="380349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October 2026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5572274" y="3771900"/>
            <a:ext cx="38139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72274" y="4086225"/>
            <a:ext cx="381397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Rahul Mehta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5572274" y="4657725"/>
            <a:ext cx="38139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72274" y="4972050"/>
            <a:ext cx="381397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Nair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5572274" y="5543550"/>
            <a:ext cx="38139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72274" y="5857875"/>
            <a:ext cx="381397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A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Pending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62025" y="6505575"/>
            <a:ext cx="8458498" cy="9525"/>
          </a:xfrm>
          <a:prstGeom prst="rect">
            <a:avLst/>
          </a:prstGeom>
          <a:solidFill>
            <a:srgbClr val="1C1B19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43025" y="6781800"/>
            <a:ext cx="1573709" cy="542925"/>
          </a:xfrm>
          <a:prstGeom prst="rect">
            <a:avLst/>
          </a:prstGeom>
          <a:ln w="9525">
            <a:solidFill>
              <a:srgbClr val="1C1B19">
                <a:alpha val="1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1150" y="6924675"/>
            <a:ext cx="11736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26Q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050084" y="6781800"/>
            <a:ext cx="2671167" cy="542925"/>
          </a:xfrm>
          <a:prstGeom prst="rect">
            <a:avLst/>
          </a:prstGeom>
          <a:ln w="9525">
            <a:solidFill>
              <a:srgbClr val="1C1B19">
                <a:alpha val="1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88209" y="6924675"/>
            <a:ext cx="227505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CHALLANS: 2 OF 3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343025" y="7458075"/>
            <a:ext cx="3494336" cy="542925"/>
          </a:xfrm>
          <a:prstGeom prst="rect">
            <a:avLst/>
          </a:prstGeom>
          <a:ln w="9525">
            <a:solidFill>
              <a:srgbClr val="1C1B19">
                <a:alpha val="1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81150" y="7600950"/>
            <a:ext cx="312291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 REQUEST: DR-118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963448" y="2352675"/>
            <a:ext cx="81092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049173" y="2933700"/>
            <a:ext cx="19050" cy="647700"/>
          </a:xfrm>
          <a:prstGeom prst="rect">
            <a:avLst/>
          </a:prstGeom>
          <a:solidFill>
            <a:srgbClr val="1E3A32"/>
          </a:solidFill>
          <a:ln/>
        </p:spPr>
      </p:sp>
      <p:sp>
        <p:nvSpPr>
          <p:cNvPr id="30" name="Text 28"/>
          <p:cNvSpPr/>
          <p:nvPr/>
        </p:nvSpPr>
        <p:spPr>
          <a:xfrm>
            <a:off x="10392073" y="2933700"/>
            <a:ext cx="95264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2700" dirty="0"/>
          </a:p>
        </p:txBody>
      </p:sp>
      <p:sp>
        <p:nvSpPr>
          <p:cNvPr id="31" name="Shape 29"/>
          <p:cNvSpPr/>
          <p:nvPr/>
        </p:nvSpPr>
        <p:spPr>
          <a:xfrm>
            <a:off x="10049173" y="3581400"/>
            <a:ext cx="19050" cy="647700"/>
          </a:xfrm>
          <a:prstGeom prst="rect">
            <a:avLst/>
          </a:prstGeom>
          <a:solidFill>
            <a:srgbClr val="1E3A32"/>
          </a:solidFill>
          <a:ln/>
        </p:spPr>
      </p:sp>
      <p:sp>
        <p:nvSpPr>
          <p:cNvPr id="32" name="Text 30"/>
          <p:cNvSpPr/>
          <p:nvPr/>
        </p:nvSpPr>
        <p:spPr>
          <a:xfrm>
            <a:off x="10392073" y="3581400"/>
            <a:ext cx="205424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12507218" y="3652838"/>
            <a:ext cx="10365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049173" y="4229100"/>
            <a:ext cx="19050" cy="647700"/>
          </a:xfrm>
          <a:prstGeom prst="rect">
            <a:avLst/>
          </a:prstGeom>
          <a:solidFill>
            <a:srgbClr val="1C1B19">
              <a:alpha val="1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392073" y="4229100"/>
            <a:ext cx="125804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A8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10392073" y="4876800"/>
            <a:ext cx="194897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A8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2700" dirty="0"/>
          </a:p>
        </p:txBody>
      </p:sp>
      <p:sp>
        <p:nvSpPr>
          <p:cNvPr id="37" name="Shape 35"/>
          <p:cNvSpPr/>
          <p:nvPr/>
        </p:nvSpPr>
        <p:spPr>
          <a:xfrm>
            <a:off x="9963448" y="5600700"/>
            <a:ext cx="7372052" cy="9525"/>
          </a:xfrm>
          <a:prstGeom prst="rect">
            <a:avLst/>
          </a:prstGeom>
          <a:solidFill>
            <a:srgbClr val="1C1B19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963448" y="5876925"/>
            <a:ext cx="7593214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5C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moves through the same four states across every service line, so a partner reads any task without asking what the status means.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05434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DEADLINE CONTROL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9872527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13"/>
              </a:lnSpc>
              <a:buNone/>
            </a:pPr>
            <a:r>
              <a:rPr lang="en-US" sz="4500" b="1" spc="-135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important falls through the cracks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537478" y="1704975"/>
            <a:ext cx="1005929" cy="800100"/>
          </a:xfrm>
          <a:prstGeom prst="rect">
            <a:avLst/>
          </a:prstGeom>
          <a:solidFill>
            <a:srgbClr val="151413"/>
          </a:solidFill>
          <a:ln/>
        </p:spPr>
      </p:sp>
      <p:sp>
        <p:nvSpPr>
          <p:cNvPr id="5" name="Text 3"/>
          <p:cNvSpPr/>
          <p:nvPr/>
        </p:nvSpPr>
        <p:spPr>
          <a:xfrm>
            <a:off x="10766078" y="1838325"/>
            <a:ext cx="62492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657707" y="1704975"/>
            <a:ext cx="1299418" cy="800100"/>
          </a:xfrm>
          <a:prstGeom prst="rect">
            <a:avLst/>
          </a:prstGeom>
          <a:ln w="9525">
            <a:solidFill>
              <a:srgbClr val="1C1B19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95832" y="1847850"/>
            <a:ext cx="89936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071425" y="1704975"/>
            <a:ext cx="1299418" cy="800100"/>
          </a:xfrm>
          <a:prstGeom prst="rect">
            <a:avLst/>
          </a:prstGeom>
          <a:ln w="9525">
            <a:solidFill>
              <a:srgbClr val="1C1B19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09550" y="1847850"/>
            <a:ext cx="89936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MEMBER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485144" y="1704975"/>
            <a:ext cx="1436638" cy="800100"/>
          </a:xfrm>
          <a:prstGeom prst="rect">
            <a:avLst/>
          </a:prstGeom>
          <a:ln w="9525">
            <a:solidFill>
              <a:srgbClr val="1C1B19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723269" y="1847850"/>
            <a:ext cx="103658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6036082" y="1704975"/>
            <a:ext cx="1299418" cy="800100"/>
          </a:xfrm>
          <a:prstGeom prst="rect">
            <a:avLst/>
          </a:prstGeom>
          <a:ln w="9525">
            <a:solidFill>
              <a:srgbClr val="1C1B19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274207" y="1847850"/>
            <a:ext cx="89936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2924175"/>
            <a:ext cx="5321201" cy="3195638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5875" y="3429000"/>
            <a:ext cx="15845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 TODAY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07112" y="3238500"/>
            <a:ext cx="30941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285875" y="3867150"/>
            <a:ext cx="479408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5C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GSTR-1 · 4 clients TDS payment · 2 clients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6483251" y="2924175"/>
            <a:ext cx="5321350" cy="3195638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6626" y="3429000"/>
            <a:ext cx="228867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 THIS WEEK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004947" y="3238500"/>
            <a:ext cx="54247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6816626" y="3867150"/>
            <a:ext cx="479423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5C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GSTR-3B · 14 clients Advance tax · 9 clients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2014150" y="2924175"/>
            <a:ext cx="5321201" cy="3195638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7525" y="3429000"/>
            <a:ext cx="26408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AWAITING CLIENT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535698" y="3238500"/>
            <a:ext cx="54247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12347525" y="3867150"/>
            <a:ext cx="479408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5C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requested Oldest open: 21 days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52500" y="6329363"/>
            <a:ext cx="5321201" cy="3195638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5875" y="6834188"/>
            <a:ext cx="26408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AWAITING REVIEW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97264" y="6643688"/>
            <a:ext cx="51926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300" dirty="0"/>
          </a:p>
        </p:txBody>
      </p:sp>
      <p:sp>
        <p:nvSpPr>
          <p:cNvPr id="29" name="Text 27"/>
          <p:cNvSpPr/>
          <p:nvPr/>
        </p:nvSpPr>
        <p:spPr>
          <a:xfrm>
            <a:off x="1285875" y="7272338"/>
            <a:ext cx="479408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5C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managers · 8 With partner · 3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6483251" y="6329363"/>
            <a:ext cx="5321350" cy="3195638"/>
          </a:xfrm>
          <a:prstGeom prst="rect">
            <a:avLst/>
          </a:prstGeom>
          <a:solidFill>
            <a:srgbClr val="F7EBE8"/>
          </a:solidFill>
          <a:ln w="9525">
            <a:solidFill>
              <a:srgbClr val="E0C2B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6626" y="6834188"/>
            <a:ext cx="11965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C3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OVERDUE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004947" y="6643688"/>
            <a:ext cx="54247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8C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300" dirty="0"/>
          </a:p>
        </p:txBody>
      </p:sp>
      <p:sp>
        <p:nvSpPr>
          <p:cNvPr id="33" name="Text 31"/>
          <p:cNvSpPr/>
          <p:nvPr/>
        </p:nvSpPr>
        <p:spPr>
          <a:xfrm>
            <a:off x="6816626" y="7272338"/>
            <a:ext cx="479423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7A4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9 clients Escalated to partner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2014150" y="6329363"/>
            <a:ext cx="5321201" cy="3195638"/>
          </a:xfrm>
          <a:prstGeom prst="rect">
            <a:avLst/>
          </a:prstGeom>
          <a:solidFill>
            <a:srgbClr val="151413"/>
          </a:solidFill>
          <a:ln/>
        </p:spPr>
      </p:sp>
      <p:sp>
        <p:nvSpPr>
          <p:cNvPr id="35" name="Text 33"/>
          <p:cNvSpPr/>
          <p:nvPr/>
        </p:nvSpPr>
        <p:spPr>
          <a:xfrm>
            <a:off x="12338000" y="6824663"/>
            <a:ext cx="26408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 · SEP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312158" y="6634163"/>
            <a:ext cx="77554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</a:t>
            </a:r>
            <a:endParaRPr lang="en-US" sz="3300" dirty="0"/>
          </a:p>
        </p:txBody>
      </p:sp>
      <p:sp>
        <p:nvSpPr>
          <p:cNvPr id="37" name="Text 35"/>
          <p:cNvSpPr/>
          <p:nvPr/>
        </p:nvSpPr>
        <p:spPr>
          <a:xfrm>
            <a:off x="12338000" y="7262813"/>
            <a:ext cx="481370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9C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Filed with evidence attached to each client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COMMUNICATION HISTORY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80213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13"/>
              </a:lnSpc>
              <a:buNone/>
            </a:pPr>
            <a:r>
              <a:rPr lang="en-US" sz="4500" b="1" spc="-135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firm should remember every client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52675"/>
            <a:ext cx="9525" cy="971550"/>
          </a:xfrm>
          <a:prstGeom prst="rect">
            <a:avLst/>
          </a:prstGeom>
          <a:solidFill>
            <a:srgbClr val="1C1B19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323975" y="2352675"/>
            <a:ext cx="15049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AUG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057525" y="2352675"/>
            <a:ext cx="73237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statement requested.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057525" y="2781300"/>
            <a:ext cx="73237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RAHUL MEHTA · DOCUMENT REQUEST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3324225"/>
            <a:ext cx="9525" cy="971550"/>
          </a:xfrm>
          <a:prstGeom prst="rect">
            <a:avLst/>
          </a:prstGeom>
          <a:solidFill>
            <a:srgbClr val="1C1B19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323975" y="3324225"/>
            <a:ext cx="15049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AUG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057525" y="3324225"/>
            <a:ext cx="73237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requested extension.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057525" y="3752850"/>
            <a:ext cx="73237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· CALL LOGGED BY PRIYA NAIR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4295775"/>
            <a:ext cx="9525" cy="971550"/>
          </a:xfrm>
          <a:prstGeom prst="rect">
            <a:avLst/>
          </a:prstGeom>
          <a:solidFill>
            <a:srgbClr val="1C1B19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323975" y="4295775"/>
            <a:ext cx="15049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AUG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057525" y="4295775"/>
            <a:ext cx="73237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statement uploaded.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057525" y="4724400"/>
            <a:ext cx="73237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· PORTAL UPLOAD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5267325"/>
            <a:ext cx="9525" cy="971550"/>
          </a:xfrm>
          <a:prstGeom prst="rect">
            <a:avLst/>
          </a:prstGeom>
          <a:solidFill>
            <a:srgbClr val="1C1B19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323975" y="5267325"/>
            <a:ext cx="15049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AUG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3057525" y="5267325"/>
            <a:ext cx="73237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verified document.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057525" y="5695950"/>
            <a:ext cx="73237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RAHUL MEHTA · VERIFICATION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3975" y="6238875"/>
            <a:ext cx="15049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AUG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3057525" y="6238875"/>
            <a:ext cx="73237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approved.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057525" y="6667500"/>
            <a:ext cx="73237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 NAIR · APPROVAL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325100" y="2352675"/>
            <a:ext cx="7010400" cy="7172325"/>
          </a:xfrm>
          <a:prstGeom prst="rect">
            <a:avLst/>
          </a:prstGeom>
          <a:solidFill>
            <a:srgbClr val="151413"/>
          </a:solidFill>
          <a:ln/>
        </p:spPr>
      </p:sp>
      <p:sp>
        <p:nvSpPr>
          <p:cNvPr id="24" name="Shape 22"/>
          <p:cNvSpPr/>
          <p:nvPr/>
        </p:nvSpPr>
        <p:spPr>
          <a:xfrm>
            <a:off x="10820400" y="4691063"/>
            <a:ext cx="762000" cy="19050"/>
          </a:xfrm>
          <a:prstGeom prst="rect">
            <a:avLst/>
          </a:prstGeom>
          <a:solidFill>
            <a:srgbClr val="A8853F"/>
          </a:solidFill>
          <a:ln/>
        </p:spPr>
      </p:sp>
      <p:sp>
        <p:nvSpPr>
          <p:cNvPr id="25" name="Text 23"/>
          <p:cNvSpPr/>
          <p:nvPr/>
        </p:nvSpPr>
        <p:spPr>
          <a:xfrm>
            <a:off x="10820400" y="5033963"/>
            <a:ext cx="6200394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spc="-66" kern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staff member leaves tomorrow, the client knowledge should not leave with them.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10820400" y="6929438"/>
            <a:ext cx="66217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C97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INSTITUTIONAL MEMORY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WORKSPACE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80213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13"/>
              </a:lnSpc>
              <a:buNone/>
            </a:pPr>
            <a:r>
              <a:rPr lang="en-US" sz="4500" b="1" spc="-135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record, four views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52675"/>
            <a:ext cx="3924300" cy="7172325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  <a:effectLst>
            <a:outerShdw sx="100000" sy="100000" kx="0" ky="0" algn="bl" rotWithShape="0" blurRad="247650" dist="95250" dir="5400000">
              <a:srgbClr val="1C1B19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2025" y="2362200"/>
            <a:ext cx="3905250" cy="781050"/>
          </a:xfrm>
          <a:prstGeom prst="rect">
            <a:avLst/>
          </a:prstGeom>
          <a:solidFill>
            <a:srgbClr val="151413"/>
          </a:solidFill>
          <a:ln/>
        </p:spPr>
      </p:sp>
      <p:sp>
        <p:nvSpPr>
          <p:cNvPr id="6" name="Text 4"/>
          <p:cNvSpPr/>
          <p:nvPr/>
        </p:nvSpPr>
        <p:spPr>
          <a:xfrm>
            <a:off x="1247775" y="2609850"/>
            <a:ext cx="34509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PARTNER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47775" y="3467100"/>
            <a:ext cx="3667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47775" y="4000500"/>
            <a:ext cx="3667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47775" y="4533900"/>
            <a:ext cx="3667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47775" y="5067300"/>
            <a:ext cx="3667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62025" y="8458200"/>
            <a:ext cx="3905250" cy="9525"/>
          </a:xfrm>
          <a:prstGeom prst="rect">
            <a:avLst/>
          </a:prstGeom>
          <a:solidFill>
            <a:srgbClr val="1C1B19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47775" y="8734425"/>
            <a:ext cx="345090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248 CLIENTS · 6 APPROVALS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05400" y="2352675"/>
            <a:ext cx="3924300" cy="7172325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  <a:effectLst>
            <a:outerShdw sx="100000" sy="100000" kx="0" ky="0" algn="bl" rotWithShape="0" blurRad="247650" dist="95250" dir="5400000">
              <a:srgbClr val="1C1B19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14925" y="2362200"/>
            <a:ext cx="3905250" cy="781050"/>
          </a:xfrm>
          <a:prstGeom prst="rect">
            <a:avLst/>
          </a:prstGeom>
          <a:solidFill>
            <a:srgbClr val="1E3A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00675" y="2609850"/>
            <a:ext cx="34509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400675" y="3467100"/>
            <a:ext cx="3667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5400675" y="4000500"/>
            <a:ext cx="3667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5400675" y="4533900"/>
            <a:ext cx="3667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5400675" y="5067300"/>
            <a:ext cx="3667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5114925" y="8715375"/>
            <a:ext cx="3905250" cy="9525"/>
          </a:xfrm>
          <a:prstGeom prst="rect">
            <a:avLst/>
          </a:prstGeom>
          <a:solidFill>
            <a:srgbClr val="1C1B19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00675" y="8991600"/>
            <a:ext cx="34509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CLIENTS · 8 IN REVIEW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58300" y="2352675"/>
            <a:ext cx="3924300" cy="7172325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  <a:effectLst>
            <a:outerShdw sx="100000" sy="100000" kx="0" ky="0" algn="bl" rotWithShape="0" blurRad="247650" dist="95250" dir="5400000">
              <a:srgbClr val="1C1B19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67825" y="2362200"/>
            <a:ext cx="3905250" cy="781050"/>
          </a:xfrm>
          <a:prstGeom prst="rect">
            <a:avLst/>
          </a:prstGeom>
          <a:solidFill>
            <a:srgbClr val="3D3B37"/>
          </a:solidFill>
          <a:ln/>
        </p:spPr>
      </p:sp>
      <p:sp>
        <p:nvSpPr>
          <p:cNvPr id="24" name="Text 22"/>
          <p:cNvSpPr/>
          <p:nvPr/>
        </p:nvSpPr>
        <p:spPr>
          <a:xfrm>
            <a:off x="9553575" y="2609850"/>
            <a:ext cx="34509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EXECUTIVE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553575" y="3467100"/>
            <a:ext cx="3667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553575" y="4000500"/>
            <a:ext cx="3667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553575" y="4533900"/>
            <a:ext cx="3667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9553575" y="5067300"/>
            <a:ext cx="3667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267825" y="8458200"/>
            <a:ext cx="3905250" cy="9525"/>
          </a:xfrm>
          <a:prstGeom prst="rect">
            <a:avLst/>
          </a:prstGeom>
          <a:solidFill>
            <a:srgbClr val="1C1B19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553575" y="8734425"/>
            <a:ext cx="345090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OPEN TASKS · 3 DUE TODAY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3411200" y="2352675"/>
            <a:ext cx="3924300" cy="7172325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  <a:effectLst>
            <a:outerShdw sx="100000" sy="100000" kx="0" ky="0" algn="bl" rotWithShape="0" blurRad="247650" dist="95250" dir="5400000">
              <a:srgbClr val="1C1B19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3420725" y="2362200"/>
            <a:ext cx="3905250" cy="781050"/>
          </a:xfrm>
          <a:prstGeom prst="rect">
            <a:avLst/>
          </a:prstGeom>
          <a:solidFill>
            <a:srgbClr val="A8853F"/>
          </a:solidFill>
          <a:ln/>
        </p:spPr>
      </p:sp>
      <p:sp>
        <p:nvSpPr>
          <p:cNvPr id="33" name="Text 31"/>
          <p:cNvSpPr/>
          <p:nvPr/>
        </p:nvSpPr>
        <p:spPr>
          <a:xfrm>
            <a:off x="13706475" y="2609850"/>
            <a:ext cx="34509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15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3706475" y="3467100"/>
            <a:ext cx="3667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13706475" y="4000500"/>
            <a:ext cx="3667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3706475" y="4533900"/>
            <a:ext cx="3667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13706475" y="5067300"/>
            <a:ext cx="3667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13420725" y="8715375"/>
            <a:ext cx="3905250" cy="9525"/>
          </a:xfrm>
          <a:prstGeom prst="rect">
            <a:avLst/>
          </a:prstGeom>
          <a:solidFill>
            <a:srgbClr val="1C1B19">
              <a:alpha val="1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3706475" y="8991600"/>
            <a:ext cx="34509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OPEN REQUESTS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PORTAL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80213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13"/>
              </a:lnSpc>
              <a:buNone/>
            </a:pPr>
            <a:r>
              <a:rPr lang="en-US" sz="4500" b="1" spc="-135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easy for clients to work with the firm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276475"/>
            <a:ext cx="16383000" cy="7343775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  <a:effectLst>
            <a:outerShdw sx="100000" sy="100000" kx="0" ky="0" algn="bl" rotWithShape="0" blurRad="342900" dist="133350" dir="5400000">
              <a:srgbClr val="1C1B19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00525" y="2286000"/>
            <a:ext cx="9525" cy="7324725"/>
          </a:xfrm>
          <a:prstGeom prst="rect">
            <a:avLst/>
          </a:prstGeom>
          <a:solidFill>
            <a:srgbClr val="1C1B19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85875" y="2762250"/>
            <a:ext cx="268795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 PRIVATE LIMITED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5875" y="3600450"/>
            <a:ext cx="26879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PROFILE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62025" y="4057650"/>
            <a:ext cx="3238500" cy="628650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9" name="Shape 7"/>
          <p:cNvSpPr/>
          <p:nvPr/>
        </p:nvSpPr>
        <p:spPr>
          <a:xfrm>
            <a:off x="962025" y="4057650"/>
            <a:ext cx="28575" cy="628650"/>
          </a:xfrm>
          <a:prstGeom prst="rect">
            <a:avLst/>
          </a:prstGeom>
          <a:solidFill>
            <a:srgbClr val="A8853F"/>
          </a:solidFill>
          <a:ln/>
        </p:spPr>
      </p:sp>
      <p:sp>
        <p:nvSpPr>
          <p:cNvPr id="10" name="Text 8"/>
          <p:cNvSpPr/>
          <p:nvPr/>
        </p:nvSpPr>
        <p:spPr>
          <a:xfrm>
            <a:off x="1314450" y="4229100"/>
            <a:ext cx="26593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DOCUMENTS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85875" y="4857750"/>
            <a:ext cx="26879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REQUESTS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85875" y="5486400"/>
            <a:ext cx="26879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COMPLIANCE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85875" y="6115050"/>
            <a:ext cx="26879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TASKS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85875" y="6743700"/>
            <a:ext cx="26879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COMMUNICATION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667250" y="2771775"/>
            <a:ext cx="283367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documents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402520" y="2705100"/>
            <a:ext cx="1466255" cy="561975"/>
          </a:xfrm>
          <a:prstGeom prst="rect">
            <a:avLst/>
          </a:prstGeom>
          <a:solidFill>
            <a:srgbClr val="1E3A32"/>
          </a:solidFill>
          <a:ln/>
        </p:spPr>
      </p:sp>
      <p:sp>
        <p:nvSpPr>
          <p:cNvPr id="17" name="Text 15"/>
          <p:cNvSpPr/>
          <p:nvPr/>
        </p:nvSpPr>
        <p:spPr>
          <a:xfrm>
            <a:off x="15669220" y="2857500"/>
            <a:ext cx="100905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67250" y="3590925"/>
            <a:ext cx="12201525" cy="1352550"/>
          </a:xfrm>
          <a:prstGeom prst="rect">
            <a:avLst/>
          </a:prstGeom>
          <a:solidFill>
            <a:srgbClr val="FCFBF8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19675" y="4000500"/>
            <a:ext cx="533400" cy="533400"/>
          </a:xfrm>
          <a:prstGeom prst="rect">
            <a:avLst/>
          </a:prstGeom>
          <a:solidFill>
            <a:srgbClr val="EAE7E0"/>
          </a:solidFill>
          <a:ln/>
        </p:spPr>
      </p:sp>
      <p:sp>
        <p:nvSpPr>
          <p:cNvPr id="20" name="Text 18"/>
          <p:cNvSpPr/>
          <p:nvPr/>
        </p:nvSpPr>
        <p:spPr>
          <a:xfrm>
            <a:off x="4981575" y="4000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00725" y="3924300"/>
            <a:ext cx="50324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Statement — June 2026.pdf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800725" y="4352925"/>
            <a:ext cx="50324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 MB · UPLOADED TODAY 11:24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416284" y="4014788"/>
            <a:ext cx="1535609" cy="504825"/>
          </a:xfrm>
          <a:prstGeom prst="rect">
            <a:avLst/>
          </a:prstGeom>
          <a:solidFill>
            <a:srgbClr val="EDF1EE"/>
          </a:solidFill>
          <a:ln w="9525">
            <a:solidFill>
              <a:srgbClr val="C7D5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635359" y="4138613"/>
            <a:ext cx="11736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UPLOADED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123343" y="4138613"/>
            <a:ext cx="2134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4432012" y="4014788"/>
            <a:ext cx="2084338" cy="504825"/>
          </a:xfrm>
          <a:prstGeom prst="rect">
            <a:avLst/>
          </a:prstGeom>
          <a:solidFill>
            <a:srgbClr val="F6EFDC"/>
          </a:solidFill>
          <a:ln w="9525">
            <a:solidFill>
              <a:srgbClr val="D9C79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651087" y="4138613"/>
            <a:ext cx="17223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REVIEW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667250" y="5267325"/>
            <a:ext cx="5986463" cy="2095500"/>
          </a:xfrm>
          <a:prstGeom prst="rect">
            <a:avLst/>
          </a:prstGeom>
          <a:ln w="9525">
            <a:solidFill>
              <a:srgbClr val="1C1B19">
                <a:alpha val="1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1575" y="5562600"/>
            <a:ext cx="58935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REQUEST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981575" y="5934075"/>
            <a:ext cx="589359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 purchase register — August 2026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4981575" y="6429375"/>
            <a:ext cx="58935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C3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 10 SEP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882313" y="5267325"/>
            <a:ext cx="5986463" cy="2095500"/>
          </a:xfrm>
          <a:prstGeom prst="rect">
            <a:avLst/>
          </a:prstGeom>
          <a:ln w="9525">
            <a:solidFill>
              <a:srgbClr val="1C1B19">
                <a:alpha val="12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196638" y="5562600"/>
            <a:ext cx="58935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THE FIRM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196638" y="5934075"/>
            <a:ext cx="5518547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TDS return filed. Acknowledgement attached.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11196638" y="6810375"/>
            <a:ext cx="58935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AUG · PRIYA NAIR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YEAR-OVER-YEAR MEMORY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80213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13"/>
              </a:lnSpc>
              <a:buNone/>
            </a:pPr>
            <a:r>
              <a:rPr lang="en-US" sz="4500" b="1" spc="-135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doesn't start from zero every year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862263"/>
            <a:ext cx="5308550" cy="478155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4925" y="3233738"/>
            <a:ext cx="506407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98" kern="0" dirty="0">
                <a:solidFill>
                  <a:srgbClr val="8A8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2024–25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304925" y="4052888"/>
            <a:ext cx="4603700" cy="9525"/>
          </a:xfrm>
          <a:prstGeom prst="rect">
            <a:avLst/>
          </a:prstGeom>
          <a:solidFill>
            <a:srgbClr val="1C1B19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04925" y="4310063"/>
            <a:ext cx="50640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· 412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04925" y="4748213"/>
            <a:ext cx="50640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· 38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04925" y="5186363"/>
            <a:ext cx="50640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FINANCIALS · SIGNED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04925" y="5624513"/>
            <a:ext cx="50640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 · 96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04925" y="6062663"/>
            <a:ext cx="50640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 · 44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04925" y="6500813"/>
            <a:ext cx="50640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COMMUNICATION · 210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6489650" y="2862263"/>
            <a:ext cx="5308550" cy="478155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42075" y="3233738"/>
            <a:ext cx="506407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98" kern="0" dirty="0">
                <a:solidFill>
                  <a:srgbClr val="3D3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2025–26</a:t>
            </a:r>
            <a:endParaRPr lang="en-US" sz="3900" dirty="0"/>
          </a:p>
        </p:txBody>
      </p:sp>
      <p:sp>
        <p:nvSpPr>
          <p:cNvPr id="15" name="Shape 13"/>
          <p:cNvSpPr/>
          <p:nvPr/>
        </p:nvSpPr>
        <p:spPr>
          <a:xfrm>
            <a:off x="6842075" y="4052888"/>
            <a:ext cx="4603700" cy="9525"/>
          </a:xfrm>
          <a:prstGeom prst="rect">
            <a:avLst/>
          </a:prstGeom>
          <a:solidFill>
            <a:srgbClr val="1C1B19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842075" y="4310063"/>
            <a:ext cx="50640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· 468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842075" y="4748213"/>
            <a:ext cx="50640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· 41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842075" y="5186363"/>
            <a:ext cx="50640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FINANCIALS · SIGNED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842075" y="5624513"/>
            <a:ext cx="50640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 · 104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842075" y="6062663"/>
            <a:ext cx="50640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 · 51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842075" y="6500813"/>
            <a:ext cx="50640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COMMUNICATION · 236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2026801" y="2862263"/>
            <a:ext cx="5308699" cy="4781550"/>
          </a:xfrm>
          <a:prstGeom prst="rect">
            <a:avLst/>
          </a:prstGeom>
          <a:solidFill>
            <a:srgbClr val="151413"/>
          </a:solidFill>
          <a:ln/>
        </p:spPr>
      </p:sp>
      <p:sp>
        <p:nvSpPr>
          <p:cNvPr id="23" name="Text 21"/>
          <p:cNvSpPr/>
          <p:nvPr/>
        </p:nvSpPr>
        <p:spPr>
          <a:xfrm>
            <a:off x="12369701" y="3224213"/>
            <a:ext cx="508518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98" kern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2026–27</a:t>
            </a:r>
            <a:endParaRPr lang="en-US" sz="3900" dirty="0"/>
          </a:p>
        </p:txBody>
      </p:sp>
      <p:sp>
        <p:nvSpPr>
          <p:cNvPr id="24" name="Shape 22"/>
          <p:cNvSpPr/>
          <p:nvPr/>
        </p:nvSpPr>
        <p:spPr>
          <a:xfrm>
            <a:off x="12369701" y="4043363"/>
            <a:ext cx="4622899" cy="9525"/>
          </a:xfrm>
          <a:prstGeom prst="rect">
            <a:avLst/>
          </a:prstGeom>
          <a:solidFill>
            <a:srgbClr val="F6F4EF">
              <a:alpha val="1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369701" y="4300538"/>
            <a:ext cx="50851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7B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· 194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2369701" y="4738688"/>
            <a:ext cx="50851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7B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· 17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369701" y="5176838"/>
            <a:ext cx="50851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7B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FINANCIALS · IN PROGRESS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2369701" y="5614988"/>
            <a:ext cx="50851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7B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 · 52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2369701" y="6053138"/>
            <a:ext cx="50851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7B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 · 22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2369701" y="6491288"/>
            <a:ext cx="50851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7B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COMMUNICATION · 118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369701" y="7024688"/>
            <a:ext cx="50851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YEAR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52500" y="8610600"/>
            <a:ext cx="12382500" cy="9525"/>
          </a:xfrm>
          <a:prstGeom prst="rect">
            <a:avLst/>
          </a:prstGeom>
          <a:solidFill>
            <a:srgbClr val="1C1B19">
              <a:alpha val="1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" y="9001125"/>
            <a:ext cx="1275397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spc="-66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firm's institutional memory compounds over time.</a:t>
            </a:r>
            <a:endParaRPr lang="en-US" sz="3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&amp; CONTROL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80213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13"/>
              </a:lnSpc>
              <a:buNone/>
            </a:pPr>
            <a:r>
              <a:rPr lang="en-US" sz="4500" b="1" spc="-135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 needs control, not just storage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52675"/>
            <a:ext cx="3895725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28725" y="2647950"/>
            <a:ext cx="346014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1C1B19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ROLE-BASED ACCESS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019675" y="2352675"/>
            <a:ext cx="3895725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95900" y="2647950"/>
            <a:ext cx="346014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1C1B19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CLIENT-LEVEL ACCESS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2500" y="3800475"/>
            <a:ext cx="3895725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8725" y="4095750"/>
            <a:ext cx="346014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1C1B19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 PERMISSIONS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019675" y="3800475"/>
            <a:ext cx="3895725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95900" y="4095750"/>
            <a:ext cx="346014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1C1B19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LOG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2500" y="5248275"/>
            <a:ext cx="3895725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8725" y="5543550"/>
            <a:ext cx="346014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1C1B19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 HISTORY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019675" y="5248275"/>
            <a:ext cx="3895725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95900" y="5543550"/>
            <a:ext cx="346014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1C1B19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CONTROLLED EXPORTS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500" y="6696075"/>
            <a:ext cx="3895725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8725" y="6991350"/>
            <a:ext cx="346014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1C1B19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 AUTHENTICATION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019675" y="6696075"/>
            <a:ext cx="3895725" cy="1276350"/>
          </a:xfrm>
          <a:prstGeom prst="rect">
            <a:avLst/>
          </a:prstGeom>
          <a:solidFill>
            <a:srgbClr val="1E3A32"/>
          </a:solidFill>
          <a:ln/>
        </p:spPr>
      </p:sp>
      <p:sp>
        <p:nvSpPr>
          <p:cNvPr id="19" name="Text 17"/>
          <p:cNvSpPr/>
          <p:nvPr/>
        </p:nvSpPr>
        <p:spPr>
          <a:xfrm>
            <a:off x="5286375" y="6981825"/>
            <a:ext cx="3479197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F6F4EF"/>
                </a:solidFill>
                <a:highlight>
                  <a:srgbClr val="1E3A32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CHANGE ATTRIBUTABLE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372600" y="2352675"/>
            <a:ext cx="7962900" cy="7172325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  <a:effectLst>
            <a:outerShdw sx="100000" sy="100000" kx="0" ky="0" algn="bl" rotWithShape="0" blurRad="342900" dist="133350" dir="5400000">
              <a:srgbClr val="1C1B19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82125" y="3305175"/>
            <a:ext cx="7943850" cy="9525"/>
          </a:xfrm>
          <a:prstGeom prst="rect">
            <a:avLst/>
          </a:prstGeom>
          <a:solidFill>
            <a:srgbClr val="1C1B19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725025" y="2647950"/>
            <a:ext cx="243323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38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entry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5473958" y="2705100"/>
            <a:ext cx="166002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 PVT LTD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725025" y="3657600"/>
            <a:ext cx="798385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CHANGED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725025" y="3990975"/>
            <a:ext cx="79838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GSTIN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9725025" y="4648200"/>
            <a:ext cx="38661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725025" y="4981575"/>
            <a:ext cx="386619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Nair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3468350" y="4648200"/>
            <a:ext cx="38661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468350" y="4981575"/>
            <a:ext cx="386619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Aug 2026, 16:08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9725025" y="5591175"/>
            <a:ext cx="7258050" cy="723900"/>
          </a:xfrm>
          <a:prstGeom prst="rect">
            <a:avLst/>
          </a:prstGeom>
          <a:solidFill>
            <a:srgbClr val="F7EBE8"/>
          </a:solidFill>
          <a:ln w="9525">
            <a:solidFill>
              <a:srgbClr val="E0C2B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82200" y="5810250"/>
            <a:ext cx="69614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A4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· 27AABCA1234K1Z5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725025" y="6448425"/>
            <a:ext cx="7258050" cy="723900"/>
          </a:xfrm>
          <a:prstGeom prst="rect">
            <a:avLst/>
          </a:prstGeom>
          <a:solidFill>
            <a:srgbClr val="EDF1EE"/>
          </a:solidFill>
          <a:ln w="9525">
            <a:solidFill>
              <a:srgbClr val="C7D5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82200" y="6667500"/>
            <a:ext cx="69614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E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· 27AABCA1234K1Z9</a:t>
            </a:r>
            <a:endParaRPr lang="en-US" sz="1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36289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PARTNER DASHBOARD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362893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13"/>
              </a:lnSpc>
              <a:buNone/>
            </a:pPr>
            <a:r>
              <a:rPr lang="en-US" sz="4500" b="1" spc="-135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managing clients to managing the practice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5003363" y="1638300"/>
            <a:ext cx="25653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AT 02 SEP 2026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276475"/>
            <a:ext cx="3124200" cy="196215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7775" y="2571750"/>
            <a:ext cx="278701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CLIENTS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47775" y="2943225"/>
            <a:ext cx="278701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144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248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267200" y="2276475"/>
            <a:ext cx="3124200" cy="196215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2475" y="2571750"/>
            <a:ext cx="278701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62475" y="2943225"/>
            <a:ext cx="278701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144" kern="0" dirty="0">
                <a:solidFill>
                  <a:srgbClr val="1E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7581900" y="2276475"/>
            <a:ext cx="3124200" cy="196215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77175" y="2571750"/>
            <a:ext cx="26098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PENDING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77175" y="3200400"/>
            <a:ext cx="278701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144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10896600" y="2276475"/>
            <a:ext cx="3124200" cy="196215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91875" y="2571750"/>
            <a:ext cx="278701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 OVERDUE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191875" y="2943225"/>
            <a:ext cx="278701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144" kern="0" dirty="0">
                <a:solidFill>
                  <a:srgbClr val="8C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800" dirty="0"/>
          </a:p>
        </p:txBody>
      </p:sp>
      <p:sp>
        <p:nvSpPr>
          <p:cNvPr id="17" name="Shape 15"/>
          <p:cNvSpPr/>
          <p:nvPr/>
        </p:nvSpPr>
        <p:spPr>
          <a:xfrm>
            <a:off x="14211300" y="2276475"/>
            <a:ext cx="3124200" cy="1962150"/>
          </a:xfrm>
          <a:prstGeom prst="rect">
            <a:avLst/>
          </a:prstGeom>
          <a:solidFill>
            <a:srgbClr val="151413"/>
          </a:solidFill>
          <a:ln/>
        </p:spPr>
      </p:sp>
      <p:sp>
        <p:nvSpPr>
          <p:cNvPr id="18" name="Text 16"/>
          <p:cNvSpPr/>
          <p:nvPr/>
        </p:nvSpPr>
        <p:spPr>
          <a:xfrm>
            <a:off x="14497050" y="2562225"/>
            <a:ext cx="26292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FEES BILLED · YTD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97050" y="3190875"/>
            <a:ext cx="280797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144" kern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₹4.2 Cr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952500" y="4486275"/>
            <a:ext cx="5678091" cy="5133975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5875" y="4800600"/>
            <a:ext cx="55124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 BY PARTNER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5875" y="5286375"/>
            <a:ext cx="79191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Iyer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5999857" y="5286375"/>
            <a:ext cx="3735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285875" y="5676900"/>
            <a:ext cx="5011341" cy="114300"/>
          </a:xfrm>
          <a:prstGeom prst="rect">
            <a:avLst/>
          </a:prstGeom>
          <a:solidFill>
            <a:srgbClr val="EAE7E0"/>
          </a:solidFill>
          <a:ln/>
        </p:spPr>
      </p:sp>
      <p:sp>
        <p:nvSpPr>
          <p:cNvPr id="25" name="Shape 23"/>
          <p:cNvSpPr/>
          <p:nvPr/>
        </p:nvSpPr>
        <p:spPr>
          <a:xfrm>
            <a:off x="1285875" y="5676900"/>
            <a:ext cx="3908822" cy="114300"/>
          </a:xfrm>
          <a:prstGeom prst="rect">
            <a:avLst/>
          </a:prstGeom>
          <a:solidFill>
            <a:srgbClr val="1E3A32"/>
          </a:solidFill>
          <a:ln/>
        </p:spPr>
      </p:sp>
      <p:sp>
        <p:nvSpPr>
          <p:cNvPr id="26" name="Text 24"/>
          <p:cNvSpPr/>
          <p:nvPr/>
        </p:nvSpPr>
        <p:spPr>
          <a:xfrm>
            <a:off x="1285875" y="5981700"/>
            <a:ext cx="105325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Desai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5999857" y="5981700"/>
            <a:ext cx="3735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285875" y="6372225"/>
            <a:ext cx="5011341" cy="114300"/>
          </a:xfrm>
          <a:prstGeom prst="rect">
            <a:avLst/>
          </a:prstGeom>
          <a:solidFill>
            <a:srgbClr val="EAE7E0"/>
          </a:solidFill>
          <a:ln/>
        </p:spPr>
      </p:sp>
      <p:sp>
        <p:nvSpPr>
          <p:cNvPr id="29" name="Shape 27"/>
          <p:cNvSpPr/>
          <p:nvPr/>
        </p:nvSpPr>
        <p:spPr>
          <a:xfrm>
            <a:off x="1285875" y="6372225"/>
            <a:ext cx="3006775" cy="114300"/>
          </a:xfrm>
          <a:prstGeom prst="rect">
            <a:avLst/>
          </a:prstGeom>
          <a:solidFill>
            <a:srgbClr val="1E3A32"/>
          </a:solidFill>
          <a:ln/>
        </p:spPr>
      </p:sp>
      <p:sp>
        <p:nvSpPr>
          <p:cNvPr id="30" name="Text 28"/>
          <p:cNvSpPr/>
          <p:nvPr/>
        </p:nvSpPr>
        <p:spPr>
          <a:xfrm>
            <a:off x="1285875" y="6677025"/>
            <a:ext cx="9574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 Shah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5999857" y="6677025"/>
            <a:ext cx="3735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285875" y="7067550"/>
            <a:ext cx="5011341" cy="114300"/>
          </a:xfrm>
          <a:prstGeom prst="rect">
            <a:avLst/>
          </a:prstGeom>
          <a:solidFill>
            <a:srgbClr val="EAE7E0"/>
          </a:solidFill>
          <a:ln/>
        </p:spPr>
      </p:sp>
      <p:sp>
        <p:nvSpPr>
          <p:cNvPr id="33" name="Shape 31"/>
          <p:cNvSpPr/>
          <p:nvPr/>
        </p:nvSpPr>
        <p:spPr>
          <a:xfrm>
            <a:off x="1285875" y="7067550"/>
            <a:ext cx="2104727" cy="114300"/>
          </a:xfrm>
          <a:prstGeom prst="rect">
            <a:avLst/>
          </a:prstGeom>
          <a:solidFill>
            <a:srgbClr val="1E3A32"/>
          </a:solidFill>
          <a:ln/>
        </p:spPr>
      </p:sp>
      <p:sp>
        <p:nvSpPr>
          <p:cNvPr id="34" name="Text 32"/>
          <p:cNvSpPr/>
          <p:nvPr/>
        </p:nvSpPr>
        <p:spPr>
          <a:xfrm>
            <a:off x="1285875" y="7372350"/>
            <a:ext cx="14386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Unassigned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5999857" y="7372350"/>
            <a:ext cx="3735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285875" y="7762875"/>
            <a:ext cx="5011341" cy="114300"/>
          </a:xfrm>
          <a:prstGeom prst="rect">
            <a:avLst/>
          </a:prstGeom>
          <a:solidFill>
            <a:srgbClr val="EAE7E0"/>
          </a:solidFill>
          <a:ln/>
        </p:spPr>
      </p:sp>
      <p:sp>
        <p:nvSpPr>
          <p:cNvPr id="37" name="Shape 35"/>
          <p:cNvSpPr/>
          <p:nvPr/>
        </p:nvSpPr>
        <p:spPr>
          <a:xfrm>
            <a:off x="1285875" y="7762875"/>
            <a:ext cx="1052364" cy="114300"/>
          </a:xfrm>
          <a:prstGeom prst="rect">
            <a:avLst/>
          </a:prstGeom>
          <a:solidFill>
            <a:srgbClr val="A8853F"/>
          </a:solidFill>
          <a:ln/>
        </p:spPr>
      </p:sp>
      <p:sp>
        <p:nvSpPr>
          <p:cNvPr id="38" name="Shape 36"/>
          <p:cNvSpPr/>
          <p:nvPr/>
        </p:nvSpPr>
        <p:spPr>
          <a:xfrm>
            <a:off x="6821091" y="4486275"/>
            <a:ext cx="5161955" cy="5133975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54466" y="4800600"/>
            <a:ext cx="49447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 BY SERVICE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7154466" y="5286375"/>
            <a:ext cx="1714500" cy="1714500"/>
          </a:xfrm>
          <a:prstGeom prst="ellipse">
            <a:avLst/>
          </a:prstGeom>
          <a:solidFill>
            <a:srgbClr val="1E3A32"/>
          </a:solidFill>
          <a:ln/>
        </p:spPr>
      </p:sp>
      <p:sp>
        <p:nvSpPr>
          <p:cNvPr id="41" name="Text 39"/>
          <p:cNvSpPr/>
          <p:nvPr/>
        </p:nvSpPr>
        <p:spPr>
          <a:xfrm>
            <a:off x="9154716" y="5429250"/>
            <a:ext cx="24144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GST · 42%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154716" y="5819775"/>
            <a:ext cx="24144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 TAX · 26%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154716" y="6210300"/>
            <a:ext cx="24144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· 18%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154716" y="6600825"/>
            <a:ext cx="24144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TDS · 14%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2173545" y="4486275"/>
            <a:ext cx="5161806" cy="5133975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506920" y="4800600"/>
            <a:ext cx="49445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WORKLOAD · OPEN TASKS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2506920" y="7791450"/>
            <a:ext cx="761851" cy="1143000"/>
          </a:xfrm>
          <a:prstGeom prst="rect">
            <a:avLst/>
          </a:prstGeom>
          <a:solidFill>
            <a:srgbClr val="1E3A32"/>
          </a:solidFill>
          <a:ln/>
        </p:spPr>
      </p:sp>
      <p:sp>
        <p:nvSpPr>
          <p:cNvPr id="48" name="Text 46"/>
          <p:cNvSpPr/>
          <p:nvPr/>
        </p:nvSpPr>
        <p:spPr>
          <a:xfrm>
            <a:off x="12681942" y="9048750"/>
            <a:ext cx="4878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RAH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3440221" y="7315200"/>
            <a:ext cx="761851" cy="1619250"/>
          </a:xfrm>
          <a:prstGeom prst="rect">
            <a:avLst/>
          </a:prstGeom>
          <a:solidFill>
            <a:srgbClr val="1E3A32"/>
          </a:solidFill>
          <a:ln/>
        </p:spPr>
      </p:sp>
      <p:sp>
        <p:nvSpPr>
          <p:cNvPr id="50" name="Text 48"/>
          <p:cNvSpPr/>
          <p:nvPr/>
        </p:nvSpPr>
        <p:spPr>
          <a:xfrm>
            <a:off x="13615243" y="9048750"/>
            <a:ext cx="4878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4373523" y="8077200"/>
            <a:ext cx="761851" cy="857250"/>
          </a:xfrm>
          <a:prstGeom prst="rect">
            <a:avLst/>
          </a:prstGeom>
          <a:solidFill>
            <a:srgbClr val="1E3A32"/>
          </a:solidFill>
          <a:ln/>
        </p:spPr>
      </p:sp>
      <p:sp>
        <p:nvSpPr>
          <p:cNvPr id="52" name="Text 50"/>
          <p:cNvSpPr/>
          <p:nvPr/>
        </p:nvSpPr>
        <p:spPr>
          <a:xfrm>
            <a:off x="14548545" y="9048750"/>
            <a:ext cx="4878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NEH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5306824" y="6934200"/>
            <a:ext cx="761851" cy="2000250"/>
          </a:xfrm>
          <a:prstGeom prst="rect">
            <a:avLst/>
          </a:prstGeom>
          <a:solidFill>
            <a:srgbClr val="A8853F"/>
          </a:solidFill>
          <a:ln/>
        </p:spPr>
      </p:sp>
      <p:sp>
        <p:nvSpPr>
          <p:cNvPr id="54" name="Text 52"/>
          <p:cNvSpPr/>
          <p:nvPr/>
        </p:nvSpPr>
        <p:spPr>
          <a:xfrm>
            <a:off x="15481846" y="9048750"/>
            <a:ext cx="4878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VIK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6240125" y="7600950"/>
            <a:ext cx="761851" cy="1333500"/>
          </a:xfrm>
          <a:prstGeom prst="rect">
            <a:avLst/>
          </a:prstGeom>
          <a:solidFill>
            <a:srgbClr val="1E3A32"/>
          </a:solidFill>
          <a:ln/>
        </p:spPr>
      </p:sp>
      <p:sp>
        <p:nvSpPr>
          <p:cNvPr id="56" name="Text 54"/>
          <p:cNvSpPr/>
          <p:nvPr/>
        </p:nvSpPr>
        <p:spPr>
          <a:xfrm>
            <a:off x="16415147" y="9048750"/>
            <a:ext cx="4878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SNE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HEALTH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80213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13"/>
              </a:lnSpc>
              <a:buNone/>
            </a:pPr>
            <a:r>
              <a:rPr lang="en-US" sz="4500" b="1" spc="-135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which clients need attention before they call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276475"/>
            <a:ext cx="9509671" cy="7248525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  <a:effectLst>
            <a:outerShdw sx="100000" sy="100000" kx="0" ky="0" algn="bl" rotWithShape="0" blurRad="342900" dist="133350" dir="5400000">
              <a:srgbClr val="1C1B19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2025" y="5900738"/>
            <a:ext cx="9490621" cy="9525"/>
          </a:xfrm>
          <a:prstGeom prst="rect">
            <a:avLst/>
          </a:prstGeom>
          <a:solidFill>
            <a:srgbClr val="1C1B19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707261" y="2286000"/>
            <a:ext cx="9525" cy="7229475"/>
          </a:xfrm>
          <a:prstGeom prst="rect">
            <a:avLst/>
          </a:prstGeom>
          <a:solidFill>
            <a:srgbClr val="1C1B19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23975" y="2571750"/>
            <a:ext cx="10365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32849" y="8972550"/>
            <a:ext cx="226363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C3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 ATTENTION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3975" y="8972550"/>
            <a:ext cx="11736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RISK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56018" y="2571750"/>
            <a:ext cx="135814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RISK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70274" y="4165550"/>
            <a:ext cx="1909167" cy="504825"/>
          </a:xfrm>
          <a:prstGeom prst="rect">
            <a:avLst/>
          </a:prstGeom>
          <a:solidFill>
            <a:srgbClr val="EDF1EE"/>
          </a:solidFill>
          <a:ln w="9525">
            <a:solidFill>
              <a:srgbClr val="C7D5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70299" y="4289375"/>
            <a:ext cx="15853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 PVT LTD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09107" y="6334423"/>
            <a:ext cx="2457896" cy="504825"/>
          </a:xfrm>
          <a:prstGeom prst="rect">
            <a:avLst/>
          </a:prstGeom>
          <a:solidFill>
            <a:srgbClr val="EDF1EE"/>
          </a:solidFill>
          <a:ln w="9525">
            <a:solidFill>
              <a:srgbClr val="C7D5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9132" y="6458248"/>
            <a:ext cx="213404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SUNRISE TRADERS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66582" y="5033070"/>
            <a:ext cx="2183457" cy="504825"/>
          </a:xfrm>
          <a:prstGeom prst="rect">
            <a:avLst/>
          </a:prstGeom>
          <a:solidFill>
            <a:srgbClr val="F6EFDC"/>
          </a:solidFill>
          <a:ln w="9525">
            <a:solidFill>
              <a:srgbClr val="D9C7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6607" y="5156895"/>
            <a:ext cx="18596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KEDIA EXPORTS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05415" y="7346603"/>
            <a:ext cx="2183457" cy="504825"/>
          </a:xfrm>
          <a:prstGeom prst="rect">
            <a:avLst/>
          </a:prstGeom>
          <a:solidFill>
            <a:srgbClr val="F7EBE8"/>
          </a:solidFill>
          <a:ln w="9525">
            <a:solidFill>
              <a:srgbClr val="E0C2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05440" y="7470428"/>
            <a:ext cx="18596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C3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MAHESH &amp; SONS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327600" y="8069461"/>
            <a:ext cx="1909167" cy="504825"/>
          </a:xfrm>
          <a:prstGeom prst="rect">
            <a:avLst/>
          </a:prstGeom>
          <a:solidFill>
            <a:srgbClr val="F7EBE8"/>
          </a:solidFill>
          <a:ln w="9525">
            <a:solidFill>
              <a:srgbClr val="E0C2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27625" y="8193286"/>
            <a:ext cx="15853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C3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 INFRA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100858" y="7491115"/>
            <a:ext cx="152400" cy="152400"/>
          </a:xfrm>
          <a:prstGeom prst="ellipse">
            <a:avLst/>
          </a:prstGeom>
          <a:solidFill>
            <a:srgbClr val="1E3A32"/>
          </a:solidFill>
          <a:ln/>
        </p:spPr>
      </p:sp>
      <p:sp>
        <p:nvSpPr>
          <p:cNvPr id="22" name="Shape 20"/>
          <p:cNvSpPr/>
          <p:nvPr/>
        </p:nvSpPr>
        <p:spPr>
          <a:xfrm>
            <a:off x="3239691" y="5466904"/>
            <a:ext cx="152400" cy="152400"/>
          </a:xfrm>
          <a:prstGeom prst="ellipse">
            <a:avLst/>
          </a:prstGeom>
          <a:solidFill>
            <a:srgbClr val="1E3A32"/>
          </a:solidFill>
          <a:ln/>
        </p:spPr>
      </p:sp>
      <p:sp>
        <p:nvSpPr>
          <p:cNvPr id="23" name="Shape 21"/>
          <p:cNvSpPr/>
          <p:nvPr/>
        </p:nvSpPr>
        <p:spPr>
          <a:xfrm>
            <a:off x="4947940" y="4454723"/>
            <a:ext cx="152400" cy="152400"/>
          </a:xfrm>
          <a:prstGeom prst="ellipse">
            <a:avLst/>
          </a:prstGeom>
          <a:solidFill>
            <a:srgbClr val="1E3A32"/>
          </a:solidFill>
          <a:ln/>
        </p:spPr>
      </p:sp>
      <p:sp>
        <p:nvSpPr>
          <p:cNvPr id="24" name="Shape 22"/>
          <p:cNvSpPr/>
          <p:nvPr/>
        </p:nvSpPr>
        <p:spPr>
          <a:xfrm>
            <a:off x="8554492" y="6045250"/>
            <a:ext cx="152400" cy="152400"/>
          </a:xfrm>
          <a:prstGeom prst="ellipse">
            <a:avLst/>
          </a:prstGeom>
          <a:solidFill>
            <a:srgbClr val="8C3A2B"/>
          </a:solidFill>
          <a:ln/>
        </p:spPr>
      </p:sp>
      <p:sp>
        <p:nvSpPr>
          <p:cNvPr id="25" name="Shape 23"/>
          <p:cNvSpPr/>
          <p:nvPr/>
        </p:nvSpPr>
        <p:spPr>
          <a:xfrm>
            <a:off x="7225754" y="3876377"/>
            <a:ext cx="152400" cy="152400"/>
          </a:xfrm>
          <a:prstGeom prst="ellipse">
            <a:avLst/>
          </a:prstGeom>
          <a:solidFill>
            <a:srgbClr val="A8853F"/>
          </a:solidFill>
          <a:ln/>
        </p:spPr>
      </p:sp>
      <p:sp>
        <p:nvSpPr>
          <p:cNvPr id="26" name="Text 24"/>
          <p:cNvSpPr/>
          <p:nvPr/>
        </p:nvSpPr>
        <p:spPr>
          <a:xfrm>
            <a:off x="10995571" y="2276475"/>
            <a:ext cx="697392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SCORED ON SIX DIMENSIONS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995571" y="3571875"/>
            <a:ext cx="6339929" cy="9525"/>
          </a:xfrm>
          <a:prstGeom prst="rect">
            <a:avLst/>
          </a:prstGeom>
          <a:solidFill>
            <a:srgbClr val="1C1B19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995571" y="3009900"/>
            <a:ext cx="17703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6146512" y="3009900"/>
            <a:ext cx="126518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E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TRACK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0995571" y="4352925"/>
            <a:ext cx="6339929" cy="9525"/>
          </a:xfrm>
          <a:prstGeom prst="rect">
            <a:avLst/>
          </a:prstGeom>
          <a:solidFill>
            <a:srgbClr val="1C1B19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0995571" y="3790950"/>
            <a:ext cx="169571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5997833" y="3790950"/>
            <a:ext cx="147143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PENDING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0995571" y="5133975"/>
            <a:ext cx="6339929" cy="9525"/>
          </a:xfrm>
          <a:prstGeom prst="rect">
            <a:avLst/>
          </a:prstGeom>
          <a:solidFill>
            <a:srgbClr val="1C1B19">
              <a:alpha val="1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0995571" y="4572000"/>
            <a:ext cx="8553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5997833" y="4572000"/>
            <a:ext cx="147143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C3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OVERDUE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0995571" y="5915025"/>
            <a:ext cx="6339929" cy="9525"/>
          </a:xfrm>
          <a:prstGeom prst="rect">
            <a:avLst/>
          </a:prstGeom>
          <a:solidFill>
            <a:srgbClr val="1C1B19">
              <a:alpha val="1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0995571" y="5353050"/>
            <a:ext cx="75381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6295191" y="5353050"/>
            <a:ext cx="111650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DAYS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0995571" y="6696075"/>
            <a:ext cx="6339929" cy="9525"/>
          </a:xfrm>
          <a:prstGeom prst="rect">
            <a:avLst/>
          </a:prstGeom>
          <a:solidFill>
            <a:srgbClr val="1C1B19">
              <a:alpha val="12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0995571" y="6134100"/>
            <a:ext cx="232927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6443722" y="6134100"/>
            <a:ext cx="96797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E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0995571" y="6915150"/>
            <a:ext cx="66883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16889611" y="6915150"/>
            <a:ext cx="52208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E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5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80213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13"/>
              </a:lnSpc>
              <a:buNone/>
            </a:pPr>
            <a:r>
              <a:rPr lang="en-US" sz="4500" b="1" spc="-135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phases, in order of value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3114675"/>
            <a:ext cx="2554932" cy="3943350"/>
          </a:xfrm>
          <a:prstGeom prst="rect">
            <a:avLst/>
          </a:prstGeom>
          <a:solidFill>
            <a:srgbClr val="151413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457575"/>
            <a:ext cx="21817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3905250"/>
            <a:ext cx="218177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b="1" spc="-57" kern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238250" y="5972175"/>
            <a:ext cx="205963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B7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client database.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678882" y="3114675"/>
            <a:ext cx="2555081" cy="394335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4157" y="3467100"/>
            <a:ext cx="21609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74157" y="3914775"/>
            <a:ext cx="216098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b="1" spc="-57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3974157" y="5962650"/>
            <a:ext cx="204073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C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client files.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405414" y="3114675"/>
            <a:ext cx="2555081" cy="394335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00689" y="3467100"/>
            <a:ext cx="21609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00689" y="3914775"/>
            <a:ext cx="204073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b="1" spc="-57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&amp; compliance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6700689" y="5962650"/>
            <a:ext cx="204073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C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work to deadlines.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31945" y="3114675"/>
            <a:ext cx="2555081" cy="394335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27220" y="3467100"/>
            <a:ext cx="21609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27220" y="3914775"/>
            <a:ext cx="204073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b="1" spc="-57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portal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9427220" y="5962650"/>
            <a:ext cx="204073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C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interaction.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858476" y="3114675"/>
            <a:ext cx="2730550" cy="394335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153751" y="3467100"/>
            <a:ext cx="23540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153751" y="3914775"/>
            <a:ext cx="2354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b="1" spc="-57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2153751" y="5962650"/>
            <a:ext cx="22162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C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dashboards.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4760476" y="3114675"/>
            <a:ext cx="2575024" cy="3943350"/>
          </a:xfrm>
          <a:prstGeom prst="rect">
            <a:avLst/>
          </a:prstGeom>
          <a:solidFill>
            <a:srgbClr val="FFFFFF"/>
          </a:solidFill>
          <a:ln w="9525">
            <a:solidFill>
              <a:srgbClr val="1C1B19">
                <a:alpha val="14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55751" y="3467100"/>
            <a:ext cx="218292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A885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055751" y="3914775"/>
            <a:ext cx="218292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b="1" spc="-57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2850" dirty="0"/>
          </a:p>
        </p:txBody>
      </p:sp>
      <p:sp>
        <p:nvSpPr>
          <p:cNvPr id="27" name="Text 25"/>
          <p:cNvSpPr/>
          <p:nvPr/>
        </p:nvSpPr>
        <p:spPr>
          <a:xfrm>
            <a:off x="15055751" y="5962650"/>
            <a:ext cx="206067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C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existing systems.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52500" y="8277225"/>
            <a:ext cx="11906250" cy="9525"/>
          </a:xfrm>
          <a:prstGeom prst="rect">
            <a:avLst/>
          </a:prstGeom>
          <a:solidFill>
            <a:srgbClr val="1C1B19">
              <a:alpha val="1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" y="8629650"/>
            <a:ext cx="12263438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C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is usable on its own. The firm never waits for the last phase to see the benefit of the first.</a:t>
            </a:r>
            <a:endParaRPr lang="en-US" sz="2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8044815" cy="161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79"/>
              </a:lnSpc>
              <a:buNone/>
            </a:pPr>
            <a:r>
              <a:rPr lang="en-US" sz="6150" b="1" spc="-215" kern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client has a story.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1143000" y="4395788"/>
            <a:ext cx="424338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7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documents.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572125" y="4395788"/>
            <a:ext cx="424338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7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deadlines.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4957763"/>
            <a:ext cx="424338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7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filings.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572125" y="4957763"/>
            <a:ext cx="424338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7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history.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5519738"/>
            <a:ext cx="3973354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7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conversations.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572125" y="5519738"/>
            <a:ext cx="3973354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7B2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relationship with the firm.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43000" y="7991475"/>
            <a:ext cx="8286750" cy="9525"/>
          </a:xfrm>
          <a:prstGeom prst="rect">
            <a:avLst/>
          </a:prstGeom>
          <a:solidFill>
            <a:srgbClr val="F6F4E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8420100"/>
            <a:ext cx="8535353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0"/>
              </a:lnSpc>
              <a:buNone/>
            </a:pPr>
            <a:r>
              <a:rPr lang="en-US" sz="3300" spc="-66" kern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Verity makes that story structured, searchable and connected.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10287000" y="0"/>
            <a:ext cx="8001000" cy="10287000"/>
          </a:xfrm>
          <a:prstGeom prst="rect">
            <a:avLst/>
          </a:prstGeom>
          <a:solidFill>
            <a:srgbClr val="1E3A32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0" y="3629025"/>
            <a:ext cx="71247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238"/>
              </a:lnSpc>
              <a:buNone/>
            </a:pPr>
            <a:r>
              <a:rPr lang="en-US" sz="6900" b="1" spc="-276" kern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VERITY</a:t>
            </a:r>
            <a:endParaRPr lang="en-US" sz="6900" dirty="0"/>
          </a:p>
        </p:txBody>
      </p:sp>
      <p:sp>
        <p:nvSpPr>
          <p:cNvPr id="13" name="Shape 11"/>
          <p:cNvSpPr/>
          <p:nvPr/>
        </p:nvSpPr>
        <p:spPr>
          <a:xfrm>
            <a:off x="11049000" y="4838700"/>
            <a:ext cx="1333500" cy="19050"/>
          </a:xfrm>
          <a:prstGeom prst="rect">
            <a:avLst/>
          </a:prstGeom>
          <a:solidFill>
            <a:srgbClr val="A8853F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5238750"/>
            <a:ext cx="7124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DCE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client.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1049000" y="5762625"/>
            <a:ext cx="7124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DCE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complete record.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1049000" y="6286500"/>
            <a:ext cx="7124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DCE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connected practice.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2026-09-02T10:52:48Z</dcterms:created>
  <dcterms:modified xsi:type="dcterms:W3CDTF">2026-09-02T10:52:48Z</dcterms:modified>
</cp:coreProperties>
</file>