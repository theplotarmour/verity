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warmly. We are not here to sell software. We spent time understanding how Kent's actually runs a dinner service, and we designed an operating layer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Kent's already runs on a system — it is just made of paper, memory and shouting across the floor. It works, but every handoff is a place where time and money leak. Verity does not replace the way you work; it connects the parts that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people, four different questions, one shared truth. Today each answer lives in a different head. Verity gives all four the same answer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system. One order, one continuous journey, from the moment a guest is seated to the moment the table is ready again. Every screen you will see next is a window onto this same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floor of Kent's, live. Anyone with permission can see which tables are seated, which are held for a reservation, which are being cleared. No walking to the back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waiter carries one device. Tap the table, take the order, send it. No slip to carry, no second trip to the kitchen, no reading someone else's handwriting.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 sees one board. Tickets arrive in order, the timer starts by itself, and a dish only leaves the queue when the cook marks it ready. The waiter sees that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order moves through the same six states. Nothing can skip a step, and a cancellation is a recorded decision with a reason and a name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 never re-enters an order. The bill is built from what was actually served, tax is applied automatically, and settling the bill releases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view. Not a report you wait for at the end of the month — the state of the restaurant right now, on your phone,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answered every day without anyone compiling anything: what sold, what sells, how fast tables turn, how fast food reaches the guest.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about watching your staff. It is about your team never having to defend themselves from memory. Every exception carries its own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is trained on the whole system. Each person sees only the surface they need, on the device they already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dining room is not an office. The system has to keep working when the Wi-Fi dips, when six people act at once, and when a device is left on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deliberately keeping the first version small. Everything on the left is what makes tomorrow's service better. Everything on the right waits until the first version is part of how Kent's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no big-bang switchover. We run alongside your current process until the floor is comfortable, and only then remove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next step: two evenings on the floor with your team, then a configured system built around Kent's own menu and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D"/>
        </a:solidFill>
      </p:bgPr>
    </p:bg>
    <p:spTree>
      <p:nvGrpSpPr>
        <p:cNvPr id="1" name=""/>
        <p:cNvGrpSpPr/>
        <p:nvPr/>
      </p:nvGrpSpPr>
      <p:grpSpPr>
        <a:xfrm>
          <a:off x="0" y="0"/>
          <a:ext cx="0" cy="0"/>
          <a:chOff x="0" y="0"/>
          <a:chExt cx="0" cy="0"/>
        </a:xfrm>
      </p:grpSpPr>
      <p:sp>
        <p:nvSpPr>
          <p:cNvPr id="2" name="Shape 0"/>
          <p:cNvSpPr/>
          <p:nvPr/>
        </p:nvSpPr>
        <p:spPr>
          <a:xfrm>
            <a:off x="9906000" y="-3048000"/>
            <a:ext cx="10477500" cy="10477500"/>
          </a:xfrm>
          <a:prstGeom prst="ellipse">
            <a:avLst/>
          </a:prstGeom>
          <a:gradFill rotWithShape="1">
            <a:gsLst>
              <a:gs pos="0">
                <a:srgbClr val="B8862B">
                  <a:alpha val="20000"/>
                </a:srgbClr>
              </a:gs>
              <a:gs pos="45000">
                <a:srgbClr val="B8862B">
                  <a:alpha val="5000"/>
                </a:srgbClr>
              </a:gs>
              <a:gs pos="70000">
                <a:srgbClr val="B8862B">
                  <a:alpha val="0"/>
                </a:srgbClr>
              </a:gs>
            </a:gsLst>
            <a:path path="circle">
              <a:fillToRect l="50000" t="50000" r="50000" b="50000"/>
            </a:path>
          </a:gradFill>
          <a:ln/>
        </p:spPr>
      </p:sp>
      <p:sp>
        <p:nvSpPr>
          <p:cNvPr id="3" name="Text 1"/>
          <p:cNvSpPr/>
          <p:nvPr/>
        </p:nvSpPr>
        <p:spPr>
          <a:xfrm>
            <a:off x="952500" y="876300"/>
            <a:ext cx="1013668" cy="257175"/>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B8862B"/>
                </a:solidFill>
                <a:latin typeface="Courier New" pitchFamily="34" charset="0"/>
                <a:ea typeface="Courier New" pitchFamily="34" charset="-122"/>
                <a:cs typeface="Courier New" pitchFamily="34" charset="-120"/>
              </a:rPr>
              <a:t>VERITY</a:t>
            </a:r>
            <a:endParaRPr lang="en-US" sz="1500" dirty="0"/>
          </a:p>
        </p:txBody>
      </p:sp>
      <p:sp>
        <p:nvSpPr>
          <p:cNvPr id="4" name="Text 2"/>
          <p:cNvSpPr/>
          <p:nvPr/>
        </p:nvSpPr>
        <p:spPr>
          <a:xfrm>
            <a:off x="13471624" y="876300"/>
            <a:ext cx="4250263" cy="257175"/>
          </a:xfrm>
          <a:prstGeom prst="rect">
            <a:avLst/>
          </a:prstGeom>
          <a:noFill/>
          <a:ln/>
        </p:spPr>
        <p:txBody>
          <a:bodyPr wrap="square" lIns="25400" tIns="25400" rIns="25400" bIns="25400" rtlCol="0" anchor="t">
            <a:normAutofit/>
          </a:bodyPr>
          <a:lstStyle/>
          <a:p>
            <a:pPr algn="l" indent="0" marL="0">
              <a:buNone/>
            </a:pPr>
            <a:r>
              <a:rPr lang="en-US" sz="1500" spc="270" kern="0" dirty="0">
                <a:solidFill>
                  <a:srgbClr val="7C7268"/>
                </a:solidFill>
                <a:latin typeface="Courier New" pitchFamily="34" charset="0"/>
                <a:ea typeface="Courier New" pitchFamily="34" charset="-122"/>
                <a:cs typeface="Courier New" pitchFamily="34" charset="-120"/>
              </a:rPr>
              <a:t>DEFENCE COLONY · NEW DELHI</a:t>
            </a:r>
            <a:endParaRPr lang="en-US" sz="1500" dirty="0"/>
          </a:p>
        </p:txBody>
      </p:sp>
      <p:sp>
        <p:nvSpPr>
          <p:cNvPr id="5" name="Shape 3"/>
          <p:cNvSpPr/>
          <p:nvPr/>
        </p:nvSpPr>
        <p:spPr>
          <a:xfrm>
            <a:off x="952500" y="3562350"/>
            <a:ext cx="914400" cy="19050"/>
          </a:xfrm>
          <a:prstGeom prst="rect">
            <a:avLst/>
          </a:prstGeom>
          <a:solidFill>
            <a:srgbClr val="B8862B"/>
          </a:solidFill>
          <a:ln/>
        </p:spPr>
      </p:sp>
      <p:sp>
        <p:nvSpPr>
          <p:cNvPr id="6" name="Text 4"/>
          <p:cNvSpPr/>
          <p:nvPr/>
        </p:nvSpPr>
        <p:spPr>
          <a:xfrm>
            <a:off x="952500" y="4000500"/>
            <a:ext cx="18021300" cy="1543050"/>
          </a:xfrm>
          <a:prstGeom prst="rect">
            <a:avLst/>
          </a:prstGeom>
          <a:noFill/>
          <a:ln/>
        </p:spPr>
        <p:txBody>
          <a:bodyPr wrap="square" lIns="25400" tIns="25400" rIns="25400" bIns="25400" rtlCol="0" anchor="t">
            <a:normAutofit/>
          </a:bodyPr>
          <a:lstStyle/>
          <a:p>
            <a:pPr algn="l" indent="0" marL="0">
              <a:lnSpc>
                <a:spcPct val="79919"/>
              </a:lnSpc>
              <a:buNone/>
            </a:pPr>
            <a:r>
              <a:rPr lang="en-US" sz="12900" b="1" spc="-451" kern="0" dirty="0">
                <a:solidFill>
                  <a:srgbClr val="F7F1E6"/>
                </a:solidFill>
                <a:latin typeface="Arial" pitchFamily="34" charset="0"/>
                <a:ea typeface="Arial" pitchFamily="34" charset="-122"/>
                <a:cs typeface="Arial" pitchFamily="34" charset="-120"/>
              </a:rPr>
              <a:t>KENT'S </a:t>
            </a:r>
            <a:pPr algn="l" indent="0" marL="0">
              <a:lnSpc>
                <a:spcPct val="79919"/>
              </a:lnSpc>
              <a:buNone/>
            </a:pPr>
            <a:r>
              <a:rPr lang="en-US" sz="12900" b="1" spc="-451" kern="0" dirty="0">
                <a:solidFill>
                  <a:srgbClr val="B8862B"/>
                </a:solidFill>
                <a:latin typeface="Arial" pitchFamily="34" charset="0"/>
                <a:ea typeface="Arial" pitchFamily="34" charset="-122"/>
                <a:cs typeface="Arial" pitchFamily="34" charset="-120"/>
              </a:rPr>
              <a:t>× </a:t>
            </a:r>
            <a:pPr algn="l" indent="0" marL="0">
              <a:lnSpc>
                <a:spcPct val="79919"/>
              </a:lnSpc>
              <a:buNone/>
            </a:pPr>
            <a:r>
              <a:rPr lang="en-US" sz="12900" b="1" spc="-451" kern="0" dirty="0">
                <a:solidFill>
                  <a:srgbClr val="F7F1E6"/>
                </a:solidFill>
                <a:latin typeface="Arial" pitchFamily="34" charset="0"/>
                <a:ea typeface="Arial" pitchFamily="34" charset="-122"/>
                <a:cs typeface="Arial" pitchFamily="34" charset="-120"/>
              </a:rPr>
              <a:t>VERITY</a:t>
            </a:r>
            <a:endParaRPr lang="en-US" sz="12900" dirty="0"/>
          </a:p>
        </p:txBody>
      </p:sp>
      <p:sp>
        <p:nvSpPr>
          <p:cNvPr id="7" name="Text 5"/>
          <p:cNvSpPr/>
          <p:nvPr/>
        </p:nvSpPr>
        <p:spPr>
          <a:xfrm>
            <a:off x="952500" y="5924550"/>
            <a:ext cx="12363450" cy="581025"/>
          </a:xfrm>
          <a:prstGeom prst="rect">
            <a:avLst/>
          </a:prstGeom>
          <a:noFill/>
          <a:ln/>
        </p:spPr>
        <p:txBody>
          <a:bodyPr wrap="square" lIns="25400" tIns="25400" rIns="25400" bIns="25400" rtlCol="0" anchor="t">
            <a:normAutofit/>
          </a:bodyPr>
          <a:lstStyle/>
          <a:p>
            <a:pPr algn="l" indent="0" marL="0">
              <a:lnSpc>
                <a:spcPct val="114400"/>
              </a:lnSpc>
              <a:buNone/>
            </a:pPr>
            <a:r>
              <a:rPr lang="en-US" sz="3300" dirty="0">
                <a:solidFill>
                  <a:srgbClr val="C4B9AB"/>
                </a:solidFill>
                <a:latin typeface="Arial" pitchFamily="34" charset="0"/>
                <a:ea typeface="Arial" pitchFamily="34" charset="-122"/>
                <a:cs typeface="Arial" pitchFamily="34" charset="-120"/>
              </a:rPr>
              <a:t>One operating system for the entire dine-in experience.</a:t>
            </a:r>
            <a:endParaRPr lang="en-US" sz="3300" dirty="0"/>
          </a:p>
        </p:txBody>
      </p:sp>
      <p:sp>
        <p:nvSpPr>
          <p:cNvPr id="8" name="Text 6"/>
          <p:cNvSpPr/>
          <p:nvPr/>
        </p:nvSpPr>
        <p:spPr>
          <a:xfrm>
            <a:off x="952500" y="9315450"/>
            <a:ext cx="6265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SEAT</a:t>
            </a:r>
            <a:endParaRPr lang="en-US" sz="1425" dirty="0"/>
          </a:p>
        </p:txBody>
      </p:sp>
      <p:sp>
        <p:nvSpPr>
          <p:cNvPr id="9" name="Text 7"/>
          <p:cNvSpPr/>
          <p:nvPr/>
        </p:nvSpPr>
        <p:spPr>
          <a:xfrm>
            <a:off x="1712416"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10" name="Text 8"/>
          <p:cNvSpPr/>
          <p:nvPr/>
        </p:nvSpPr>
        <p:spPr>
          <a:xfrm>
            <a:off x="2059632" y="9315450"/>
            <a:ext cx="764084"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ORDER</a:t>
            </a:r>
            <a:endParaRPr lang="en-US" sz="1425" dirty="0"/>
          </a:p>
        </p:txBody>
      </p:sp>
      <p:sp>
        <p:nvSpPr>
          <p:cNvPr id="11" name="Text 9"/>
          <p:cNvSpPr/>
          <p:nvPr/>
        </p:nvSpPr>
        <p:spPr>
          <a:xfrm>
            <a:off x="2957066"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12" name="Text 10"/>
          <p:cNvSpPr/>
          <p:nvPr/>
        </p:nvSpPr>
        <p:spPr>
          <a:xfrm>
            <a:off x="3304282" y="9315450"/>
            <a:ext cx="6265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COOK</a:t>
            </a:r>
            <a:endParaRPr lang="en-US" sz="1425" dirty="0"/>
          </a:p>
        </p:txBody>
      </p:sp>
      <p:sp>
        <p:nvSpPr>
          <p:cNvPr id="13" name="Text 11"/>
          <p:cNvSpPr/>
          <p:nvPr/>
        </p:nvSpPr>
        <p:spPr>
          <a:xfrm>
            <a:off x="4064198"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14" name="Text 12"/>
          <p:cNvSpPr/>
          <p:nvPr/>
        </p:nvSpPr>
        <p:spPr>
          <a:xfrm>
            <a:off x="4411414" y="9315450"/>
            <a:ext cx="764084"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SERVE</a:t>
            </a:r>
            <a:endParaRPr lang="en-US" sz="1425" dirty="0"/>
          </a:p>
        </p:txBody>
      </p:sp>
      <p:sp>
        <p:nvSpPr>
          <p:cNvPr id="15" name="Text 13"/>
          <p:cNvSpPr/>
          <p:nvPr/>
        </p:nvSpPr>
        <p:spPr>
          <a:xfrm>
            <a:off x="5308848"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16" name="Text 14"/>
          <p:cNvSpPr/>
          <p:nvPr/>
        </p:nvSpPr>
        <p:spPr>
          <a:xfrm>
            <a:off x="5656064" y="9315450"/>
            <a:ext cx="6265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BILL</a:t>
            </a:r>
            <a:endParaRPr lang="en-US" sz="1425" dirty="0"/>
          </a:p>
        </p:txBody>
      </p:sp>
      <p:sp>
        <p:nvSpPr>
          <p:cNvPr id="17" name="Text 15"/>
          <p:cNvSpPr/>
          <p:nvPr/>
        </p:nvSpPr>
        <p:spPr>
          <a:xfrm>
            <a:off x="6415980"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18" name="Text 16"/>
          <p:cNvSpPr/>
          <p:nvPr/>
        </p:nvSpPr>
        <p:spPr>
          <a:xfrm>
            <a:off x="6763196" y="9315450"/>
            <a:ext cx="488900"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PAY</a:t>
            </a:r>
            <a:endParaRPr lang="en-US" sz="1425" dirty="0"/>
          </a:p>
        </p:txBody>
      </p:sp>
      <p:sp>
        <p:nvSpPr>
          <p:cNvPr id="19" name="Text 17"/>
          <p:cNvSpPr/>
          <p:nvPr/>
        </p:nvSpPr>
        <p:spPr>
          <a:xfrm>
            <a:off x="7385447" y="9315450"/>
            <a:ext cx="2138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a:t>
            </a:r>
            <a:endParaRPr lang="en-US" sz="1425" dirty="0"/>
          </a:p>
        </p:txBody>
      </p:sp>
      <p:sp>
        <p:nvSpPr>
          <p:cNvPr id="20" name="Text 18"/>
          <p:cNvSpPr/>
          <p:nvPr/>
        </p:nvSpPr>
        <p:spPr>
          <a:xfrm>
            <a:off x="7732663" y="9315450"/>
            <a:ext cx="764084"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6E655C"/>
                </a:solidFill>
                <a:latin typeface="Courier New" pitchFamily="34" charset="0"/>
                <a:ea typeface="Courier New" pitchFamily="34" charset="-122"/>
                <a:cs typeface="Courier New" pitchFamily="34" charset="-120"/>
              </a:rPr>
              <a:t>RESET</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THE SITUATION</a:t>
            </a:r>
            <a:endParaRPr lang="en-US" sz="1425" dirty="0"/>
          </a:p>
        </p:txBody>
      </p:sp>
      <p:sp>
        <p:nvSpPr>
          <p:cNvPr id="3" name="Text 1"/>
          <p:cNvSpPr/>
          <p:nvPr/>
        </p:nvSpPr>
        <p:spPr>
          <a:xfrm>
            <a:off x="952500" y="1409700"/>
            <a:ext cx="14716125" cy="2019300"/>
          </a:xfrm>
          <a:prstGeom prst="rect">
            <a:avLst/>
          </a:prstGeom>
          <a:noFill/>
          <a:ln/>
        </p:spPr>
        <p:txBody>
          <a:bodyPr wrap="square" lIns="25400" tIns="25400" rIns="25400" bIns="25400" rtlCol="0" anchor="t">
            <a:normAutofit/>
          </a:bodyPr>
          <a:lstStyle/>
          <a:p>
            <a:pPr algn="l" indent="0" marL="0">
              <a:lnSpc>
                <a:spcPct val="87395"/>
              </a:lnSpc>
              <a:buNone/>
            </a:pPr>
            <a:r>
              <a:rPr lang="en-US" sz="7800" b="1" spc="-234" kern="0" dirty="0">
                <a:solidFill>
                  <a:srgbClr val="191512"/>
                </a:solidFill>
                <a:latin typeface="Arial" pitchFamily="34" charset="0"/>
                <a:ea typeface="Arial" pitchFamily="34" charset="-122"/>
                <a:cs typeface="Arial" pitchFamily="34" charset="-120"/>
              </a:rPr>
              <a:t>YOUR RESTAURANT ALREADY HAS A SYSTEM.</a:t>
            </a:r>
            <a:endParaRPr lang="en-US" sz="7800" dirty="0"/>
          </a:p>
        </p:txBody>
      </p:sp>
      <p:sp>
        <p:nvSpPr>
          <p:cNvPr id="4" name="Shape 2"/>
          <p:cNvSpPr/>
          <p:nvPr/>
        </p:nvSpPr>
        <p:spPr>
          <a:xfrm>
            <a:off x="952500" y="5262563"/>
            <a:ext cx="2381250" cy="1352550"/>
          </a:xfrm>
          <a:prstGeom prst="rect">
            <a:avLst/>
          </a:prstGeom>
          <a:solidFill>
            <a:srgbClr val="FFFFFF"/>
          </a:solidFill>
          <a:ln w="9525">
            <a:solidFill>
              <a:srgbClr val="E0D6C6"/>
            </a:solidFill>
            <a:prstDash val="solid"/>
          </a:ln>
        </p:spPr>
      </p:sp>
      <p:sp>
        <p:nvSpPr>
          <p:cNvPr id="5" name="Text 3"/>
          <p:cNvSpPr/>
          <p:nvPr/>
        </p:nvSpPr>
        <p:spPr>
          <a:xfrm>
            <a:off x="124777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01</a:t>
            </a:r>
            <a:endParaRPr lang="en-US" sz="1275" dirty="0"/>
          </a:p>
        </p:txBody>
      </p:sp>
      <p:sp>
        <p:nvSpPr>
          <p:cNvPr id="6" name="Text 4"/>
          <p:cNvSpPr/>
          <p:nvPr/>
        </p:nvSpPr>
        <p:spPr>
          <a:xfrm>
            <a:off x="124777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Waiter</a:t>
            </a:r>
            <a:endParaRPr lang="en-US" sz="2400" dirty="0"/>
          </a:p>
        </p:txBody>
      </p:sp>
      <p:sp>
        <p:nvSpPr>
          <p:cNvPr id="7" name="Shape 5"/>
          <p:cNvSpPr/>
          <p:nvPr/>
        </p:nvSpPr>
        <p:spPr>
          <a:xfrm>
            <a:off x="3333750" y="5934075"/>
            <a:ext cx="419100" cy="9525"/>
          </a:xfrm>
          <a:prstGeom prst="rect">
            <a:avLst/>
          </a:prstGeom>
          <a:solidFill>
            <a:srgbClr val="D6CBB9"/>
          </a:solidFill>
          <a:ln/>
        </p:spPr>
      </p:sp>
      <p:sp>
        <p:nvSpPr>
          <p:cNvPr id="8" name="Shape 6"/>
          <p:cNvSpPr/>
          <p:nvPr/>
        </p:nvSpPr>
        <p:spPr>
          <a:xfrm>
            <a:off x="3752850" y="5262563"/>
            <a:ext cx="2381250" cy="1352550"/>
          </a:xfrm>
          <a:prstGeom prst="rect">
            <a:avLst/>
          </a:prstGeom>
          <a:solidFill>
            <a:srgbClr val="FFFFFF"/>
          </a:solidFill>
          <a:ln w="9525">
            <a:solidFill>
              <a:srgbClr val="E0D6C6"/>
            </a:solidFill>
            <a:prstDash val="solid"/>
          </a:ln>
        </p:spPr>
      </p:sp>
      <p:sp>
        <p:nvSpPr>
          <p:cNvPr id="9" name="Text 7"/>
          <p:cNvSpPr/>
          <p:nvPr/>
        </p:nvSpPr>
        <p:spPr>
          <a:xfrm>
            <a:off x="404812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02</a:t>
            </a:r>
            <a:endParaRPr lang="en-US" sz="1275" dirty="0"/>
          </a:p>
        </p:txBody>
      </p:sp>
      <p:sp>
        <p:nvSpPr>
          <p:cNvPr id="10" name="Text 8"/>
          <p:cNvSpPr/>
          <p:nvPr/>
        </p:nvSpPr>
        <p:spPr>
          <a:xfrm>
            <a:off x="404812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Paper</a:t>
            </a:r>
            <a:endParaRPr lang="en-US" sz="2400" dirty="0"/>
          </a:p>
        </p:txBody>
      </p:sp>
      <p:sp>
        <p:nvSpPr>
          <p:cNvPr id="11" name="Shape 9"/>
          <p:cNvSpPr/>
          <p:nvPr/>
        </p:nvSpPr>
        <p:spPr>
          <a:xfrm>
            <a:off x="6134100" y="5934075"/>
            <a:ext cx="419100" cy="9525"/>
          </a:xfrm>
          <a:prstGeom prst="rect">
            <a:avLst/>
          </a:prstGeom>
          <a:solidFill>
            <a:srgbClr val="D6CBB9"/>
          </a:solidFill>
          <a:ln/>
        </p:spPr>
      </p:sp>
      <p:sp>
        <p:nvSpPr>
          <p:cNvPr id="12" name="Shape 10"/>
          <p:cNvSpPr/>
          <p:nvPr/>
        </p:nvSpPr>
        <p:spPr>
          <a:xfrm>
            <a:off x="6553200" y="5262563"/>
            <a:ext cx="2381250" cy="1352550"/>
          </a:xfrm>
          <a:prstGeom prst="rect">
            <a:avLst/>
          </a:prstGeom>
          <a:solidFill>
            <a:srgbClr val="FFFFFF"/>
          </a:solidFill>
          <a:ln w="9525">
            <a:solidFill>
              <a:srgbClr val="E0D6C6"/>
            </a:solidFill>
            <a:prstDash val="solid"/>
          </a:ln>
        </p:spPr>
      </p:sp>
      <p:sp>
        <p:nvSpPr>
          <p:cNvPr id="13" name="Text 11"/>
          <p:cNvSpPr/>
          <p:nvPr/>
        </p:nvSpPr>
        <p:spPr>
          <a:xfrm>
            <a:off x="684847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03</a:t>
            </a:r>
            <a:endParaRPr lang="en-US" sz="1275" dirty="0"/>
          </a:p>
        </p:txBody>
      </p:sp>
      <p:sp>
        <p:nvSpPr>
          <p:cNvPr id="14" name="Text 12"/>
          <p:cNvSpPr/>
          <p:nvPr/>
        </p:nvSpPr>
        <p:spPr>
          <a:xfrm>
            <a:off x="684847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Kitchen</a:t>
            </a:r>
            <a:endParaRPr lang="en-US" sz="2400" dirty="0"/>
          </a:p>
        </p:txBody>
      </p:sp>
      <p:sp>
        <p:nvSpPr>
          <p:cNvPr id="15" name="Shape 13"/>
          <p:cNvSpPr/>
          <p:nvPr/>
        </p:nvSpPr>
        <p:spPr>
          <a:xfrm>
            <a:off x="8934450" y="5934075"/>
            <a:ext cx="419100" cy="9525"/>
          </a:xfrm>
          <a:prstGeom prst="rect">
            <a:avLst/>
          </a:prstGeom>
          <a:solidFill>
            <a:srgbClr val="D6CBB9"/>
          </a:solidFill>
          <a:ln/>
        </p:spPr>
      </p:sp>
      <p:sp>
        <p:nvSpPr>
          <p:cNvPr id="16" name="Shape 14"/>
          <p:cNvSpPr/>
          <p:nvPr/>
        </p:nvSpPr>
        <p:spPr>
          <a:xfrm>
            <a:off x="9353550" y="5262563"/>
            <a:ext cx="2381250" cy="1352550"/>
          </a:xfrm>
          <a:prstGeom prst="rect">
            <a:avLst/>
          </a:prstGeom>
          <a:solidFill>
            <a:srgbClr val="FFFFFF"/>
          </a:solidFill>
          <a:ln w="9525">
            <a:solidFill>
              <a:srgbClr val="E0D6C6"/>
            </a:solidFill>
            <a:prstDash val="solid"/>
          </a:ln>
        </p:spPr>
      </p:sp>
      <p:sp>
        <p:nvSpPr>
          <p:cNvPr id="17" name="Text 15"/>
          <p:cNvSpPr/>
          <p:nvPr/>
        </p:nvSpPr>
        <p:spPr>
          <a:xfrm>
            <a:off x="964882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04</a:t>
            </a:r>
            <a:endParaRPr lang="en-US" sz="1275" dirty="0"/>
          </a:p>
        </p:txBody>
      </p:sp>
      <p:sp>
        <p:nvSpPr>
          <p:cNvPr id="18" name="Text 16"/>
          <p:cNvSpPr/>
          <p:nvPr/>
        </p:nvSpPr>
        <p:spPr>
          <a:xfrm>
            <a:off x="964882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Counter</a:t>
            </a:r>
            <a:endParaRPr lang="en-US" sz="2400" dirty="0"/>
          </a:p>
        </p:txBody>
      </p:sp>
      <p:sp>
        <p:nvSpPr>
          <p:cNvPr id="19" name="Shape 17"/>
          <p:cNvSpPr/>
          <p:nvPr/>
        </p:nvSpPr>
        <p:spPr>
          <a:xfrm>
            <a:off x="11734800" y="5934075"/>
            <a:ext cx="419100" cy="9525"/>
          </a:xfrm>
          <a:prstGeom prst="rect">
            <a:avLst/>
          </a:prstGeom>
          <a:solidFill>
            <a:srgbClr val="D6CBB9"/>
          </a:solidFill>
          <a:ln/>
        </p:spPr>
      </p:sp>
      <p:sp>
        <p:nvSpPr>
          <p:cNvPr id="20" name="Shape 18"/>
          <p:cNvSpPr/>
          <p:nvPr/>
        </p:nvSpPr>
        <p:spPr>
          <a:xfrm>
            <a:off x="12153900" y="5262563"/>
            <a:ext cx="2381250" cy="1352550"/>
          </a:xfrm>
          <a:prstGeom prst="rect">
            <a:avLst/>
          </a:prstGeom>
          <a:solidFill>
            <a:srgbClr val="FFFFFF"/>
          </a:solidFill>
          <a:ln w="9525">
            <a:solidFill>
              <a:srgbClr val="E0D6C6"/>
            </a:solidFill>
            <a:prstDash val="solid"/>
          </a:ln>
        </p:spPr>
      </p:sp>
      <p:sp>
        <p:nvSpPr>
          <p:cNvPr id="21" name="Text 19"/>
          <p:cNvSpPr/>
          <p:nvPr/>
        </p:nvSpPr>
        <p:spPr>
          <a:xfrm>
            <a:off x="1244917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05</a:t>
            </a:r>
            <a:endParaRPr lang="en-US" sz="1275" dirty="0"/>
          </a:p>
        </p:txBody>
      </p:sp>
      <p:sp>
        <p:nvSpPr>
          <p:cNvPr id="22" name="Text 20"/>
          <p:cNvSpPr/>
          <p:nvPr/>
        </p:nvSpPr>
        <p:spPr>
          <a:xfrm>
            <a:off x="1244917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Bills</a:t>
            </a:r>
            <a:endParaRPr lang="en-US" sz="2400" dirty="0"/>
          </a:p>
        </p:txBody>
      </p:sp>
      <p:sp>
        <p:nvSpPr>
          <p:cNvPr id="23" name="Shape 21"/>
          <p:cNvSpPr/>
          <p:nvPr/>
        </p:nvSpPr>
        <p:spPr>
          <a:xfrm>
            <a:off x="14535150" y="5934075"/>
            <a:ext cx="419100" cy="9525"/>
          </a:xfrm>
          <a:prstGeom prst="rect">
            <a:avLst/>
          </a:prstGeom>
          <a:solidFill>
            <a:srgbClr val="D6CBB9"/>
          </a:solidFill>
          <a:ln/>
        </p:spPr>
      </p:sp>
      <p:sp>
        <p:nvSpPr>
          <p:cNvPr id="24" name="Shape 22"/>
          <p:cNvSpPr/>
          <p:nvPr/>
        </p:nvSpPr>
        <p:spPr>
          <a:xfrm>
            <a:off x="14954250" y="5262563"/>
            <a:ext cx="2381250" cy="1352550"/>
          </a:xfrm>
          <a:prstGeom prst="rect">
            <a:avLst/>
          </a:prstGeom>
          <a:solidFill>
            <a:srgbClr val="FFFFFF"/>
          </a:solidFill>
          <a:ln w="9525">
            <a:solidFill>
              <a:srgbClr val="E0D6C6"/>
            </a:solidFill>
            <a:prstDash val="solid"/>
          </a:ln>
        </p:spPr>
      </p:sp>
      <p:sp>
        <p:nvSpPr>
          <p:cNvPr id="25" name="Text 23"/>
          <p:cNvSpPr/>
          <p:nvPr/>
        </p:nvSpPr>
        <p:spPr>
          <a:xfrm>
            <a:off x="15249525" y="5614988"/>
            <a:ext cx="19697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06</a:t>
            </a:r>
            <a:endParaRPr lang="en-US" sz="1275" dirty="0"/>
          </a:p>
        </p:txBody>
      </p:sp>
      <p:sp>
        <p:nvSpPr>
          <p:cNvPr id="26" name="Text 24"/>
          <p:cNvSpPr/>
          <p:nvPr/>
        </p:nvSpPr>
        <p:spPr>
          <a:xfrm>
            <a:off x="15249525" y="5910263"/>
            <a:ext cx="196977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Manager</a:t>
            </a:r>
            <a:endParaRPr lang="en-US" sz="2400" dirty="0"/>
          </a:p>
        </p:txBody>
      </p:sp>
      <p:sp>
        <p:nvSpPr>
          <p:cNvPr id="27" name="Shape 25"/>
          <p:cNvSpPr/>
          <p:nvPr/>
        </p:nvSpPr>
        <p:spPr>
          <a:xfrm>
            <a:off x="952500" y="8486775"/>
            <a:ext cx="16383000" cy="28575"/>
          </a:xfrm>
          <a:prstGeom prst="rect">
            <a:avLst/>
          </a:prstGeom>
          <a:gradFill rotWithShape="1">
            <a:gsLst>
              <a:gs pos="0">
                <a:srgbClr val="B8862B">
                  <a:alpha val="100000"/>
                </a:srgbClr>
              </a:gs>
              <a:gs pos="100000">
                <a:srgbClr val="D8A94A">
                  <a:alpha val="100000"/>
                </a:srgbClr>
              </a:gs>
            </a:gsLst>
            <a:lin ang="0" scaled="0"/>
          </a:gradFill>
          <a:ln/>
        </p:spPr>
      </p:sp>
      <p:sp>
        <p:nvSpPr>
          <p:cNvPr id="28" name="Text 26"/>
          <p:cNvSpPr/>
          <p:nvPr/>
        </p:nvSpPr>
        <p:spPr>
          <a:xfrm>
            <a:off x="952500" y="8801100"/>
            <a:ext cx="9831497" cy="762000"/>
          </a:xfrm>
          <a:prstGeom prst="rect">
            <a:avLst/>
          </a:prstGeom>
          <a:noFill/>
          <a:ln/>
        </p:spPr>
        <p:txBody>
          <a:bodyPr wrap="square" lIns="25400" tIns="25400" rIns="25400" bIns="25400" rtlCol="0" anchor="t">
            <a:normAutofit/>
          </a:bodyPr>
          <a:lstStyle/>
          <a:p>
            <a:pPr algn="l" indent="0" marL="0">
              <a:lnSpc>
                <a:spcPct val="87356"/>
              </a:lnSpc>
              <a:buNone/>
            </a:pPr>
            <a:r>
              <a:rPr lang="en-US" sz="5700" b="1" spc="-142" kern="0" dirty="0">
                <a:solidFill>
                  <a:srgbClr val="191512"/>
                </a:solidFill>
                <a:latin typeface="Arial" pitchFamily="34" charset="0"/>
                <a:ea typeface="Arial" pitchFamily="34" charset="-122"/>
                <a:cs typeface="Arial" pitchFamily="34" charset="-120"/>
              </a:rPr>
              <a:t>VERITY CONNECTS THEM.</a:t>
            </a:r>
            <a:endParaRPr lang="en-US" sz="5700" dirty="0"/>
          </a:p>
        </p:txBody>
      </p:sp>
      <p:sp>
        <p:nvSpPr>
          <p:cNvPr id="29" name="Text 27"/>
          <p:cNvSpPr/>
          <p:nvPr/>
        </p:nvSpPr>
        <p:spPr>
          <a:xfrm>
            <a:off x="12382500" y="8763000"/>
            <a:ext cx="5101590" cy="800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6F6455"/>
                </a:solidFill>
                <a:latin typeface="Arial" pitchFamily="34" charset="0"/>
                <a:ea typeface="Arial" pitchFamily="34" charset="-122"/>
                <a:cs typeface="Arial" pitchFamily="34" charset="-120"/>
              </a:rPr>
              <a:t>Every handoff becomes a record instead of a conversation.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WHO IS ON THE FLOOR</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FOUR PEOPLE. ONE SERVICE.</a:t>
            </a:r>
            <a:endParaRPr lang="en-US" sz="6300" dirty="0"/>
          </a:p>
        </p:txBody>
      </p:sp>
      <p:sp>
        <p:nvSpPr>
          <p:cNvPr id="4" name="Shape 2"/>
          <p:cNvSpPr/>
          <p:nvPr/>
        </p:nvSpPr>
        <p:spPr>
          <a:xfrm>
            <a:off x="952500" y="2743200"/>
            <a:ext cx="16383000" cy="6781800"/>
          </a:xfrm>
          <a:prstGeom prst="rect">
            <a:avLst/>
          </a:prstGeom>
          <a:solidFill>
            <a:srgbClr val="E0D6C6"/>
          </a:solidFill>
          <a:ln w="9525">
            <a:solidFill>
              <a:srgbClr val="E0D6C6"/>
            </a:solidFill>
            <a:prstDash val="solid"/>
          </a:ln>
        </p:spPr>
      </p:sp>
      <p:sp>
        <p:nvSpPr>
          <p:cNvPr id="5" name="Shape 3"/>
          <p:cNvSpPr/>
          <p:nvPr/>
        </p:nvSpPr>
        <p:spPr>
          <a:xfrm>
            <a:off x="962025" y="2752725"/>
            <a:ext cx="4076700" cy="6762750"/>
          </a:xfrm>
          <a:prstGeom prst="rect">
            <a:avLst/>
          </a:prstGeom>
          <a:solidFill>
            <a:srgbClr val="FFFFFF"/>
          </a:solidFill>
          <a:ln/>
        </p:spPr>
      </p:sp>
      <p:sp>
        <p:nvSpPr>
          <p:cNvPr id="6" name="Text 4"/>
          <p:cNvSpPr/>
          <p:nvPr/>
        </p:nvSpPr>
        <p:spPr>
          <a:xfrm>
            <a:off x="1362075" y="3228975"/>
            <a:ext cx="3604260" cy="257175"/>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B8862B"/>
                </a:solidFill>
                <a:latin typeface="Courier New" pitchFamily="34" charset="0"/>
                <a:ea typeface="Courier New" pitchFamily="34" charset="-122"/>
                <a:cs typeface="Courier New" pitchFamily="34" charset="-120"/>
              </a:rPr>
              <a:t>01</a:t>
            </a:r>
            <a:endParaRPr lang="en-US" sz="1500" dirty="0"/>
          </a:p>
        </p:txBody>
      </p:sp>
      <p:sp>
        <p:nvSpPr>
          <p:cNvPr id="7" name="Text 5"/>
          <p:cNvSpPr/>
          <p:nvPr/>
        </p:nvSpPr>
        <p:spPr>
          <a:xfrm>
            <a:off x="1362075" y="7439025"/>
            <a:ext cx="3604260"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191512"/>
                </a:solidFill>
                <a:latin typeface="Arial" pitchFamily="34" charset="0"/>
                <a:ea typeface="Arial" pitchFamily="34" charset="-122"/>
                <a:cs typeface="Arial" pitchFamily="34" charset="-120"/>
              </a:rPr>
              <a:t>WAITER</a:t>
            </a:r>
            <a:endParaRPr lang="en-US" sz="3450" dirty="0"/>
          </a:p>
        </p:txBody>
      </p:sp>
      <p:sp>
        <p:nvSpPr>
          <p:cNvPr id="8" name="Text 6"/>
          <p:cNvSpPr/>
          <p:nvPr/>
        </p:nvSpPr>
        <p:spPr>
          <a:xfrm>
            <a:off x="1362075" y="8220075"/>
            <a:ext cx="3374898" cy="857250"/>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5E5449"/>
                </a:solidFill>
                <a:latin typeface="Arial" pitchFamily="34" charset="0"/>
                <a:ea typeface="Arial" pitchFamily="34" charset="-122"/>
                <a:cs typeface="Arial" pitchFamily="34" charset="-120"/>
              </a:rPr>
              <a:t>“Has table 12's order gone in yet?”</a:t>
            </a:r>
            <a:endParaRPr lang="en-US" sz="2400" dirty="0"/>
          </a:p>
        </p:txBody>
      </p:sp>
      <p:sp>
        <p:nvSpPr>
          <p:cNvPr id="9" name="Shape 7"/>
          <p:cNvSpPr/>
          <p:nvPr/>
        </p:nvSpPr>
        <p:spPr>
          <a:xfrm>
            <a:off x="5057775" y="2752725"/>
            <a:ext cx="4076700" cy="6762750"/>
          </a:xfrm>
          <a:prstGeom prst="rect">
            <a:avLst/>
          </a:prstGeom>
          <a:solidFill>
            <a:srgbClr val="F4EEE3"/>
          </a:solidFill>
          <a:ln/>
        </p:spPr>
      </p:sp>
      <p:sp>
        <p:nvSpPr>
          <p:cNvPr id="10" name="Text 8"/>
          <p:cNvSpPr/>
          <p:nvPr/>
        </p:nvSpPr>
        <p:spPr>
          <a:xfrm>
            <a:off x="5457825" y="3228975"/>
            <a:ext cx="3604260" cy="257175"/>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B8862B"/>
                </a:solidFill>
                <a:latin typeface="Courier New" pitchFamily="34" charset="0"/>
                <a:ea typeface="Courier New" pitchFamily="34" charset="-122"/>
                <a:cs typeface="Courier New" pitchFamily="34" charset="-120"/>
              </a:rPr>
              <a:t>02</a:t>
            </a:r>
            <a:endParaRPr lang="en-US" sz="1500" dirty="0"/>
          </a:p>
        </p:txBody>
      </p:sp>
      <p:sp>
        <p:nvSpPr>
          <p:cNvPr id="11" name="Text 9"/>
          <p:cNvSpPr/>
          <p:nvPr/>
        </p:nvSpPr>
        <p:spPr>
          <a:xfrm>
            <a:off x="5457825" y="7439025"/>
            <a:ext cx="3604260"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191512"/>
                </a:solidFill>
                <a:latin typeface="Arial" pitchFamily="34" charset="0"/>
                <a:ea typeface="Arial" pitchFamily="34" charset="-122"/>
                <a:cs typeface="Arial" pitchFamily="34" charset="-120"/>
              </a:rPr>
              <a:t>KITCHEN</a:t>
            </a:r>
            <a:endParaRPr lang="en-US" sz="3450" dirty="0"/>
          </a:p>
        </p:txBody>
      </p:sp>
      <p:sp>
        <p:nvSpPr>
          <p:cNvPr id="12" name="Text 10"/>
          <p:cNvSpPr/>
          <p:nvPr/>
        </p:nvSpPr>
        <p:spPr>
          <a:xfrm>
            <a:off x="5457825" y="8220075"/>
            <a:ext cx="3374898" cy="857250"/>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5E5449"/>
                </a:solidFill>
                <a:latin typeface="Arial" pitchFamily="34" charset="0"/>
                <a:ea typeface="Arial" pitchFamily="34" charset="-122"/>
                <a:cs typeface="Arial" pitchFamily="34" charset="-120"/>
              </a:rPr>
              <a:t>“Which dish do I fire next?”</a:t>
            </a:r>
            <a:endParaRPr lang="en-US" sz="2400" dirty="0"/>
          </a:p>
        </p:txBody>
      </p:sp>
      <p:sp>
        <p:nvSpPr>
          <p:cNvPr id="13" name="Shape 11"/>
          <p:cNvSpPr/>
          <p:nvPr/>
        </p:nvSpPr>
        <p:spPr>
          <a:xfrm>
            <a:off x="9153525" y="2752725"/>
            <a:ext cx="4076700" cy="6762750"/>
          </a:xfrm>
          <a:prstGeom prst="rect">
            <a:avLst/>
          </a:prstGeom>
          <a:solidFill>
            <a:srgbClr val="FFFFFF"/>
          </a:solidFill>
          <a:ln/>
        </p:spPr>
      </p:sp>
      <p:sp>
        <p:nvSpPr>
          <p:cNvPr id="14" name="Text 12"/>
          <p:cNvSpPr/>
          <p:nvPr/>
        </p:nvSpPr>
        <p:spPr>
          <a:xfrm>
            <a:off x="9553575" y="3228975"/>
            <a:ext cx="3604260" cy="257175"/>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B8862B"/>
                </a:solidFill>
                <a:latin typeface="Courier New" pitchFamily="34" charset="0"/>
                <a:ea typeface="Courier New" pitchFamily="34" charset="-122"/>
                <a:cs typeface="Courier New" pitchFamily="34" charset="-120"/>
              </a:rPr>
              <a:t>03</a:t>
            </a:r>
            <a:endParaRPr lang="en-US" sz="1500" dirty="0"/>
          </a:p>
        </p:txBody>
      </p:sp>
      <p:sp>
        <p:nvSpPr>
          <p:cNvPr id="15" name="Text 13"/>
          <p:cNvSpPr/>
          <p:nvPr/>
        </p:nvSpPr>
        <p:spPr>
          <a:xfrm>
            <a:off x="9553575" y="7439025"/>
            <a:ext cx="3604260"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191512"/>
                </a:solidFill>
                <a:latin typeface="Arial" pitchFamily="34" charset="0"/>
                <a:ea typeface="Arial" pitchFamily="34" charset="-122"/>
                <a:cs typeface="Arial" pitchFamily="34" charset="-120"/>
              </a:rPr>
              <a:t>COUNTER</a:t>
            </a:r>
            <a:endParaRPr lang="en-US" sz="3450" dirty="0"/>
          </a:p>
        </p:txBody>
      </p:sp>
      <p:sp>
        <p:nvSpPr>
          <p:cNvPr id="16" name="Text 14"/>
          <p:cNvSpPr/>
          <p:nvPr/>
        </p:nvSpPr>
        <p:spPr>
          <a:xfrm>
            <a:off x="9553575" y="8220075"/>
            <a:ext cx="3374898" cy="857250"/>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5E5449"/>
                </a:solidFill>
                <a:latin typeface="Arial" pitchFamily="34" charset="0"/>
                <a:ea typeface="Arial" pitchFamily="34" charset="-122"/>
                <a:cs typeface="Arial" pitchFamily="34" charset="-120"/>
              </a:rPr>
              <a:t>“Is this bill complete and correct?”</a:t>
            </a:r>
            <a:endParaRPr lang="en-US" sz="2400" dirty="0"/>
          </a:p>
        </p:txBody>
      </p:sp>
      <p:sp>
        <p:nvSpPr>
          <p:cNvPr id="17" name="Shape 15"/>
          <p:cNvSpPr/>
          <p:nvPr/>
        </p:nvSpPr>
        <p:spPr>
          <a:xfrm>
            <a:off x="13249275" y="2752725"/>
            <a:ext cx="4076700" cy="6762750"/>
          </a:xfrm>
          <a:prstGeom prst="rect">
            <a:avLst/>
          </a:prstGeom>
          <a:solidFill>
            <a:srgbClr val="F4EEE3"/>
          </a:solidFill>
          <a:ln/>
        </p:spPr>
      </p:sp>
      <p:sp>
        <p:nvSpPr>
          <p:cNvPr id="18" name="Text 16"/>
          <p:cNvSpPr/>
          <p:nvPr/>
        </p:nvSpPr>
        <p:spPr>
          <a:xfrm>
            <a:off x="13649325" y="3228975"/>
            <a:ext cx="3604260" cy="257175"/>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B8862B"/>
                </a:solidFill>
                <a:latin typeface="Courier New" pitchFamily="34" charset="0"/>
                <a:ea typeface="Courier New" pitchFamily="34" charset="-122"/>
                <a:cs typeface="Courier New" pitchFamily="34" charset="-120"/>
              </a:rPr>
              <a:t>04</a:t>
            </a:r>
            <a:endParaRPr lang="en-US" sz="1500" dirty="0"/>
          </a:p>
        </p:txBody>
      </p:sp>
      <p:sp>
        <p:nvSpPr>
          <p:cNvPr id="19" name="Text 17"/>
          <p:cNvSpPr/>
          <p:nvPr/>
        </p:nvSpPr>
        <p:spPr>
          <a:xfrm>
            <a:off x="13649325" y="7439025"/>
            <a:ext cx="3604260"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191512"/>
                </a:solidFill>
                <a:latin typeface="Arial" pitchFamily="34" charset="0"/>
                <a:ea typeface="Arial" pitchFamily="34" charset="-122"/>
                <a:cs typeface="Arial" pitchFamily="34" charset="-120"/>
              </a:rPr>
              <a:t>OWNER</a:t>
            </a:r>
            <a:endParaRPr lang="en-US" sz="3450" dirty="0"/>
          </a:p>
        </p:txBody>
      </p:sp>
      <p:sp>
        <p:nvSpPr>
          <p:cNvPr id="20" name="Text 18"/>
          <p:cNvSpPr/>
          <p:nvPr/>
        </p:nvSpPr>
        <p:spPr>
          <a:xfrm>
            <a:off x="13649325" y="8220075"/>
            <a:ext cx="3374898" cy="857250"/>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5E5449"/>
                </a:solidFill>
                <a:latin typeface="Arial" pitchFamily="34" charset="0"/>
                <a:ea typeface="Arial" pitchFamily="34" charset="-122"/>
                <a:cs typeface="Arial" pitchFamily="34" charset="-120"/>
              </a:rPr>
              <a:t>“What happened tonight, and why?”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00D"/>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B8862B"/>
                </a:solidFill>
                <a:latin typeface="Courier New" pitchFamily="34" charset="0"/>
                <a:ea typeface="Courier New" pitchFamily="34" charset="-122"/>
                <a:cs typeface="Courier New" pitchFamily="34" charset="-120"/>
              </a:rPr>
              <a:t>THE OPERATING LOOP</a:t>
            </a:r>
            <a:endParaRPr lang="en-US" sz="1425" dirty="0"/>
          </a:p>
        </p:txBody>
      </p:sp>
      <p:sp>
        <p:nvSpPr>
          <p:cNvPr id="3" name="Text 1"/>
          <p:cNvSpPr/>
          <p:nvPr/>
        </p:nvSpPr>
        <p:spPr>
          <a:xfrm>
            <a:off x="952500" y="1371600"/>
            <a:ext cx="16874490" cy="2609850"/>
          </a:xfrm>
          <a:prstGeom prst="rect">
            <a:avLst/>
          </a:prstGeom>
          <a:noFill/>
          <a:ln/>
        </p:spPr>
        <p:txBody>
          <a:bodyPr wrap="square" lIns="25400" tIns="25400" rIns="25400" bIns="25400" rtlCol="0" anchor="t">
            <a:normAutofit/>
          </a:bodyPr>
          <a:lstStyle/>
          <a:p>
            <a:pPr algn="l" indent="0" marL="0">
              <a:lnSpc>
                <a:spcPct val="85867"/>
              </a:lnSpc>
              <a:buNone/>
            </a:pPr>
            <a:r>
              <a:rPr lang="en-US" sz="6900" b="1" spc="-207" kern="0" dirty="0">
                <a:solidFill>
                  <a:srgbClr val="F7F1E6"/>
                </a:solidFill>
                <a:latin typeface="Arial" pitchFamily="34" charset="0"/>
                <a:ea typeface="Arial" pitchFamily="34" charset="-122"/>
                <a:cs typeface="Arial" pitchFamily="34" charset="-120"/>
              </a:rPr>
              <a:t>ONE ORDER. ONE CONTINUOUS OPERATIONAL JOURNEY.</a:t>
            </a:r>
            <a:endParaRPr lang="en-US" sz="6900" dirty="0"/>
          </a:p>
        </p:txBody>
      </p:sp>
      <p:sp>
        <p:nvSpPr>
          <p:cNvPr id="4" name="Text 2"/>
          <p:cNvSpPr/>
          <p:nvPr/>
        </p:nvSpPr>
        <p:spPr>
          <a:xfrm>
            <a:off x="952500"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01</a:t>
            </a:r>
            <a:endParaRPr lang="en-US" sz="1275" dirty="0"/>
          </a:p>
        </p:txBody>
      </p:sp>
      <p:sp>
        <p:nvSpPr>
          <p:cNvPr id="5" name="Shape 3"/>
          <p:cNvSpPr/>
          <p:nvPr/>
        </p:nvSpPr>
        <p:spPr>
          <a:xfrm>
            <a:off x="952500" y="7715250"/>
            <a:ext cx="2046536" cy="800100"/>
          </a:xfrm>
          <a:prstGeom prst="rect">
            <a:avLst/>
          </a:prstGeom>
          <a:solidFill>
            <a:srgbClr val="1C1712"/>
          </a:solidFill>
          <a:ln w="9525">
            <a:solidFill>
              <a:srgbClr val="33291F"/>
            </a:solidFill>
            <a:prstDash val="solid"/>
          </a:ln>
        </p:spPr>
      </p:sp>
      <p:sp>
        <p:nvSpPr>
          <p:cNvPr id="6" name="Shape 4"/>
          <p:cNvSpPr/>
          <p:nvPr/>
        </p:nvSpPr>
        <p:spPr>
          <a:xfrm>
            <a:off x="1152525" y="8058150"/>
            <a:ext cx="114300" cy="114300"/>
          </a:xfrm>
          <a:prstGeom prst="roundRect">
            <a:avLst>
              <a:gd name="adj" fmla="val 16667"/>
            </a:avLst>
          </a:prstGeom>
          <a:solidFill>
            <a:srgbClr val="B8862B"/>
          </a:solidFill>
          <a:ln/>
        </p:spPr>
      </p:sp>
      <p:sp>
        <p:nvSpPr>
          <p:cNvPr id="7" name="Text 5"/>
          <p:cNvSpPr/>
          <p:nvPr/>
        </p:nvSpPr>
        <p:spPr>
          <a:xfrm>
            <a:off x="1381125" y="8005763"/>
            <a:ext cx="1509087" cy="257175"/>
          </a:xfrm>
          <a:prstGeom prst="rect">
            <a:avLst/>
          </a:prstGeom>
          <a:noFill/>
          <a:ln/>
        </p:spPr>
        <p:txBody>
          <a:bodyPr wrap="square" lIns="25400" tIns="25400" rIns="25400" bIns="25400" rtlCol="0" anchor="t">
            <a:normAutofit/>
          </a:bodyPr>
          <a:lstStyle/>
          <a:p>
            <a:pPr algn="l" indent="0" marL="0">
              <a:buNone/>
            </a:pPr>
            <a:r>
              <a:rPr lang="en-US" sz="1500" dirty="0">
                <a:solidFill>
                  <a:srgbClr val="C4B9AB"/>
                </a:solidFill>
                <a:latin typeface="Courier New" pitchFamily="34" charset="0"/>
                <a:ea typeface="Courier New" pitchFamily="34" charset="-122"/>
                <a:cs typeface="Courier New" pitchFamily="34" charset="-120"/>
              </a:rPr>
              <a:t>T-12 · 4 pax</a:t>
            </a:r>
            <a:endParaRPr lang="en-US" sz="1500" dirty="0"/>
          </a:p>
        </p:txBody>
      </p:sp>
      <p:sp>
        <p:nvSpPr>
          <p:cNvPr id="8" name="Text 6"/>
          <p:cNvSpPr/>
          <p:nvPr/>
        </p:nvSpPr>
        <p:spPr>
          <a:xfrm>
            <a:off x="952500"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SEAT</a:t>
            </a:r>
            <a:endParaRPr lang="en-US" sz="2850" dirty="0"/>
          </a:p>
        </p:txBody>
      </p:sp>
      <p:sp>
        <p:nvSpPr>
          <p:cNvPr id="9" name="Shape 7"/>
          <p:cNvSpPr/>
          <p:nvPr/>
        </p:nvSpPr>
        <p:spPr>
          <a:xfrm>
            <a:off x="2999036" y="8877300"/>
            <a:ext cx="342900" cy="9525"/>
          </a:xfrm>
          <a:prstGeom prst="rect">
            <a:avLst/>
          </a:prstGeom>
          <a:solidFill>
            <a:srgbClr val="3A2F24"/>
          </a:solidFill>
          <a:ln/>
        </p:spPr>
      </p:sp>
      <p:sp>
        <p:nvSpPr>
          <p:cNvPr id="10" name="Text 8"/>
          <p:cNvSpPr/>
          <p:nvPr/>
        </p:nvSpPr>
        <p:spPr>
          <a:xfrm>
            <a:off x="3341936"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02</a:t>
            </a:r>
            <a:endParaRPr lang="en-US" sz="1275" dirty="0"/>
          </a:p>
        </p:txBody>
      </p:sp>
      <p:sp>
        <p:nvSpPr>
          <p:cNvPr id="11" name="Shape 9"/>
          <p:cNvSpPr/>
          <p:nvPr/>
        </p:nvSpPr>
        <p:spPr>
          <a:xfrm>
            <a:off x="3341936" y="7715250"/>
            <a:ext cx="2046536" cy="800100"/>
          </a:xfrm>
          <a:prstGeom prst="rect">
            <a:avLst/>
          </a:prstGeom>
          <a:solidFill>
            <a:srgbClr val="1C1712"/>
          </a:solidFill>
          <a:ln w="9525">
            <a:solidFill>
              <a:srgbClr val="33291F"/>
            </a:solidFill>
            <a:prstDash val="solid"/>
          </a:ln>
        </p:spPr>
      </p:sp>
      <p:sp>
        <p:nvSpPr>
          <p:cNvPr id="12" name="Text 10"/>
          <p:cNvSpPr/>
          <p:nvPr/>
        </p:nvSpPr>
        <p:spPr>
          <a:xfrm>
            <a:off x="3541961" y="7800975"/>
            <a:ext cx="1722686" cy="419100"/>
          </a:xfrm>
          <a:prstGeom prst="rect">
            <a:avLst/>
          </a:prstGeom>
          <a:noFill/>
          <a:ln/>
        </p:spPr>
        <p:txBody>
          <a:bodyPr wrap="square" lIns="25400" tIns="25400" rIns="25400" bIns="25400" rtlCol="0" anchor="t">
            <a:normAutofit/>
          </a:bodyPr>
          <a:lstStyle/>
          <a:p>
            <a:pPr algn="l" indent="0" marL="0">
              <a:buNone/>
            </a:pPr>
            <a:r>
              <a:rPr lang="en-US" sz="1350" dirty="0">
                <a:solidFill>
                  <a:srgbClr val="C4B9AB"/>
                </a:solidFill>
                <a:latin typeface="Courier New" pitchFamily="34" charset="0"/>
                <a:ea typeface="Courier New" pitchFamily="34" charset="-122"/>
                <a:cs typeface="Courier New" pitchFamily="34" charset="-120"/>
              </a:rPr>
              <a:t>Butter Chicken ×2</a:t>
            </a:r>
            <a:endParaRPr lang="en-US" sz="1350" dirty="0"/>
          </a:p>
        </p:txBody>
      </p:sp>
      <p:sp>
        <p:nvSpPr>
          <p:cNvPr id="13" name="Text 11"/>
          <p:cNvSpPr/>
          <p:nvPr/>
        </p:nvSpPr>
        <p:spPr>
          <a:xfrm>
            <a:off x="3541961" y="8239125"/>
            <a:ext cx="1811134" cy="228600"/>
          </a:xfrm>
          <a:prstGeom prst="rect">
            <a:avLst/>
          </a:prstGeom>
          <a:noFill/>
          <a:ln/>
        </p:spPr>
        <p:txBody>
          <a:bodyPr wrap="square" lIns="25400" tIns="25400" rIns="25400" bIns="25400" rtlCol="0" anchor="t">
            <a:normAutofit/>
          </a:bodyPr>
          <a:lstStyle/>
          <a:p>
            <a:pPr algn="l" indent="0" marL="0">
              <a:buNone/>
            </a:pPr>
            <a:r>
              <a:rPr lang="en-US" sz="1350" dirty="0">
                <a:solidFill>
                  <a:srgbClr val="6E655C"/>
                </a:solidFill>
                <a:latin typeface="Courier New" pitchFamily="34" charset="0"/>
                <a:ea typeface="Courier New" pitchFamily="34" charset="-122"/>
                <a:cs typeface="Courier New" pitchFamily="34" charset="-120"/>
              </a:rPr>
              <a:t>Dal Makhani ×1</a:t>
            </a:r>
            <a:endParaRPr lang="en-US" sz="1350" dirty="0"/>
          </a:p>
        </p:txBody>
      </p:sp>
      <p:sp>
        <p:nvSpPr>
          <p:cNvPr id="14" name="Text 12"/>
          <p:cNvSpPr/>
          <p:nvPr/>
        </p:nvSpPr>
        <p:spPr>
          <a:xfrm>
            <a:off x="3341936"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ORDER</a:t>
            </a:r>
            <a:endParaRPr lang="en-US" sz="2850" dirty="0"/>
          </a:p>
        </p:txBody>
      </p:sp>
      <p:sp>
        <p:nvSpPr>
          <p:cNvPr id="15" name="Shape 13"/>
          <p:cNvSpPr/>
          <p:nvPr/>
        </p:nvSpPr>
        <p:spPr>
          <a:xfrm>
            <a:off x="5388471" y="8877300"/>
            <a:ext cx="342900" cy="9525"/>
          </a:xfrm>
          <a:prstGeom prst="rect">
            <a:avLst/>
          </a:prstGeom>
          <a:solidFill>
            <a:srgbClr val="3A2F24"/>
          </a:solidFill>
          <a:ln/>
        </p:spPr>
      </p:sp>
      <p:sp>
        <p:nvSpPr>
          <p:cNvPr id="16" name="Text 14"/>
          <p:cNvSpPr/>
          <p:nvPr/>
        </p:nvSpPr>
        <p:spPr>
          <a:xfrm>
            <a:off x="5731371"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03</a:t>
            </a:r>
            <a:endParaRPr lang="en-US" sz="1275" dirty="0"/>
          </a:p>
        </p:txBody>
      </p:sp>
      <p:sp>
        <p:nvSpPr>
          <p:cNvPr id="17" name="Shape 15"/>
          <p:cNvSpPr/>
          <p:nvPr/>
        </p:nvSpPr>
        <p:spPr>
          <a:xfrm>
            <a:off x="5731371" y="7715250"/>
            <a:ext cx="2046536" cy="800100"/>
          </a:xfrm>
          <a:prstGeom prst="rect">
            <a:avLst/>
          </a:prstGeom>
          <a:solidFill>
            <a:srgbClr val="1C1712"/>
          </a:solidFill>
          <a:ln w="9525">
            <a:solidFill>
              <a:srgbClr val="33291F"/>
            </a:solidFill>
            <a:prstDash val="solid"/>
          </a:ln>
        </p:spPr>
      </p:sp>
      <p:sp>
        <p:nvSpPr>
          <p:cNvPr id="18" name="Text 16"/>
          <p:cNvSpPr/>
          <p:nvPr/>
        </p:nvSpPr>
        <p:spPr>
          <a:xfrm>
            <a:off x="5931396" y="8020050"/>
            <a:ext cx="100220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C4B9AB"/>
                </a:solidFill>
                <a:latin typeface="Courier New" pitchFamily="34" charset="0"/>
                <a:ea typeface="Courier New" pitchFamily="34" charset="-122"/>
                <a:cs typeface="Courier New" pitchFamily="34" charset="-120"/>
              </a:rPr>
              <a:t>Preparing</a:t>
            </a:r>
            <a:endParaRPr lang="en-US" sz="1350" dirty="0"/>
          </a:p>
        </p:txBody>
      </p:sp>
      <p:sp>
        <p:nvSpPr>
          <p:cNvPr id="19" name="Text 17"/>
          <p:cNvSpPr/>
          <p:nvPr/>
        </p:nvSpPr>
        <p:spPr>
          <a:xfrm>
            <a:off x="7006233" y="8005763"/>
            <a:ext cx="647849" cy="257175"/>
          </a:xfrm>
          <a:prstGeom prst="rect">
            <a:avLst/>
          </a:prstGeom>
          <a:noFill/>
          <a:ln/>
        </p:spPr>
        <p:txBody>
          <a:bodyPr wrap="square" lIns="25400" tIns="25400" rIns="25400" bIns="25400" rtlCol="0" anchor="t">
            <a:normAutofit/>
          </a:bodyPr>
          <a:lstStyle/>
          <a:p>
            <a:pPr algn="l" indent="0" marL="0">
              <a:buNone/>
            </a:pPr>
            <a:r>
              <a:rPr lang="en-US" sz="1500" dirty="0">
                <a:solidFill>
                  <a:srgbClr val="D8A94A"/>
                </a:solidFill>
                <a:latin typeface="Courier New" pitchFamily="34" charset="0"/>
                <a:ea typeface="Courier New" pitchFamily="34" charset="-122"/>
                <a:cs typeface="Courier New" pitchFamily="34" charset="-120"/>
              </a:rPr>
              <a:t>09:42</a:t>
            </a:r>
            <a:endParaRPr lang="en-US" sz="1500" dirty="0"/>
          </a:p>
        </p:txBody>
      </p:sp>
      <p:sp>
        <p:nvSpPr>
          <p:cNvPr id="20" name="Text 18"/>
          <p:cNvSpPr/>
          <p:nvPr/>
        </p:nvSpPr>
        <p:spPr>
          <a:xfrm>
            <a:off x="5731371"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COOK</a:t>
            </a:r>
            <a:endParaRPr lang="en-US" sz="2850" dirty="0"/>
          </a:p>
        </p:txBody>
      </p:sp>
      <p:sp>
        <p:nvSpPr>
          <p:cNvPr id="21" name="Shape 19"/>
          <p:cNvSpPr/>
          <p:nvPr/>
        </p:nvSpPr>
        <p:spPr>
          <a:xfrm>
            <a:off x="7777907" y="8877300"/>
            <a:ext cx="342900" cy="9525"/>
          </a:xfrm>
          <a:prstGeom prst="rect">
            <a:avLst/>
          </a:prstGeom>
          <a:solidFill>
            <a:srgbClr val="3A2F24"/>
          </a:solidFill>
          <a:ln/>
        </p:spPr>
      </p:sp>
      <p:sp>
        <p:nvSpPr>
          <p:cNvPr id="22" name="Text 20"/>
          <p:cNvSpPr/>
          <p:nvPr/>
        </p:nvSpPr>
        <p:spPr>
          <a:xfrm>
            <a:off x="8120807"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04</a:t>
            </a:r>
            <a:endParaRPr lang="en-US" sz="1275" dirty="0"/>
          </a:p>
        </p:txBody>
      </p:sp>
      <p:sp>
        <p:nvSpPr>
          <p:cNvPr id="23" name="Shape 21"/>
          <p:cNvSpPr/>
          <p:nvPr/>
        </p:nvSpPr>
        <p:spPr>
          <a:xfrm>
            <a:off x="8120807" y="7715250"/>
            <a:ext cx="2046536" cy="800100"/>
          </a:xfrm>
          <a:prstGeom prst="rect">
            <a:avLst/>
          </a:prstGeom>
          <a:solidFill>
            <a:srgbClr val="1C1712"/>
          </a:solidFill>
          <a:ln w="9525">
            <a:solidFill>
              <a:srgbClr val="33291F"/>
            </a:solidFill>
            <a:prstDash val="solid"/>
          </a:ln>
        </p:spPr>
      </p:sp>
      <p:sp>
        <p:nvSpPr>
          <p:cNvPr id="24" name="Shape 22"/>
          <p:cNvSpPr/>
          <p:nvPr/>
        </p:nvSpPr>
        <p:spPr>
          <a:xfrm>
            <a:off x="8320832" y="7981950"/>
            <a:ext cx="252413" cy="266700"/>
          </a:xfrm>
          <a:prstGeom prst="rect">
            <a:avLst/>
          </a:prstGeom>
          <a:ln w="9525">
            <a:solidFill>
              <a:srgbClr val="B8862B"/>
            </a:solidFill>
            <a:prstDash val="solid"/>
          </a:ln>
        </p:spPr>
      </p:sp>
      <p:sp>
        <p:nvSpPr>
          <p:cNvPr id="25" name="Text 23"/>
          <p:cNvSpPr/>
          <p:nvPr/>
        </p:nvSpPr>
        <p:spPr>
          <a:xfrm>
            <a:off x="8706594" y="7924800"/>
            <a:ext cx="1336923" cy="419100"/>
          </a:xfrm>
          <a:prstGeom prst="rect">
            <a:avLst/>
          </a:prstGeom>
          <a:noFill/>
          <a:ln/>
        </p:spPr>
        <p:txBody>
          <a:bodyPr wrap="square" lIns="25400" tIns="25400" rIns="25400" bIns="25400" rtlCol="0" anchor="t">
            <a:normAutofit/>
          </a:bodyPr>
          <a:lstStyle/>
          <a:p>
            <a:pPr algn="l" indent="0" marL="0">
              <a:buNone/>
            </a:pPr>
            <a:r>
              <a:rPr lang="en-US" sz="1350" dirty="0">
                <a:solidFill>
                  <a:srgbClr val="C4B9AB"/>
                </a:solidFill>
                <a:latin typeface="Courier New" pitchFamily="34" charset="0"/>
                <a:ea typeface="Courier New" pitchFamily="34" charset="-122"/>
                <a:cs typeface="Courier New" pitchFamily="34" charset="-120"/>
              </a:rPr>
              <a:t>2 of 3 served</a:t>
            </a:r>
            <a:endParaRPr lang="en-US" sz="1350" dirty="0"/>
          </a:p>
        </p:txBody>
      </p:sp>
      <p:sp>
        <p:nvSpPr>
          <p:cNvPr id="26" name="Text 24"/>
          <p:cNvSpPr/>
          <p:nvPr/>
        </p:nvSpPr>
        <p:spPr>
          <a:xfrm>
            <a:off x="8120807"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SERVE</a:t>
            </a:r>
            <a:endParaRPr lang="en-US" sz="2850" dirty="0"/>
          </a:p>
        </p:txBody>
      </p:sp>
      <p:sp>
        <p:nvSpPr>
          <p:cNvPr id="27" name="Shape 25"/>
          <p:cNvSpPr/>
          <p:nvPr/>
        </p:nvSpPr>
        <p:spPr>
          <a:xfrm>
            <a:off x="10167342" y="8877300"/>
            <a:ext cx="342900" cy="9525"/>
          </a:xfrm>
          <a:prstGeom prst="rect">
            <a:avLst/>
          </a:prstGeom>
          <a:solidFill>
            <a:srgbClr val="3A2F24"/>
          </a:solidFill>
          <a:ln/>
        </p:spPr>
      </p:sp>
      <p:sp>
        <p:nvSpPr>
          <p:cNvPr id="28" name="Text 26"/>
          <p:cNvSpPr/>
          <p:nvPr/>
        </p:nvSpPr>
        <p:spPr>
          <a:xfrm>
            <a:off x="10510242"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05</a:t>
            </a:r>
            <a:endParaRPr lang="en-US" sz="1275" dirty="0"/>
          </a:p>
        </p:txBody>
      </p:sp>
      <p:sp>
        <p:nvSpPr>
          <p:cNvPr id="29" name="Shape 27"/>
          <p:cNvSpPr/>
          <p:nvPr/>
        </p:nvSpPr>
        <p:spPr>
          <a:xfrm>
            <a:off x="10510242" y="7715250"/>
            <a:ext cx="2046536" cy="800100"/>
          </a:xfrm>
          <a:prstGeom prst="rect">
            <a:avLst/>
          </a:prstGeom>
          <a:solidFill>
            <a:srgbClr val="1C1712"/>
          </a:solidFill>
          <a:ln w="9525">
            <a:solidFill>
              <a:srgbClr val="33291F"/>
            </a:solidFill>
            <a:prstDash val="solid"/>
          </a:ln>
        </p:spPr>
      </p:sp>
      <p:sp>
        <p:nvSpPr>
          <p:cNvPr id="30" name="Text 28"/>
          <p:cNvSpPr/>
          <p:nvPr/>
        </p:nvSpPr>
        <p:spPr>
          <a:xfrm>
            <a:off x="10710267" y="8020050"/>
            <a:ext cx="59069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6E655C"/>
                </a:solidFill>
                <a:latin typeface="Courier New" pitchFamily="34" charset="0"/>
                <a:ea typeface="Courier New" pitchFamily="34" charset="-122"/>
                <a:cs typeface="Courier New" pitchFamily="34" charset="-120"/>
              </a:rPr>
              <a:t>Total</a:t>
            </a:r>
            <a:endParaRPr lang="en-US" sz="1350" dirty="0"/>
          </a:p>
        </p:txBody>
      </p:sp>
      <p:sp>
        <p:nvSpPr>
          <p:cNvPr id="31" name="Text 29"/>
          <p:cNvSpPr/>
          <p:nvPr/>
        </p:nvSpPr>
        <p:spPr>
          <a:xfrm>
            <a:off x="11602194" y="7972425"/>
            <a:ext cx="830759" cy="323850"/>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₹2,410</a:t>
            </a:r>
            <a:endParaRPr lang="en-US" sz="1650" dirty="0"/>
          </a:p>
        </p:txBody>
      </p:sp>
      <p:sp>
        <p:nvSpPr>
          <p:cNvPr id="32" name="Text 30"/>
          <p:cNvSpPr/>
          <p:nvPr/>
        </p:nvSpPr>
        <p:spPr>
          <a:xfrm>
            <a:off x="10510242"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BILL</a:t>
            </a:r>
            <a:endParaRPr lang="en-US" sz="2850" dirty="0"/>
          </a:p>
        </p:txBody>
      </p:sp>
      <p:sp>
        <p:nvSpPr>
          <p:cNvPr id="33" name="Shape 31"/>
          <p:cNvSpPr/>
          <p:nvPr/>
        </p:nvSpPr>
        <p:spPr>
          <a:xfrm>
            <a:off x="12556778" y="8877300"/>
            <a:ext cx="342900" cy="9525"/>
          </a:xfrm>
          <a:prstGeom prst="rect">
            <a:avLst/>
          </a:prstGeom>
          <a:solidFill>
            <a:srgbClr val="3A2F24"/>
          </a:solidFill>
          <a:ln/>
        </p:spPr>
      </p:sp>
      <p:sp>
        <p:nvSpPr>
          <p:cNvPr id="34" name="Text 32"/>
          <p:cNvSpPr/>
          <p:nvPr/>
        </p:nvSpPr>
        <p:spPr>
          <a:xfrm>
            <a:off x="12899678"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06</a:t>
            </a:r>
            <a:endParaRPr lang="en-US" sz="1275" dirty="0"/>
          </a:p>
        </p:txBody>
      </p:sp>
      <p:sp>
        <p:nvSpPr>
          <p:cNvPr id="35" name="Shape 33"/>
          <p:cNvSpPr/>
          <p:nvPr/>
        </p:nvSpPr>
        <p:spPr>
          <a:xfrm>
            <a:off x="12899678" y="7715250"/>
            <a:ext cx="2046536" cy="800100"/>
          </a:xfrm>
          <a:prstGeom prst="rect">
            <a:avLst/>
          </a:prstGeom>
          <a:solidFill>
            <a:srgbClr val="1C1712"/>
          </a:solidFill>
          <a:ln w="9525">
            <a:solidFill>
              <a:srgbClr val="33291F"/>
            </a:solidFill>
            <a:prstDash val="solid"/>
          </a:ln>
        </p:spPr>
      </p:sp>
      <p:sp>
        <p:nvSpPr>
          <p:cNvPr id="36" name="Text 34"/>
          <p:cNvSpPr/>
          <p:nvPr/>
        </p:nvSpPr>
        <p:spPr>
          <a:xfrm>
            <a:off x="13099703" y="8020050"/>
            <a:ext cx="1471434" cy="228600"/>
          </a:xfrm>
          <a:prstGeom prst="rect">
            <a:avLst/>
          </a:prstGeom>
          <a:noFill/>
          <a:ln/>
        </p:spPr>
        <p:txBody>
          <a:bodyPr wrap="square" lIns="25400" tIns="25400" rIns="25400" bIns="25400" rtlCol="0" anchor="t">
            <a:normAutofit/>
          </a:bodyPr>
          <a:lstStyle/>
          <a:p>
            <a:pPr algn="l" indent="0" marL="0">
              <a:buNone/>
            </a:pPr>
            <a:r>
              <a:rPr lang="en-US" sz="1350" dirty="0">
                <a:solidFill>
                  <a:srgbClr val="C4B9AB"/>
                </a:solidFill>
                <a:latin typeface="Courier New" pitchFamily="34" charset="0"/>
                <a:ea typeface="Courier New" pitchFamily="34" charset="-122"/>
                <a:cs typeface="Courier New" pitchFamily="34" charset="-120"/>
              </a:rPr>
              <a:t>UPI · settled</a:t>
            </a:r>
            <a:endParaRPr lang="en-US" sz="1350" dirty="0"/>
          </a:p>
        </p:txBody>
      </p:sp>
      <p:sp>
        <p:nvSpPr>
          <p:cNvPr id="37" name="Text 35"/>
          <p:cNvSpPr/>
          <p:nvPr/>
        </p:nvSpPr>
        <p:spPr>
          <a:xfrm>
            <a:off x="12899678"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PAY</a:t>
            </a:r>
            <a:endParaRPr lang="en-US" sz="2850" dirty="0"/>
          </a:p>
        </p:txBody>
      </p:sp>
      <p:sp>
        <p:nvSpPr>
          <p:cNvPr id="38" name="Shape 36"/>
          <p:cNvSpPr/>
          <p:nvPr/>
        </p:nvSpPr>
        <p:spPr>
          <a:xfrm>
            <a:off x="14946213" y="8877300"/>
            <a:ext cx="342900" cy="9525"/>
          </a:xfrm>
          <a:prstGeom prst="rect">
            <a:avLst/>
          </a:prstGeom>
          <a:solidFill>
            <a:srgbClr val="3A2F24"/>
          </a:solidFill>
          <a:ln/>
        </p:spPr>
      </p:sp>
      <p:sp>
        <p:nvSpPr>
          <p:cNvPr id="39" name="Text 37"/>
          <p:cNvSpPr/>
          <p:nvPr/>
        </p:nvSpPr>
        <p:spPr>
          <a:xfrm>
            <a:off x="15289113" y="7324725"/>
            <a:ext cx="2251189"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7C7268"/>
                </a:solidFill>
                <a:latin typeface="Courier New" pitchFamily="34" charset="0"/>
                <a:ea typeface="Courier New" pitchFamily="34" charset="-122"/>
                <a:cs typeface="Courier New" pitchFamily="34" charset="-120"/>
              </a:rPr>
              <a:t>07</a:t>
            </a:r>
            <a:endParaRPr lang="en-US" sz="1275" dirty="0"/>
          </a:p>
        </p:txBody>
      </p:sp>
      <p:sp>
        <p:nvSpPr>
          <p:cNvPr id="40" name="Shape 38"/>
          <p:cNvSpPr/>
          <p:nvPr/>
        </p:nvSpPr>
        <p:spPr>
          <a:xfrm>
            <a:off x="15289113" y="7715250"/>
            <a:ext cx="2046536" cy="800100"/>
          </a:xfrm>
          <a:prstGeom prst="rect">
            <a:avLst/>
          </a:prstGeom>
          <a:solidFill>
            <a:srgbClr val="B8862B">
              <a:alpha val="10000"/>
            </a:srgbClr>
          </a:solidFill>
          <a:ln w="9525">
            <a:solidFill>
              <a:srgbClr val="B8862B"/>
            </a:solidFill>
            <a:prstDash val="solid"/>
          </a:ln>
        </p:spPr>
      </p:sp>
      <p:sp>
        <p:nvSpPr>
          <p:cNvPr id="41" name="Text 39"/>
          <p:cNvSpPr/>
          <p:nvPr/>
        </p:nvSpPr>
        <p:spPr>
          <a:xfrm>
            <a:off x="15489138" y="8020050"/>
            <a:ext cx="1584558" cy="228600"/>
          </a:xfrm>
          <a:prstGeom prst="rect">
            <a:avLst/>
          </a:prstGeom>
          <a:noFill/>
          <a:ln/>
        </p:spPr>
        <p:txBody>
          <a:bodyPr wrap="square" lIns="25400" tIns="25400" rIns="25400" bIns="25400" rtlCol="0" anchor="t">
            <a:normAutofit/>
          </a:bodyPr>
          <a:lstStyle/>
          <a:p>
            <a:pPr algn="l" indent="0" marL="0">
              <a:buNone/>
            </a:pPr>
            <a:r>
              <a:rPr lang="en-US" sz="1350" dirty="0">
                <a:solidFill>
                  <a:srgbClr val="D8A94A"/>
                </a:solidFill>
                <a:latin typeface="Courier New" pitchFamily="34" charset="0"/>
                <a:ea typeface="Courier New" pitchFamily="34" charset="-122"/>
                <a:cs typeface="Courier New" pitchFamily="34" charset="-120"/>
              </a:rPr>
              <a:t>T-12 available</a:t>
            </a:r>
            <a:endParaRPr lang="en-US" sz="1350" dirty="0"/>
          </a:p>
        </p:txBody>
      </p:sp>
      <p:sp>
        <p:nvSpPr>
          <p:cNvPr id="42" name="Text 40"/>
          <p:cNvSpPr/>
          <p:nvPr/>
        </p:nvSpPr>
        <p:spPr>
          <a:xfrm>
            <a:off x="15289113" y="8724900"/>
            <a:ext cx="2251189" cy="447675"/>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F7F1E6"/>
                </a:solidFill>
                <a:latin typeface="Arial" pitchFamily="34" charset="0"/>
                <a:ea typeface="Arial" pitchFamily="34" charset="-122"/>
                <a:cs typeface="Arial" pitchFamily="34" charset="-120"/>
              </a:rPr>
              <a:t>RESET</a:t>
            </a:r>
            <a:endParaRPr lang="en-US" sz="2850" dirty="0"/>
          </a:p>
        </p:txBody>
      </p:sp>
      <p:sp>
        <p:nvSpPr>
          <p:cNvPr id="43" name="Shape 41"/>
          <p:cNvSpPr/>
          <p:nvPr/>
        </p:nvSpPr>
        <p:spPr>
          <a:xfrm>
            <a:off x="952500" y="9515475"/>
            <a:ext cx="16383000" cy="9525"/>
          </a:xfrm>
          <a:prstGeom prst="rect">
            <a:avLst/>
          </a:prstGeom>
          <a:gradFill rotWithShape="1">
            <a:gsLst>
              <a:gs pos="0">
                <a:srgbClr val="3A2F24">
                  <a:alpha val="100000"/>
                </a:srgbClr>
              </a:gs>
              <a:gs pos="100000">
                <a:srgbClr val="B8862B">
                  <a:alpha val="100000"/>
                </a:srgbClr>
              </a:gs>
            </a:gsLst>
            <a:lin ang="0" scaled="0"/>
          </a:gra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4505325"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THE FLOOR</a:t>
            </a:r>
            <a:endParaRPr lang="en-US" sz="1425" dirty="0"/>
          </a:p>
        </p:txBody>
      </p:sp>
      <p:sp>
        <p:nvSpPr>
          <p:cNvPr id="3" name="Text 1"/>
          <p:cNvSpPr/>
          <p:nvPr/>
        </p:nvSpPr>
        <p:spPr>
          <a:xfrm>
            <a:off x="952500" y="1352550"/>
            <a:ext cx="4218623" cy="2209800"/>
          </a:xfrm>
          <a:prstGeom prst="rect">
            <a:avLst/>
          </a:prstGeom>
          <a:noFill/>
          <a:ln/>
        </p:spPr>
        <p:txBody>
          <a:bodyPr wrap="square" lIns="25400" tIns="25400" rIns="25400" bIns="25400" rtlCol="0" anchor="t">
            <a:normAutofit/>
          </a:bodyPr>
          <a:lstStyle/>
          <a:p>
            <a:pPr algn="l" indent="0" marL="0">
              <a:lnSpc>
                <a:spcPct val="87356"/>
              </a:lnSpc>
              <a:buNone/>
            </a:pPr>
            <a:r>
              <a:rPr lang="en-US" sz="5700" b="1" spc="-171" kern="0" dirty="0">
                <a:solidFill>
                  <a:srgbClr val="191512"/>
                </a:solidFill>
                <a:latin typeface="Arial" pitchFamily="34" charset="0"/>
                <a:ea typeface="Arial" pitchFamily="34" charset="-122"/>
                <a:cs typeface="Arial" pitchFamily="34" charset="-120"/>
              </a:rPr>
              <a:t>EVERY TABLE, AT A GLANCE.</a:t>
            </a:r>
            <a:endParaRPr lang="en-US" sz="5700" dirty="0"/>
          </a:p>
        </p:txBody>
      </p:sp>
      <p:sp>
        <p:nvSpPr>
          <p:cNvPr id="4" name="Text 2"/>
          <p:cNvSpPr/>
          <p:nvPr/>
        </p:nvSpPr>
        <p:spPr>
          <a:xfrm>
            <a:off x="952500" y="3790950"/>
            <a:ext cx="4218623" cy="1676400"/>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6F6455"/>
                </a:solidFill>
                <a:latin typeface="Arial" pitchFamily="34" charset="0"/>
                <a:ea typeface="Arial" pitchFamily="34" charset="-122"/>
                <a:cs typeface="Arial" pitchFamily="34" charset="-120"/>
              </a:rPr>
              <a:t>The floor plan is the home screen. State changes the moment someone acts on the table.</a:t>
            </a:r>
            <a:endParaRPr lang="en-US" sz="2250" dirty="0"/>
          </a:p>
        </p:txBody>
      </p:sp>
      <p:sp>
        <p:nvSpPr>
          <p:cNvPr id="5" name="Shape 3"/>
          <p:cNvSpPr/>
          <p:nvPr/>
        </p:nvSpPr>
        <p:spPr>
          <a:xfrm>
            <a:off x="952500" y="7681912"/>
            <a:ext cx="190500" cy="190500"/>
          </a:xfrm>
          <a:prstGeom prst="rect">
            <a:avLst/>
          </a:prstGeom>
          <a:solidFill>
            <a:srgbClr val="FFFFFF"/>
          </a:solidFill>
          <a:ln w="9525">
            <a:solidFill>
              <a:srgbClr val="C9BEAC"/>
            </a:solidFill>
            <a:prstDash val="solid"/>
          </a:ln>
        </p:spPr>
      </p:sp>
      <p:sp>
        <p:nvSpPr>
          <p:cNvPr id="6" name="Text 4"/>
          <p:cNvSpPr/>
          <p:nvPr/>
        </p:nvSpPr>
        <p:spPr>
          <a:xfrm>
            <a:off x="1295400" y="7667625"/>
            <a:ext cx="1105198" cy="257175"/>
          </a:xfrm>
          <a:prstGeom prst="rect">
            <a:avLst/>
          </a:prstGeom>
          <a:noFill/>
          <a:ln/>
        </p:spPr>
        <p:txBody>
          <a:bodyPr wrap="square" lIns="25400" tIns="25400" rIns="25400" bIns="25400" rtlCol="0" anchor="t">
            <a:normAutofit/>
          </a:bodyPr>
          <a:lstStyle/>
          <a:p>
            <a:pPr algn="l" indent="0" marL="0">
              <a:buNone/>
            </a:pPr>
            <a:r>
              <a:rPr lang="en-US" sz="1500" dirty="0">
                <a:solidFill>
                  <a:srgbClr val="6F6455"/>
                </a:solidFill>
                <a:latin typeface="Courier New" pitchFamily="34" charset="0"/>
                <a:ea typeface="Courier New" pitchFamily="34" charset="-122"/>
                <a:cs typeface="Courier New" pitchFamily="34" charset="-120"/>
              </a:rPr>
              <a:t>Available</a:t>
            </a:r>
            <a:endParaRPr lang="en-US" sz="1500" dirty="0"/>
          </a:p>
        </p:txBody>
      </p:sp>
      <p:sp>
        <p:nvSpPr>
          <p:cNvPr id="7" name="Shape 5"/>
          <p:cNvSpPr/>
          <p:nvPr/>
        </p:nvSpPr>
        <p:spPr>
          <a:xfrm>
            <a:off x="952500" y="8101013"/>
            <a:ext cx="171450" cy="171450"/>
          </a:xfrm>
          <a:prstGeom prst="rect">
            <a:avLst/>
          </a:prstGeom>
          <a:solidFill>
            <a:srgbClr val="241D17"/>
          </a:solidFill>
          <a:ln/>
        </p:spPr>
      </p:sp>
      <p:sp>
        <p:nvSpPr>
          <p:cNvPr id="8" name="Text 6"/>
          <p:cNvSpPr/>
          <p:nvPr/>
        </p:nvSpPr>
        <p:spPr>
          <a:xfrm>
            <a:off x="1276350" y="8077200"/>
            <a:ext cx="990749" cy="257175"/>
          </a:xfrm>
          <a:prstGeom prst="rect">
            <a:avLst/>
          </a:prstGeom>
          <a:noFill/>
          <a:ln/>
        </p:spPr>
        <p:txBody>
          <a:bodyPr wrap="square" lIns="25400" tIns="25400" rIns="25400" bIns="25400" rtlCol="0" anchor="t">
            <a:normAutofit/>
          </a:bodyPr>
          <a:lstStyle/>
          <a:p>
            <a:pPr algn="l" indent="0" marL="0">
              <a:buNone/>
            </a:pPr>
            <a:r>
              <a:rPr lang="en-US" sz="1500" dirty="0">
                <a:solidFill>
                  <a:srgbClr val="6F6455"/>
                </a:solidFill>
                <a:latin typeface="Courier New" pitchFamily="34" charset="0"/>
                <a:ea typeface="Courier New" pitchFamily="34" charset="-122"/>
                <a:cs typeface="Courier New" pitchFamily="34" charset="-120"/>
              </a:rPr>
              <a:t>Occupied</a:t>
            </a:r>
            <a:endParaRPr lang="en-US" sz="1500" dirty="0"/>
          </a:p>
        </p:txBody>
      </p:sp>
      <p:sp>
        <p:nvSpPr>
          <p:cNvPr id="9" name="Shape 7"/>
          <p:cNvSpPr/>
          <p:nvPr/>
        </p:nvSpPr>
        <p:spPr>
          <a:xfrm>
            <a:off x="952500" y="8510588"/>
            <a:ext cx="171450" cy="171450"/>
          </a:xfrm>
          <a:prstGeom prst="rect">
            <a:avLst/>
          </a:prstGeom>
          <a:solidFill>
            <a:srgbClr val="B8862B"/>
          </a:solidFill>
          <a:ln/>
        </p:spPr>
      </p:sp>
      <p:sp>
        <p:nvSpPr>
          <p:cNvPr id="10" name="Text 8"/>
          <p:cNvSpPr/>
          <p:nvPr/>
        </p:nvSpPr>
        <p:spPr>
          <a:xfrm>
            <a:off x="1276350" y="8486775"/>
            <a:ext cx="990749" cy="257175"/>
          </a:xfrm>
          <a:prstGeom prst="rect">
            <a:avLst/>
          </a:prstGeom>
          <a:noFill/>
          <a:ln/>
        </p:spPr>
        <p:txBody>
          <a:bodyPr wrap="square" lIns="25400" tIns="25400" rIns="25400" bIns="25400" rtlCol="0" anchor="t">
            <a:normAutofit/>
          </a:bodyPr>
          <a:lstStyle/>
          <a:p>
            <a:pPr algn="l" indent="0" marL="0">
              <a:buNone/>
            </a:pPr>
            <a:r>
              <a:rPr lang="en-US" sz="1500" dirty="0">
                <a:solidFill>
                  <a:srgbClr val="6F6455"/>
                </a:solidFill>
                <a:latin typeface="Courier New" pitchFamily="34" charset="0"/>
                <a:ea typeface="Courier New" pitchFamily="34" charset="-122"/>
                <a:cs typeface="Courier New" pitchFamily="34" charset="-120"/>
              </a:rPr>
              <a:t>Reserved</a:t>
            </a:r>
            <a:endParaRPr lang="en-US" sz="1500" dirty="0"/>
          </a:p>
        </p:txBody>
      </p:sp>
      <p:sp>
        <p:nvSpPr>
          <p:cNvPr id="11" name="Shape 9"/>
          <p:cNvSpPr/>
          <p:nvPr/>
        </p:nvSpPr>
        <p:spPr>
          <a:xfrm>
            <a:off x="952500" y="8920163"/>
            <a:ext cx="171450" cy="171450"/>
          </a:xfrm>
          <a:prstGeom prst="rect">
            <a:avLst/>
          </a:prstGeom>
          <a:solidFill>
            <a:srgbClr val="E2D8C6"/>
          </a:solidFill>
          <a:ln/>
        </p:spPr>
      </p:sp>
      <p:sp>
        <p:nvSpPr>
          <p:cNvPr id="12" name="Text 10"/>
          <p:cNvSpPr/>
          <p:nvPr/>
        </p:nvSpPr>
        <p:spPr>
          <a:xfrm>
            <a:off x="1276350" y="8896350"/>
            <a:ext cx="990749" cy="257175"/>
          </a:xfrm>
          <a:prstGeom prst="rect">
            <a:avLst/>
          </a:prstGeom>
          <a:noFill/>
          <a:ln/>
        </p:spPr>
        <p:txBody>
          <a:bodyPr wrap="square" lIns="25400" tIns="25400" rIns="25400" bIns="25400" rtlCol="0" anchor="t">
            <a:normAutofit/>
          </a:bodyPr>
          <a:lstStyle/>
          <a:p>
            <a:pPr algn="l" indent="0" marL="0">
              <a:buNone/>
            </a:pPr>
            <a:r>
              <a:rPr lang="en-US" sz="1500" dirty="0">
                <a:solidFill>
                  <a:srgbClr val="6F6455"/>
                </a:solidFill>
                <a:latin typeface="Courier New" pitchFamily="34" charset="0"/>
                <a:ea typeface="Courier New" pitchFamily="34" charset="-122"/>
                <a:cs typeface="Courier New" pitchFamily="34" charset="-120"/>
              </a:rPr>
              <a:t>Cleaning</a:t>
            </a:r>
            <a:endParaRPr lang="en-US" sz="1500" dirty="0"/>
          </a:p>
        </p:txBody>
      </p:sp>
      <p:sp>
        <p:nvSpPr>
          <p:cNvPr id="13" name="Shape 11"/>
          <p:cNvSpPr/>
          <p:nvPr/>
        </p:nvSpPr>
        <p:spPr>
          <a:xfrm>
            <a:off x="952500" y="9329738"/>
            <a:ext cx="171450" cy="171450"/>
          </a:xfrm>
          <a:prstGeom prst="rect">
            <a:avLst/>
          </a:prstGeom>
          <a:solidFill>
            <a:srgbClr val="C9BEAC"/>
          </a:solidFill>
          <a:ln/>
        </p:spPr>
      </p:sp>
      <p:sp>
        <p:nvSpPr>
          <p:cNvPr id="14" name="Text 12"/>
          <p:cNvSpPr/>
          <p:nvPr/>
        </p:nvSpPr>
        <p:spPr>
          <a:xfrm>
            <a:off x="1276350" y="9305925"/>
            <a:ext cx="1760547" cy="257175"/>
          </a:xfrm>
          <a:prstGeom prst="rect">
            <a:avLst/>
          </a:prstGeom>
          <a:noFill/>
          <a:ln/>
        </p:spPr>
        <p:txBody>
          <a:bodyPr wrap="square" lIns="25400" tIns="25400" rIns="25400" bIns="25400" rtlCol="0" anchor="t">
            <a:normAutofit/>
          </a:bodyPr>
          <a:lstStyle/>
          <a:p>
            <a:pPr algn="l" indent="0" marL="0">
              <a:buNone/>
            </a:pPr>
            <a:r>
              <a:rPr lang="en-US" sz="1500" dirty="0">
                <a:solidFill>
                  <a:srgbClr val="6F6455"/>
                </a:solidFill>
                <a:latin typeface="Courier New" pitchFamily="34" charset="0"/>
                <a:ea typeface="Courier New" pitchFamily="34" charset="-122"/>
                <a:cs typeface="Courier New" pitchFamily="34" charset="-120"/>
              </a:rPr>
              <a:t>Out of service</a:t>
            </a:r>
            <a:endParaRPr lang="en-US" sz="1500" dirty="0"/>
          </a:p>
        </p:txBody>
      </p:sp>
      <p:sp>
        <p:nvSpPr>
          <p:cNvPr id="15" name="Shape 13"/>
          <p:cNvSpPr/>
          <p:nvPr/>
        </p:nvSpPr>
        <p:spPr>
          <a:xfrm>
            <a:off x="5772150" y="876300"/>
            <a:ext cx="11563350" cy="8648700"/>
          </a:xfrm>
          <a:prstGeom prst="rect">
            <a:avLst/>
          </a:prstGeom>
          <a:solidFill>
            <a:srgbClr val="FFFFFF"/>
          </a:solidFill>
          <a:ln w="9525">
            <a:solidFill>
              <a:srgbClr val="E0D6C6"/>
            </a:solidFill>
            <a:prstDash val="solid"/>
          </a:ln>
        </p:spPr>
      </p:sp>
      <p:sp>
        <p:nvSpPr>
          <p:cNvPr id="16" name="Shape 14"/>
          <p:cNvSpPr/>
          <p:nvPr/>
        </p:nvSpPr>
        <p:spPr>
          <a:xfrm>
            <a:off x="5781675" y="1704975"/>
            <a:ext cx="11544300" cy="9525"/>
          </a:xfrm>
          <a:prstGeom prst="rect">
            <a:avLst/>
          </a:prstGeom>
          <a:solidFill>
            <a:srgbClr val="EDE5D9"/>
          </a:solidFill>
          <a:ln/>
        </p:spPr>
      </p:sp>
      <p:sp>
        <p:nvSpPr>
          <p:cNvPr id="17" name="Text 15"/>
          <p:cNvSpPr/>
          <p:nvPr/>
        </p:nvSpPr>
        <p:spPr>
          <a:xfrm>
            <a:off x="6105525" y="1133475"/>
            <a:ext cx="222270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91512"/>
                </a:solidFill>
                <a:latin typeface="Arial" pitchFamily="34" charset="0"/>
                <a:ea typeface="Arial" pitchFamily="34" charset="-122"/>
                <a:cs typeface="Arial" pitchFamily="34" charset="-120"/>
              </a:rPr>
              <a:t>Kent's — Floor</a:t>
            </a:r>
            <a:endParaRPr lang="en-US" sz="2250" dirty="0"/>
          </a:p>
        </p:txBody>
      </p:sp>
      <p:sp>
        <p:nvSpPr>
          <p:cNvPr id="18" name="Text 16"/>
          <p:cNvSpPr/>
          <p:nvPr/>
        </p:nvSpPr>
        <p:spPr>
          <a:xfrm>
            <a:off x="12989421" y="1190625"/>
            <a:ext cx="727918" cy="247650"/>
          </a:xfrm>
          <a:prstGeom prst="rect">
            <a:avLst/>
          </a:prstGeom>
          <a:noFill/>
          <a:ln/>
        </p:spPr>
        <p:txBody>
          <a:bodyPr wrap="square" lIns="25400" tIns="25400" rIns="25400" bIns="25400" rtlCol="0" anchor="t">
            <a:normAutofit/>
          </a:bodyPr>
          <a:lstStyle/>
          <a:p>
            <a:pPr algn="l" indent="0" marL="0">
              <a:buNone/>
            </a:pPr>
            <a:r>
              <a:rPr lang="en-US" sz="1425" dirty="0">
                <a:solidFill>
                  <a:srgbClr val="8A7F71"/>
                </a:solidFill>
                <a:latin typeface="Courier New" pitchFamily="34" charset="0"/>
                <a:ea typeface="Courier New" pitchFamily="34" charset="-122"/>
                <a:cs typeface="Courier New" pitchFamily="34" charset="-120"/>
              </a:rPr>
              <a:t>Ground</a:t>
            </a:r>
            <a:endParaRPr lang="en-US" sz="1425" dirty="0"/>
          </a:p>
        </p:txBody>
      </p:sp>
      <p:sp>
        <p:nvSpPr>
          <p:cNvPr id="19" name="Text 17"/>
          <p:cNvSpPr/>
          <p:nvPr/>
        </p:nvSpPr>
        <p:spPr>
          <a:xfrm>
            <a:off x="13964989" y="1190625"/>
            <a:ext cx="1314108" cy="247650"/>
          </a:xfrm>
          <a:prstGeom prst="rect">
            <a:avLst/>
          </a:prstGeom>
          <a:noFill/>
          <a:ln/>
        </p:spPr>
        <p:txBody>
          <a:bodyPr wrap="square" lIns="25400" tIns="25400" rIns="25400" bIns="25400" rtlCol="0" anchor="t">
            <a:normAutofit/>
          </a:bodyPr>
          <a:lstStyle/>
          <a:p>
            <a:pPr algn="l" indent="0" marL="0">
              <a:buNone/>
            </a:pPr>
            <a:r>
              <a:rPr lang="en-US" sz="1425" dirty="0">
                <a:solidFill>
                  <a:srgbClr val="B8862B"/>
                </a:solidFill>
                <a:latin typeface="Courier New" pitchFamily="34" charset="0"/>
                <a:ea typeface="Courier New" pitchFamily="34" charset="-122"/>
                <a:cs typeface="Courier New" pitchFamily="34" charset="-120"/>
              </a:rPr>
              <a:t>12 occupied</a:t>
            </a:r>
            <a:endParaRPr lang="en-US" sz="1425" dirty="0"/>
          </a:p>
        </p:txBody>
      </p:sp>
      <p:sp>
        <p:nvSpPr>
          <p:cNvPr id="20" name="Text 18"/>
          <p:cNvSpPr/>
          <p:nvPr/>
        </p:nvSpPr>
        <p:spPr>
          <a:xfrm>
            <a:off x="15483483" y="1190625"/>
            <a:ext cx="727918" cy="247650"/>
          </a:xfrm>
          <a:prstGeom prst="rect">
            <a:avLst/>
          </a:prstGeom>
          <a:noFill/>
          <a:ln/>
        </p:spPr>
        <p:txBody>
          <a:bodyPr wrap="square" lIns="25400" tIns="25400" rIns="25400" bIns="25400" rtlCol="0" anchor="t">
            <a:normAutofit/>
          </a:bodyPr>
          <a:lstStyle/>
          <a:p>
            <a:pPr algn="l" indent="0" marL="0">
              <a:buNone/>
            </a:pPr>
            <a:r>
              <a:rPr lang="en-US" sz="1425" dirty="0">
                <a:solidFill>
                  <a:srgbClr val="8A7F71"/>
                </a:solidFill>
                <a:latin typeface="Courier New" pitchFamily="34" charset="0"/>
                <a:ea typeface="Courier New" pitchFamily="34" charset="-122"/>
                <a:cs typeface="Courier New" pitchFamily="34" charset="-120"/>
              </a:rPr>
              <a:t>4 free</a:t>
            </a:r>
            <a:endParaRPr lang="en-US" sz="1425" dirty="0"/>
          </a:p>
        </p:txBody>
      </p:sp>
      <p:sp>
        <p:nvSpPr>
          <p:cNvPr id="21" name="Text 19"/>
          <p:cNvSpPr/>
          <p:nvPr/>
        </p:nvSpPr>
        <p:spPr>
          <a:xfrm>
            <a:off x="16459051" y="1190625"/>
            <a:ext cx="619274" cy="247650"/>
          </a:xfrm>
          <a:prstGeom prst="rect">
            <a:avLst/>
          </a:prstGeom>
          <a:noFill/>
          <a:ln/>
        </p:spPr>
        <p:txBody>
          <a:bodyPr wrap="square" lIns="25400" tIns="25400" rIns="25400" bIns="25400" rtlCol="0" anchor="t">
            <a:normAutofit/>
          </a:bodyPr>
          <a:lstStyle/>
          <a:p>
            <a:pPr algn="l" indent="0" marL="0">
              <a:buNone/>
            </a:pPr>
            <a:r>
              <a:rPr lang="en-US" sz="1425" dirty="0">
                <a:solidFill>
                  <a:srgbClr val="8A7F71"/>
                </a:solidFill>
                <a:latin typeface="Courier New" pitchFamily="34" charset="0"/>
                <a:ea typeface="Courier New" pitchFamily="34" charset="-122"/>
                <a:cs typeface="Courier New" pitchFamily="34" charset="-120"/>
              </a:rPr>
              <a:t>20:41</a:t>
            </a:r>
            <a:endParaRPr lang="en-US" sz="1425" dirty="0"/>
          </a:p>
        </p:txBody>
      </p:sp>
      <p:sp>
        <p:nvSpPr>
          <p:cNvPr id="22" name="Shape 20"/>
          <p:cNvSpPr/>
          <p:nvPr/>
        </p:nvSpPr>
        <p:spPr>
          <a:xfrm>
            <a:off x="6105525" y="2038350"/>
            <a:ext cx="2042071" cy="1659731"/>
          </a:xfrm>
          <a:prstGeom prst="rect">
            <a:avLst/>
          </a:prstGeom>
          <a:solidFill>
            <a:srgbClr val="FFFFFF"/>
          </a:solidFill>
          <a:ln w="9525">
            <a:solidFill>
              <a:srgbClr val="C9BEAC"/>
            </a:solidFill>
            <a:prstDash val="solid"/>
          </a:ln>
        </p:spPr>
      </p:sp>
      <p:sp>
        <p:nvSpPr>
          <p:cNvPr id="23" name="Text 21"/>
          <p:cNvSpPr/>
          <p:nvPr/>
        </p:nvSpPr>
        <p:spPr>
          <a:xfrm>
            <a:off x="6267450" y="2200275"/>
            <a:ext cx="1890043"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T-01</a:t>
            </a:r>
            <a:endParaRPr lang="en-US" sz="1650" dirty="0"/>
          </a:p>
        </p:txBody>
      </p:sp>
      <p:sp>
        <p:nvSpPr>
          <p:cNvPr id="24" name="Text 22"/>
          <p:cNvSpPr/>
          <p:nvPr/>
        </p:nvSpPr>
        <p:spPr>
          <a:xfrm>
            <a:off x="6267450" y="3355181"/>
            <a:ext cx="1890043" cy="219075"/>
          </a:xfrm>
          <a:prstGeom prst="rect">
            <a:avLst/>
          </a:prstGeom>
          <a:noFill/>
          <a:ln/>
        </p:spPr>
        <p:txBody>
          <a:bodyPr wrap="square" lIns="25400" tIns="25400" rIns="25400" bIns="25400" rtlCol="0" anchor="t">
            <a:normAutofit/>
          </a:bodyPr>
          <a:lstStyle/>
          <a:p>
            <a:pPr algn="l" indent="0" marL="0">
              <a:buNone/>
            </a:pPr>
            <a:r>
              <a:rPr lang="en-US" sz="1275" dirty="0">
                <a:solidFill>
                  <a:srgbClr val="9A8F82"/>
                </a:solidFill>
                <a:latin typeface="Courier New" pitchFamily="34" charset="0"/>
                <a:ea typeface="Courier New" pitchFamily="34" charset="-122"/>
                <a:cs typeface="Courier New" pitchFamily="34" charset="-120"/>
              </a:rPr>
              <a:t>2 seats</a:t>
            </a:r>
            <a:endParaRPr lang="en-US" sz="1275" dirty="0"/>
          </a:p>
        </p:txBody>
      </p:sp>
      <p:sp>
        <p:nvSpPr>
          <p:cNvPr id="25" name="Shape 23"/>
          <p:cNvSpPr/>
          <p:nvPr/>
        </p:nvSpPr>
        <p:spPr>
          <a:xfrm>
            <a:off x="8319046" y="2038350"/>
            <a:ext cx="2042220" cy="1659731"/>
          </a:xfrm>
          <a:prstGeom prst="rect">
            <a:avLst/>
          </a:prstGeom>
          <a:solidFill>
            <a:srgbClr val="241D17"/>
          </a:solidFill>
          <a:ln/>
        </p:spPr>
      </p:sp>
      <p:sp>
        <p:nvSpPr>
          <p:cNvPr id="26" name="Text 24"/>
          <p:cNvSpPr/>
          <p:nvPr/>
        </p:nvSpPr>
        <p:spPr>
          <a:xfrm>
            <a:off x="8471446" y="2190750"/>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T-02</a:t>
            </a:r>
            <a:endParaRPr lang="en-US" sz="1650" dirty="0"/>
          </a:p>
        </p:txBody>
      </p:sp>
      <p:sp>
        <p:nvSpPr>
          <p:cNvPr id="27" name="Text 25"/>
          <p:cNvSpPr/>
          <p:nvPr/>
        </p:nvSpPr>
        <p:spPr>
          <a:xfrm>
            <a:off x="8471446" y="3364706"/>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42 min</a:t>
            </a:r>
            <a:endParaRPr lang="en-US" sz="1275" dirty="0"/>
          </a:p>
        </p:txBody>
      </p:sp>
      <p:sp>
        <p:nvSpPr>
          <p:cNvPr id="28" name="Shape 26"/>
          <p:cNvSpPr/>
          <p:nvPr/>
        </p:nvSpPr>
        <p:spPr>
          <a:xfrm>
            <a:off x="10532715" y="2038350"/>
            <a:ext cx="2042071" cy="1659731"/>
          </a:xfrm>
          <a:prstGeom prst="rect">
            <a:avLst/>
          </a:prstGeom>
          <a:solidFill>
            <a:srgbClr val="241D17"/>
          </a:solidFill>
          <a:ln/>
        </p:spPr>
      </p:sp>
      <p:sp>
        <p:nvSpPr>
          <p:cNvPr id="29" name="Text 27"/>
          <p:cNvSpPr/>
          <p:nvPr/>
        </p:nvSpPr>
        <p:spPr>
          <a:xfrm>
            <a:off x="10685115" y="2190750"/>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T-03</a:t>
            </a:r>
            <a:endParaRPr lang="en-US" sz="1650" dirty="0"/>
          </a:p>
        </p:txBody>
      </p:sp>
      <p:sp>
        <p:nvSpPr>
          <p:cNvPr id="30" name="Text 28"/>
          <p:cNvSpPr/>
          <p:nvPr/>
        </p:nvSpPr>
        <p:spPr>
          <a:xfrm>
            <a:off x="10685115" y="3364706"/>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18 min</a:t>
            </a:r>
            <a:endParaRPr lang="en-US" sz="1275" dirty="0"/>
          </a:p>
        </p:txBody>
      </p:sp>
      <p:sp>
        <p:nvSpPr>
          <p:cNvPr id="31" name="Shape 29"/>
          <p:cNvSpPr/>
          <p:nvPr/>
        </p:nvSpPr>
        <p:spPr>
          <a:xfrm>
            <a:off x="12746236" y="2038350"/>
            <a:ext cx="2042220" cy="1659731"/>
          </a:xfrm>
          <a:prstGeom prst="rect">
            <a:avLst/>
          </a:prstGeom>
          <a:solidFill>
            <a:srgbClr val="FFFFFF"/>
          </a:solidFill>
          <a:ln w="9525">
            <a:solidFill>
              <a:srgbClr val="C9BEAC"/>
            </a:solidFill>
            <a:prstDash val="solid"/>
          </a:ln>
        </p:spPr>
      </p:sp>
      <p:sp>
        <p:nvSpPr>
          <p:cNvPr id="32" name="Text 30"/>
          <p:cNvSpPr/>
          <p:nvPr/>
        </p:nvSpPr>
        <p:spPr>
          <a:xfrm>
            <a:off x="12908161" y="2200275"/>
            <a:ext cx="1890206"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T-04</a:t>
            </a:r>
            <a:endParaRPr lang="en-US" sz="1650" dirty="0"/>
          </a:p>
        </p:txBody>
      </p:sp>
      <p:sp>
        <p:nvSpPr>
          <p:cNvPr id="33" name="Text 31"/>
          <p:cNvSpPr/>
          <p:nvPr/>
        </p:nvSpPr>
        <p:spPr>
          <a:xfrm>
            <a:off x="12908161" y="3355181"/>
            <a:ext cx="1890206" cy="219075"/>
          </a:xfrm>
          <a:prstGeom prst="rect">
            <a:avLst/>
          </a:prstGeom>
          <a:noFill/>
          <a:ln/>
        </p:spPr>
        <p:txBody>
          <a:bodyPr wrap="square" lIns="25400" tIns="25400" rIns="25400" bIns="25400" rtlCol="0" anchor="t">
            <a:normAutofit/>
          </a:bodyPr>
          <a:lstStyle/>
          <a:p>
            <a:pPr algn="l" indent="0" marL="0">
              <a:buNone/>
            </a:pPr>
            <a:r>
              <a:rPr lang="en-US" sz="1275" dirty="0">
                <a:solidFill>
                  <a:srgbClr val="9A8F82"/>
                </a:solidFill>
                <a:latin typeface="Courier New" pitchFamily="34" charset="0"/>
                <a:ea typeface="Courier New" pitchFamily="34" charset="-122"/>
                <a:cs typeface="Courier New" pitchFamily="34" charset="-120"/>
              </a:rPr>
              <a:t>4 seats</a:t>
            </a:r>
            <a:endParaRPr lang="en-US" sz="1275" dirty="0"/>
          </a:p>
        </p:txBody>
      </p:sp>
      <p:sp>
        <p:nvSpPr>
          <p:cNvPr id="34" name="Shape 32"/>
          <p:cNvSpPr/>
          <p:nvPr/>
        </p:nvSpPr>
        <p:spPr>
          <a:xfrm>
            <a:off x="14959905" y="2038350"/>
            <a:ext cx="2042220" cy="1659731"/>
          </a:xfrm>
          <a:prstGeom prst="rect">
            <a:avLst/>
          </a:prstGeom>
          <a:solidFill>
            <a:srgbClr val="B8862B"/>
          </a:solidFill>
          <a:ln/>
        </p:spPr>
      </p:sp>
      <p:sp>
        <p:nvSpPr>
          <p:cNvPr id="35" name="Text 33"/>
          <p:cNvSpPr/>
          <p:nvPr/>
        </p:nvSpPr>
        <p:spPr>
          <a:xfrm>
            <a:off x="15112305" y="2190750"/>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4100D"/>
                </a:solidFill>
                <a:latin typeface="Courier New" pitchFamily="34" charset="0"/>
                <a:ea typeface="Courier New" pitchFamily="34" charset="-122"/>
                <a:cs typeface="Courier New" pitchFamily="34" charset="-120"/>
              </a:rPr>
              <a:t>T-05</a:t>
            </a:r>
            <a:endParaRPr lang="en-US" sz="1650" dirty="0"/>
          </a:p>
        </p:txBody>
      </p:sp>
      <p:sp>
        <p:nvSpPr>
          <p:cNvPr id="36" name="Text 34"/>
          <p:cNvSpPr/>
          <p:nvPr/>
        </p:nvSpPr>
        <p:spPr>
          <a:xfrm>
            <a:off x="15112305" y="3364706"/>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14100D"/>
                </a:solidFill>
                <a:latin typeface="Courier New" pitchFamily="34" charset="0"/>
                <a:ea typeface="Courier New" pitchFamily="34" charset="-122"/>
                <a:cs typeface="Courier New" pitchFamily="34" charset="-120"/>
              </a:rPr>
              <a:t>21:00 Sharma</a:t>
            </a:r>
            <a:endParaRPr lang="en-US" sz="1275" dirty="0"/>
          </a:p>
        </p:txBody>
      </p:sp>
      <p:sp>
        <p:nvSpPr>
          <p:cNvPr id="37" name="Shape 35"/>
          <p:cNvSpPr/>
          <p:nvPr/>
        </p:nvSpPr>
        <p:spPr>
          <a:xfrm>
            <a:off x="6105525" y="3869531"/>
            <a:ext cx="2042071" cy="1659731"/>
          </a:xfrm>
          <a:prstGeom prst="rect">
            <a:avLst/>
          </a:prstGeom>
          <a:solidFill>
            <a:srgbClr val="241D17"/>
          </a:solidFill>
          <a:ln/>
        </p:spPr>
      </p:sp>
      <p:sp>
        <p:nvSpPr>
          <p:cNvPr id="38" name="Text 36"/>
          <p:cNvSpPr/>
          <p:nvPr/>
        </p:nvSpPr>
        <p:spPr>
          <a:xfrm>
            <a:off x="6257925" y="4021931"/>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T-06</a:t>
            </a:r>
            <a:endParaRPr lang="en-US" sz="1650" dirty="0"/>
          </a:p>
        </p:txBody>
      </p:sp>
      <p:sp>
        <p:nvSpPr>
          <p:cNvPr id="39" name="Text 37"/>
          <p:cNvSpPr/>
          <p:nvPr/>
        </p:nvSpPr>
        <p:spPr>
          <a:xfrm>
            <a:off x="6257925" y="5195888"/>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7 min</a:t>
            </a:r>
            <a:endParaRPr lang="en-US" sz="1275" dirty="0"/>
          </a:p>
        </p:txBody>
      </p:sp>
      <p:sp>
        <p:nvSpPr>
          <p:cNvPr id="40" name="Shape 38"/>
          <p:cNvSpPr/>
          <p:nvPr/>
        </p:nvSpPr>
        <p:spPr>
          <a:xfrm>
            <a:off x="8319046" y="3869531"/>
            <a:ext cx="2042220" cy="1659731"/>
          </a:xfrm>
          <a:prstGeom prst="rect">
            <a:avLst/>
          </a:prstGeom>
          <a:solidFill>
            <a:srgbClr val="E2D8C6"/>
          </a:solidFill>
          <a:ln/>
        </p:spPr>
      </p:sp>
      <p:sp>
        <p:nvSpPr>
          <p:cNvPr id="41" name="Text 39"/>
          <p:cNvSpPr/>
          <p:nvPr/>
        </p:nvSpPr>
        <p:spPr>
          <a:xfrm>
            <a:off x="8471446" y="4021931"/>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T-07</a:t>
            </a:r>
            <a:endParaRPr lang="en-US" sz="1650" dirty="0"/>
          </a:p>
        </p:txBody>
      </p:sp>
      <p:sp>
        <p:nvSpPr>
          <p:cNvPr id="42" name="Text 40"/>
          <p:cNvSpPr/>
          <p:nvPr/>
        </p:nvSpPr>
        <p:spPr>
          <a:xfrm>
            <a:off x="8471446" y="5195888"/>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6F6455"/>
                </a:solidFill>
                <a:latin typeface="Courier New" pitchFamily="34" charset="0"/>
                <a:ea typeface="Courier New" pitchFamily="34" charset="-122"/>
                <a:cs typeface="Courier New" pitchFamily="34" charset="-120"/>
              </a:rPr>
              <a:t>Cleaning</a:t>
            </a:r>
            <a:endParaRPr lang="en-US" sz="1275" dirty="0"/>
          </a:p>
        </p:txBody>
      </p:sp>
      <p:sp>
        <p:nvSpPr>
          <p:cNvPr id="43" name="Shape 41"/>
          <p:cNvSpPr/>
          <p:nvPr/>
        </p:nvSpPr>
        <p:spPr>
          <a:xfrm>
            <a:off x="10532715" y="3869531"/>
            <a:ext cx="2042071" cy="1659731"/>
          </a:xfrm>
          <a:prstGeom prst="rect">
            <a:avLst/>
          </a:prstGeom>
          <a:solidFill>
            <a:srgbClr val="241D17"/>
          </a:solidFill>
          <a:ln/>
        </p:spPr>
      </p:sp>
      <p:sp>
        <p:nvSpPr>
          <p:cNvPr id="44" name="Text 42"/>
          <p:cNvSpPr/>
          <p:nvPr/>
        </p:nvSpPr>
        <p:spPr>
          <a:xfrm>
            <a:off x="10685115" y="4021931"/>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T-08</a:t>
            </a:r>
            <a:endParaRPr lang="en-US" sz="1650" dirty="0"/>
          </a:p>
        </p:txBody>
      </p:sp>
      <p:sp>
        <p:nvSpPr>
          <p:cNvPr id="45" name="Text 43"/>
          <p:cNvSpPr/>
          <p:nvPr/>
        </p:nvSpPr>
        <p:spPr>
          <a:xfrm>
            <a:off x="10685115" y="5195888"/>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55 min</a:t>
            </a:r>
            <a:endParaRPr lang="en-US" sz="1275" dirty="0"/>
          </a:p>
        </p:txBody>
      </p:sp>
      <p:sp>
        <p:nvSpPr>
          <p:cNvPr id="46" name="Shape 44"/>
          <p:cNvSpPr/>
          <p:nvPr/>
        </p:nvSpPr>
        <p:spPr>
          <a:xfrm>
            <a:off x="12746236" y="3869531"/>
            <a:ext cx="2042220" cy="1659731"/>
          </a:xfrm>
          <a:prstGeom prst="rect">
            <a:avLst/>
          </a:prstGeom>
          <a:solidFill>
            <a:srgbClr val="FFFFFF"/>
          </a:solidFill>
          <a:ln w="9525">
            <a:solidFill>
              <a:srgbClr val="C9BEAC"/>
            </a:solidFill>
            <a:prstDash val="solid"/>
          </a:ln>
        </p:spPr>
      </p:sp>
      <p:sp>
        <p:nvSpPr>
          <p:cNvPr id="47" name="Text 45"/>
          <p:cNvSpPr/>
          <p:nvPr/>
        </p:nvSpPr>
        <p:spPr>
          <a:xfrm>
            <a:off x="12908161" y="4031456"/>
            <a:ext cx="1890206"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T-09</a:t>
            </a:r>
            <a:endParaRPr lang="en-US" sz="1650" dirty="0"/>
          </a:p>
        </p:txBody>
      </p:sp>
      <p:sp>
        <p:nvSpPr>
          <p:cNvPr id="48" name="Text 46"/>
          <p:cNvSpPr/>
          <p:nvPr/>
        </p:nvSpPr>
        <p:spPr>
          <a:xfrm>
            <a:off x="12908161" y="5186363"/>
            <a:ext cx="1890206" cy="219075"/>
          </a:xfrm>
          <a:prstGeom prst="rect">
            <a:avLst/>
          </a:prstGeom>
          <a:noFill/>
          <a:ln/>
        </p:spPr>
        <p:txBody>
          <a:bodyPr wrap="square" lIns="25400" tIns="25400" rIns="25400" bIns="25400" rtlCol="0" anchor="t">
            <a:normAutofit/>
          </a:bodyPr>
          <a:lstStyle/>
          <a:p>
            <a:pPr algn="l" indent="0" marL="0">
              <a:buNone/>
            </a:pPr>
            <a:r>
              <a:rPr lang="en-US" sz="1275" dirty="0">
                <a:solidFill>
                  <a:srgbClr val="9A8F82"/>
                </a:solidFill>
                <a:latin typeface="Courier New" pitchFamily="34" charset="0"/>
                <a:ea typeface="Courier New" pitchFamily="34" charset="-122"/>
                <a:cs typeface="Courier New" pitchFamily="34" charset="-120"/>
              </a:rPr>
              <a:t>2 seats</a:t>
            </a:r>
            <a:endParaRPr lang="en-US" sz="1275" dirty="0"/>
          </a:p>
        </p:txBody>
      </p:sp>
      <p:sp>
        <p:nvSpPr>
          <p:cNvPr id="49" name="Shape 47"/>
          <p:cNvSpPr/>
          <p:nvPr/>
        </p:nvSpPr>
        <p:spPr>
          <a:xfrm>
            <a:off x="14959905" y="3869531"/>
            <a:ext cx="2042220" cy="1659731"/>
          </a:xfrm>
          <a:prstGeom prst="rect">
            <a:avLst/>
          </a:prstGeom>
          <a:solidFill>
            <a:srgbClr val="241D17"/>
          </a:solidFill>
          <a:ln/>
        </p:spPr>
      </p:sp>
      <p:sp>
        <p:nvSpPr>
          <p:cNvPr id="50" name="Text 48"/>
          <p:cNvSpPr/>
          <p:nvPr/>
        </p:nvSpPr>
        <p:spPr>
          <a:xfrm>
            <a:off x="15112305" y="4021931"/>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T-10</a:t>
            </a:r>
            <a:endParaRPr lang="en-US" sz="1650" dirty="0"/>
          </a:p>
        </p:txBody>
      </p:sp>
      <p:sp>
        <p:nvSpPr>
          <p:cNvPr id="51" name="Text 49"/>
          <p:cNvSpPr/>
          <p:nvPr/>
        </p:nvSpPr>
        <p:spPr>
          <a:xfrm>
            <a:off x="15112305" y="5195888"/>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33 min</a:t>
            </a:r>
            <a:endParaRPr lang="en-US" sz="1275" dirty="0"/>
          </a:p>
        </p:txBody>
      </p:sp>
      <p:sp>
        <p:nvSpPr>
          <p:cNvPr id="52" name="Shape 50"/>
          <p:cNvSpPr/>
          <p:nvPr/>
        </p:nvSpPr>
        <p:spPr>
          <a:xfrm>
            <a:off x="6105525" y="5700713"/>
            <a:ext cx="2042071" cy="1659731"/>
          </a:xfrm>
          <a:prstGeom prst="rect">
            <a:avLst/>
          </a:prstGeom>
          <a:solidFill>
            <a:srgbClr val="241D17"/>
          </a:solidFill>
          <a:ln/>
        </p:spPr>
      </p:sp>
      <p:sp>
        <p:nvSpPr>
          <p:cNvPr id="53" name="Text 51"/>
          <p:cNvSpPr/>
          <p:nvPr/>
        </p:nvSpPr>
        <p:spPr>
          <a:xfrm>
            <a:off x="6257925" y="5853113"/>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T-11</a:t>
            </a:r>
            <a:endParaRPr lang="en-US" sz="1650" dirty="0"/>
          </a:p>
        </p:txBody>
      </p:sp>
      <p:sp>
        <p:nvSpPr>
          <p:cNvPr id="54" name="Text 52"/>
          <p:cNvSpPr/>
          <p:nvPr/>
        </p:nvSpPr>
        <p:spPr>
          <a:xfrm>
            <a:off x="6257925" y="7027069"/>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12 min</a:t>
            </a:r>
            <a:endParaRPr lang="en-US" sz="1275" dirty="0"/>
          </a:p>
        </p:txBody>
      </p:sp>
      <p:sp>
        <p:nvSpPr>
          <p:cNvPr id="55" name="Shape 53"/>
          <p:cNvSpPr/>
          <p:nvPr/>
        </p:nvSpPr>
        <p:spPr>
          <a:xfrm>
            <a:off x="8319046" y="5700713"/>
            <a:ext cx="2042220" cy="1659731"/>
          </a:xfrm>
          <a:prstGeom prst="rect">
            <a:avLst/>
          </a:prstGeom>
          <a:solidFill>
            <a:srgbClr val="241D17"/>
          </a:solidFill>
          <a:ln/>
        </p:spPr>
      </p:sp>
      <p:sp>
        <p:nvSpPr>
          <p:cNvPr id="56" name="Text 54"/>
          <p:cNvSpPr/>
          <p:nvPr/>
        </p:nvSpPr>
        <p:spPr>
          <a:xfrm>
            <a:off x="8471446" y="5853113"/>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T-12</a:t>
            </a:r>
            <a:endParaRPr lang="en-US" sz="1650" dirty="0"/>
          </a:p>
        </p:txBody>
      </p:sp>
      <p:sp>
        <p:nvSpPr>
          <p:cNvPr id="57" name="Text 55"/>
          <p:cNvSpPr/>
          <p:nvPr/>
        </p:nvSpPr>
        <p:spPr>
          <a:xfrm>
            <a:off x="8471446" y="6846094"/>
            <a:ext cx="1813620" cy="400050"/>
          </a:xfrm>
          <a:prstGeom prst="rect">
            <a:avLst/>
          </a:prstGeom>
          <a:noFill/>
          <a:ln/>
        </p:spPr>
        <p:txBody>
          <a:bodyPr wrap="square" lIns="25400" tIns="25400" rIns="25400" bIns="25400" rtlCol="0" anchor="t">
            <a:normAutofit/>
          </a:bodyPr>
          <a:lstStyle/>
          <a:p>
            <a:pPr algn="l" indent="0" marL="0">
              <a:buNone/>
            </a:pPr>
            <a:r>
              <a:rPr lang="en-US" sz="1275" dirty="0">
                <a:solidFill>
                  <a:srgbClr val="D8A94A"/>
                </a:solidFill>
                <a:latin typeface="Courier New" pitchFamily="34" charset="0"/>
                <a:ea typeface="Courier New" pitchFamily="34" charset="-122"/>
                <a:cs typeface="Courier New" pitchFamily="34" charset="-120"/>
              </a:rPr>
              <a:t>Order sent · 09:42</a:t>
            </a:r>
            <a:endParaRPr lang="en-US" sz="1275" dirty="0"/>
          </a:p>
        </p:txBody>
      </p:sp>
      <p:sp>
        <p:nvSpPr>
          <p:cNvPr id="58" name="Shape 56"/>
          <p:cNvSpPr/>
          <p:nvPr/>
        </p:nvSpPr>
        <p:spPr>
          <a:xfrm>
            <a:off x="10532715" y="5700713"/>
            <a:ext cx="2042071" cy="1659731"/>
          </a:xfrm>
          <a:prstGeom prst="rect">
            <a:avLst/>
          </a:prstGeom>
          <a:solidFill>
            <a:srgbClr val="DCD2C1"/>
          </a:solidFill>
          <a:ln/>
        </p:spPr>
      </p:sp>
      <p:sp>
        <p:nvSpPr>
          <p:cNvPr id="59" name="Text 57"/>
          <p:cNvSpPr/>
          <p:nvPr/>
        </p:nvSpPr>
        <p:spPr>
          <a:xfrm>
            <a:off x="10685115" y="5853113"/>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6F6455"/>
                </a:solidFill>
                <a:latin typeface="Courier New" pitchFamily="34" charset="0"/>
                <a:ea typeface="Courier New" pitchFamily="34" charset="-122"/>
                <a:cs typeface="Courier New" pitchFamily="34" charset="-120"/>
              </a:rPr>
              <a:t>T-13</a:t>
            </a:r>
            <a:endParaRPr lang="en-US" sz="1650" dirty="0"/>
          </a:p>
        </p:txBody>
      </p:sp>
      <p:sp>
        <p:nvSpPr>
          <p:cNvPr id="60" name="Text 58"/>
          <p:cNvSpPr/>
          <p:nvPr/>
        </p:nvSpPr>
        <p:spPr>
          <a:xfrm>
            <a:off x="10685115" y="7027069"/>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8A7F71"/>
                </a:solidFill>
                <a:latin typeface="Courier New" pitchFamily="34" charset="0"/>
                <a:ea typeface="Courier New" pitchFamily="34" charset="-122"/>
                <a:cs typeface="Courier New" pitchFamily="34" charset="-120"/>
              </a:rPr>
              <a:t>Out of service</a:t>
            </a:r>
            <a:endParaRPr lang="en-US" sz="1275" dirty="0"/>
          </a:p>
        </p:txBody>
      </p:sp>
      <p:sp>
        <p:nvSpPr>
          <p:cNvPr id="61" name="Shape 59"/>
          <p:cNvSpPr/>
          <p:nvPr/>
        </p:nvSpPr>
        <p:spPr>
          <a:xfrm>
            <a:off x="12746236" y="5700713"/>
            <a:ext cx="2042220" cy="1659731"/>
          </a:xfrm>
          <a:prstGeom prst="rect">
            <a:avLst/>
          </a:prstGeom>
          <a:solidFill>
            <a:srgbClr val="241D17"/>
          </a:solidFill>
          <a:ln/>
        </p:spPr>
      </p:sp>
      <p:sp>
        <p:nvSpPr>
          <p:cNvPr id="62" name="Text 60"/>
          <p:cNvSpPr/>
          <p:nvPr/>
        </p:nvSpPr>
        <p:spPr>
          <a:xfrm>
            <a:off x="12898636" y="5853113"/>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T-14</a:t>
            </a:r>
            <a:endParaRPr lang="en-US" sz="1650" dirty="0"/>
          </a:p>
        </p:txBody>
      </p:sp>
      <p:sp>
        <p:nvSpPr>
          <p:cNvPr id="63" name="Text 61"/>
          <p:cNvSpPr/>
          <p:nvPr/>
        </p:nvSpPr>
        <p:spPr>
          <a:xfrm>
            <a:off x="12898636" y="7027069"/>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64 min</a:t>
            </a:r>
            <a:endParaRPr lang="en-US" sz="1275" dirty="0"/>
          </a:p>
        </p:txBody>
      </p:sp>
      <p:sp>
        <p:nvSpPr>
          <p:cNvPr id="64" name="Shape 62"/>
          <p:cNvSpPr/>
          <p:nvPr/>
        </p:nvSpPr>
        <p:spPr>
          <a:xfrm>
            <a:off x="14959905" y="5700713"/>
            <a:ext cx="2042220" cy="1659731"/>
          </a:xfrm>
          <a:prstGeom prst="rect">
            <a:avLst/>
          </a:prstGeom>
          <a:solidFill>
            <a:srgbClr val="B8862B"/>
          </a:solidFill>
          <a:ln/>
        </p:spPr>
      </p:sp>
      <p:sp>
        <p:nvSpPr>
          <p:cNvPr id="65" name="Text 63"/>
          <p:cNvSpPr/>
          <p:nvPr/>
        </p:nvSpPr>
        <p:spPr>
          <a:xfrm>
            <a:off x="15112305" y="5853113"/>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4100D"/>
                </a:solidFill>
                <a:latin typeface="Courier New" pitchFamily="34" charset="0"/>
                <a:ea typeface="Courier New" pitchFamily="34" charset="-122"/>
                <a:cs typeface="Courier New" pitchFamily="34" charset="-120"/>
              </a:rPr>
              <a:t>T-15</a:t>
            </a:r>
            <a:endParaRPr lang="en-US" sz="1650" dirty="0"/>
          </a:p>
        </p:txBody>
      </p:sp>
      <p:sp>
        <p:nvSpPr>
          <p:cNvPr id="66" name="Text 64"/>
          <p:cNvSpPr/>
          <p:nvPr/>
        </p:nvSpPr>
        <p:spPr>
          <a:xfrm>
            <a:off x="15112305" y="7027069"/>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14100D"/>
                </a:solidFill>
                <a:latin typeface="Courier New" pitchFamily="34" charset="0"/>
                <a:ea typeface="Courier New" pitchFamily="34" charset="-122"/>
                <a:cs typeface="Courier New" pitchFamily="34" charset="-120"/>
              </a:rPr>
              <a:t>21:30 Anand</a:t>
            </a:r>
            <a:endParaRPr lang="en-US" sz="1275" dirty="0"/>
          </a:p>
        </p:txBody>
      </p:sp>
      <p:sp>
        <p:nvSpPr>
          <p:cNvPr id="67" name="Shape 65"/>
          <p:cNvSpPr/>
          <p:nvPr/>
        </p:nvSpPr>
        <p:spPr>
          <a:xfrm>
            <a:off x="6105525" y="7531894"/>
            <a:ext cx="2042071" cy="1659731"/>
          </a:xfrm>
          <a:prstGeom prst="rect">
            <a:avLst/>
          </a:prstGeom>
          <a:solidFill>
            <a:srgbClr val="241D17"/>
          </a:solidFill>
          <a:ln/>
        </p:spPr>
      </p:sp>
      <p:sp>
        <p:nvSpPr>
          <p:cNvPr id="68" name="Text 66"/>
          <p:cNvSpPr/>
          <p:nvPr/>
        </p:nvSpPr>
        <p:spPr>
          <a:xfrm>
            <a:off x="6257925" y="7684294"/>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T-16</a:t>
            </a:r>
            <a:endParaRPr lang="en-US" sz="1650" dirty="0"/>
          </a:p>
        </p:txBody>
      </p:sp>
      <p:sp>
        <p:nvSpPr>
          <p:cNvPr id="69" name="Text 67"/>
          <p:cNvSpPr/>
          <p:nvPr/>
        </p:nvSpPr>
        <p:spPr>
          <a:xfrm>
            <a:off x="6257925" y="8858250"/>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26 min</a:t>
            </a:r>
            <a:endParaRPr lang="en-US" sz="1275" dirty="0"/>
          </a:p>
        </p:txBody>
      </p:sp>
      <p:sp>
        <p:nvSpPr>
          <p:cNvPr id="70" name="Shape 68"/>
          <p:cNvSpPr/>
          <p:nvPr/>
        </p:nvSpPr>
        <p:spPr>
          <a:xfrm>
            <a:off x="8319046" y="7531894"/>
            <a:ext cx="2042220" cy="1659731"/>
          </a:xfrm>
          <a:prstGeom prst="rect">
            <a:avLst/>
          </a:prstGeom>
          <a:solidFill>
            <a:srgbClr val="FFFFFF"/>
          </a:solidFill>
          <a:ln w="9525">
            <a:solidFill>
              <a:srgbClr val="C9BEAC"/>
            </a:solidFill>
            <a:prstDash val="solid"/>
          </a:ln>
        </p:spPr>
      </p:sp>
      <p:sp>
        <p:nvSpPr>
          <p:cNvPr id="71" name="Text 69"/>
          <p:cNvSpPr/>
          <p:nvPr/>
        </p:nvSpPr>
        <p:spPr>
          <a:xfrm>
            <a:off x="8480971" y="7693819"/>
            <a:ext cx="1890206"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T-17</a:t>
            </a:r>
            <a:endParaRPr lang="en-US" sz="1650" dirty="0"/>
          </a:p>
        </p:txBody>
      </p:sp>
      <p:sp>
        <p:nvSpPr>
          <p:cNvPr id="72" name="Text 70"/>
          <p:cNvSpPr/>
          <p:nvPr/>
        </p:nvSpPr>
        <p:spPr>
          <a:xfrm>
            <a:off x="8480971" y="8848725"/>
            <a:ext cx="1890206" cy="219075"/>
          </a:xfrm>
          <a:prstGeom prst="rect">
            <a:avLst/>
          </a:prstGeom>
          <a:noFill/>
          <a:ln/>
        </p:spPr>
        <p:txBody>
          <a:bodyPr wrap="square" lIns="25400" tIns="25400" rIns="25400" bIns="25400" rtlCol="0" anchor="t">
            <a:normAutofit/>
          </a:bodyPr>
          <a:lstStyle/>
          <a:p>
            <a:pPr algn="l" indent="0" marL="0">
              <a:buNone/>
            </a:pPr>
            <a:r>
              <a:rPr lang="en-US" sz="1275" dirty="0">
                <a:solidFill>
                  <a:srgbClr val="9A8F82"/>
                </a:solidFill>
                <a:latin typeface="Courier New" pitchFamily="34" charset="0"/>
                <a:ea typeface="Courier New" pitchFamily="34" charset="-122"/>
                <a:cs typeface="Courier New" pitchFamily="34" charset="-120"/>
              </a:rPr>
              <a:t>6 seats</a:t>
            </a:r>
            <a:endParaRPr lang="en-US" sz="1275" dirty="0"/>
          </a:p>
        </p:txBody>
      </p:sp>
      <p:sp>
        <p:nvSpPr>
          <p:cNvPr id="73" name="Shape 71"/>
          <p:cNvSpPr/>
          <p:nvPr/>
        </p:nvSpPr>
        <p:spPr>
          <a:xfrm>
            <a:off x="10532715" y="7531894"/>
            <a:ext cx="2042071" cy="1659731"/>
          </a:xfrm>
          <a:prstGeom prst="rect">
            <a:avLst/>
          </a:prstGeom>
          <a:solidFill>
            <a:srgbClr val="241D17"/>
          </a:solidFill>
          <a:ln/>
        </p:spPr>
      </p:sp>
      <p:sp>
        <p:nvSpPr>
          <p:cNvPr id="74" name="Text 72"/>
          <p:cNvSpPr/>
          <p:nvPr/>
        </p:nvSpPr>
        <p:spPr>
          <a:xfrm>
            <a:off x="10685115" y="7684294"/>
            <a:ext cx="1910998"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T-18</a:t>
            </a:r>
            <a:endParaRPr lang="en-US" sz="1650" dirty="0"/>
          </a:p>
        </p:txBody>
      </p:sp>
      <p:sp>
        <p:nvSpPr>
          <p:cNvPr id="75" name="Text 73"/>
          <p:cNvSpPr/>
          <p:nvPr/>
        </p:nvSpPr>
        <p:spPr>
          <a:xfrm>
            <a:off x="10685115" y="8858250"/>
            <a:ext cx="1910998"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8 min</a:t>
            </a:r>
            <a:endParaRPr lang="en-US" sz="1275" dirty="0"/>
          </a:p>
        </p:txBody>
      </p:sp>
      <p:sp>
        <p:nvSpPr>
          <p:cNvPr id="76" name="Shape 74"/>
          <p:cNvSpPr/>
          <p:nvPr/>
        </p:nvSpPr>
        <p:spPr>
          <a:xfrm>
            <a:off x="12746236" y="7531894"/>
            <a:ext cx="2042220" cy="1659731"/>
          </a:xfrm>
          <a:prstGeom prst="rect">
            <a:avLst/>
          </a:prstGeom>
          <a:solidFill>
            <a:srgbClr val="E2D8C6"/>
          </a:solidFill>
          <a:ln/>
        </p:spPr>
      </p:sp>
      <p:sp>
        <p:nvSpPr>
          <p:cNvPr id="77" name="Text 75"/>
          <p:cNvSpPr/>
          <p:nvPr/>
        </p:nvSpPr>
        <p:spPr>
          <a:xfrm>
            <a:off x="12898636" y="7684294"/>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T-19</a:t>
            </a:r>
            <a:endParaRPr lang="en-US" sz="1650" dirty="0"/>
          </a:p>
        </p:txBody>
      </p:sp>
      <p:sp>
        <p:nvSpPr>
          <p:cNvPr id="78" name="Text 76"/>
          <p:cNvSpPr/>
          <p:nvPr/>
        </p:nvSpPr>
        <p:spPr>
          <a:xfrm>
            <a:off x="12898636" y="8858250"/>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6F6455"/>
                </a:solidFill>
                <a:latin typeface="Courier New" pitchFamily="34" charset="0"/>
                <a:ea typeface="Courier New" pitchFamily="34" charset="-122"/>
                <a:cs typeface="Courier New" pitchFamily="34" charset="-120"/>
              </a:rPr>
              <a:t>Cleaning</a:t>
            </a:r>
            <a:endParaRPr lang="en-US" sz="1275" dirty="0"/>
          </a:p>
        </p:txBody>
      </p:sp>
      <p:sp>
        <p:nvSpPr>
          <p:cNvPr id="79" name="Shape 77"/>
          <p:cNvSpPr/>
          <p:nvPr/>
        </p:nvSpPr>
        <p:spPr>
          <a:xfrm>
            <a:off x="14959905" y="7531894"/>
            <a:ext cx="2042220" cy="1659731"/>
          </a:xfrm>
          <a:prstGeom prst="rect">
            <a:avLst/>
          </a:prstGeom>
          <a:solidFill>
            <a:srgbClr val="241D17"/>
          </a:solidFill>
          <a:ln/>
        </p:spPr>
      </p:sp>
      <p:sp>
        <p:nvSpPr>
          <p:cNvPr id="80" name="Text 78"/>
          <p:cNvSpPr/>
          <p:nvPr/>
        </p:nvSpPr>
        <p:spPr>
          <a:xfrm>
            <a:off x="15112305" y="7684294"/>
            <a:ext cx="1911161" cy="276225"/>
          </a:xfrm>
          <a:prstGeom prst="rect">
            <a:avLst/>
          </a:prstGeom>
          <a:noFill/>
          <a:ln/>
        </p:spPr>
        <p:txBody>
          <a:bodyPr wrap="square" lIns="25400" tIns="25400" rIns="25400" bIns="25400" rtlCol="0" anchor="t">
            <a:normAutofit/>
          </a:bodyPr>
          <a:lstStyle/>
          <a:p>
            <a:pPr algn="l" indent="0" marL="0">
              <a:buNone/>
            </a:pPr>
            <a:r>
              <a:rPr lang="en-US" sz="1650" dirty="0">
                <a:solidFill>
                  <a:srgbClr val="F7F1E6"/>
                </a:solidFill>
                <a:latin typeface="Courier New" pitchFamily="34" charset="0"/>
                <a:ea typeface="Courier New" pitchFamily="34" charset="-122"/>
                <a:cs typeface="Courier New" pitchFamily="34" charset="-120"/>
              </a:rPr>
              <a:t>T-20</a:t>
            </a:r>
            <a:endParaRPr lang="en-US" sz="1650" dirty="0"/>
          </a:p>
        </p:txBody>
      </p:sp>
      <p:sp>
        <p:nvSpPr>
          <p:cNvPr id="81" name="Text 79"/>
          <p:cNvSpPr/>
          <p:nvPr/>
        </p:nvSpPr>
        <p:spPr>
          <a:xfrm>
            <a:off x="15112305" y="8858250"/>
            <a:ext cx="1911161" cy="219075"/>
          </a:xfrm>
          <a:prstGeom prst="rect">
            <a:avLst/>
          </a:prstGeom>
          <a:noFill/>
          <a:ln/>
        </p:spPr>
        <p:txBody>
          <a:bodyPr wrap="square" lIns="25400" tIns="25400" rIns="25400" bIns="25400" rtlCol="0" anchor="t">
            <a:normAutofit/>
          </a:bodyPr>
          <a:lstStyle/>
          <a:p>
            <a:pPr algn="l" indent="0" marL="0">
              <a:buNone/>
            </a:pPr>
            <a:r>
              <a:rPr lang="en-US" sz="1275" dirty="0">
                <a:solidFill>
                  <a:srgbClr val="B8862B"/>
                </a:solidFill>
                <a:latin typeface="Courier New" pitchFamily="34" charset="0"/>
                <a:ea typeface="Courier New" pitchFamily="34" charset="-122"/>
                <a:cs typeface="Courier New" pitchFamily="34" charset="-120"/>
              </a:rPr>
              <a:t>3 min</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AE0"/>
        </a:solidFill>
      </p:bgPr>
    </p:bg>
    <p:spTree>
      <p:nvGrpSpPr>
        <p:cNvPr id="1" name=""/>
        <p:cNvGrpSpPr/>
        <p:nvPr/>
      </p:nvGrpSpPr>
      <p:grpSpPr>
        <a:xfrm>
          <a:off x="0" y="0"/>
          <a:ext cx="0" cy="0"/>
          <a:chOff x="0" y="0"/>
          <a:chExt cx="0" cy="0"/>
        </a:xfrm>
      </p:grpSpPr>
      <p:sp>
        <p:nvSpPr>
          <p:cNvPr id="2" name="Text 0"/>
          <p:cNvSpPr/>
          <p:nvPr/>
        </p:nvSpPr>
        <p:spPr>
          <a:xfrm>
            <a:off x="952500" y="876300"/>
            <a:ext cx="440055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ON THE FLOOR</a:t>
            </a:r>
            <a:endParaRPr lang="en-US" sz="1425" dirty="0"/>
          </a:p>
        </p:txBody>
      </p:sp>
      <p:sp>
        <p:nvSpPr>
          <p:cNvPr id="3" name="Text 1"/>
          <p:cNvSpPr/>
          <p:nvPr/>
        </p:nvSpPr>
        <p:spPr>
          <a:xfrm>
            <a:off x="952500" y="1352550"/>
            <a:ext cx="4120515" cy="2933700"/>
          </a:xfrm>
          <a:prstGeom prst="rect">
            <a:avLst/>
          </a:prstGeom>
          <a:noFill/>
          <a:ln/>
        </p:spPr>
        <p:txBody>
          <a:bodyPr wrap="square" lIns="25400" tIns="25400" rIns="25400" bIns="25400" rtlCol="0" anchor="t">
            <a:normAutofit/>
          </a:bodyPr>
          <a:lstStyle/>
          <a:p>
            <a:pPr algn="l" indent="0" marL="0">
              <a:lnSpc>
                <a:spcPct val="87356"/>
              </a:lnSpc>
              <a:buNone/>
            </a:pPr>
            <a:r>
              <a:rPr lang="en-US" sz="5700" b="1" spc="-171" kern="0" dirty="0">
                <a:solidFill>
                  <a:srgbClr val="191512"/>
                </a:solidFill>
                <a:latin typeface="Arial" pitchFamily="34" charset="0"/>
                <a:ea typeface="Arial" pitchFamily="34" charset="-122"/>
                <a:cs typeface="Arial" pitchFamily="34" charset="-120"/>
              </a:rPr>
              <a:t>THE ORDER IS TAKEN ONCE.</a:t>
            </a:r>
            <a:endParaRPr lang="en-US" sz="5700" dirty="0"/>
          </a:p>
        </p:txBody>
      </p:sp>
      <p:sp>
        <p:nvSpPr>
          <p:cNvPr id="4" name="Text 2"/>
          <p:cNvSpPr/>
          <p:nvPr/>
        </p:nvSpPr>
        <p:spPr>
          <a:xfrm>
            <a:off x="952500" y="4514850"/>
            <a:ext cx="4120515" cy="1266825"/>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6F6455"/>
                </a:solidFill>
                <a:latin typeface="Arial" pitchFamily="34" charset="0"/>
                <a:ea typeface="Arial" pitchFamily="34" charset="-122"/>
                <a:cs typeface="Arial" pitchFamily="34" charset="-120"/>
              </a:rPr>
              <a:t>Two taps from the floor plan to a kitchen ticket. Notes travel with the dish.</a:t>
            </a:r>
            <a:endParaRPr lang="en-US" sz="2250" dirty="0"/>
          </a:p>
        </p:txBody>
      </p:sp>
      <p:sp>
        <p:nvSpPr>
          <p:cNvPr id="5" name="Text 3"/>
          <p:cNvSpPr/>
          <p:nvPr/>
        </p:nvSpPr>
        <p:spPr>
          <a:xfrm>
            <a:off x="952500" y="8524875"/>
            <a:ext cx="44005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6F6455"/>
                </a:solidFill>
                <a:latin typeface="Courier New" pitchFamily="34" charset="0"/>
                <a:ea typeface="Courier New" pitchFamily="34" charset="-122"/>
                <a:cs typeface="Courier New" pitchFamily="34" charset="-120"/>
              </a:rPr>
              <a:t>— No paper slips</a:t>
            </a:r>
            <a:endParaRPr lang="en-US" sz="1575" dirty="0"/>
          </a:p>
        </p:txBody>
      </p:sp>
      <p:sp>
        <p:nvSpPr>
          <p:cNvPr id="6" name="Text 4"/>
          <p:cNvSpPr/>
          <p:nvPr/>
        </p:nvSpPr>
        <p:spPr>
          <a:xfrm>
            <a:off x="952500" y="8915400"/>
            <a:ext cx="44005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6F6455"/>
                </a:solidFill>
                <a:latin typeface="Courier New" pitchFamily="34" charset="0"/>
                <a:ea typeface="Courier New" pitchFamily="34" charset="-122"/>
                <a:cs typeface="Courier New" pitchFamily="34" charset="-120"/>
              </a:rPr>
              <a:t>— No re-typing at the counter</a:t>
            </a:r>
            <a:endParaRPr lang="en-US" sz="1575" dirty="0"/>
          </a:p>
        </p:txBody>
      </p:sp>
      <p:sp>
        <p:nvSpPr>
          <p:cNvPr id="7" name="Text 5"/>
          <p:cNvSpPr/>
          <p:nvPr/>
        </p:nvSpPr>
        <p:spPr>
          <a:xfrm>
            <a:off x="952500" y="9305925"/>
            <a:ext cx="4400550" cy="257175"/>
          </a:xfrm>
          <a:prstGeom prst="rect">
            <a:avLst/>
          </a:prstGeom>
          <a:noFill/>
          <a:ln/>
        </p:spPr>
        <p:txBody>
          <a:bodyPr wrap="square" lIns="25400" tIns="25400" rIns="25400" bIns="25400" rtlCol="0" anchor="t">
            <a:normAutofit/>
          </a:bodyPr>
          <a:lstStyle/>
          <a:p>
            <a:pPr algn="l" indent="0" marL="0">
              <a:buNone/>
            </a:pPr>
            <a:r>
              <a:rPr lang="en-US" sz="1575" dirty="0">
                <a:solidFill>
                  <a:srgbClr val="6F6455"/>
                </a:solidFill>
                <a:latin typeface="Courier New" pitchFamily="34" charset="0"/>
                <a:ea typeface="Courier New" pitchFamily="34" charset="-122"/>
                <a:cs typeface="Courier New" pitchFamily="34" charset="-120"/>
              </a:rPr>
              <a:t>— No lost modifications</a:t>
            </a:r>
            <a:endParaRPr lang="en-US" sz="1575" dirty="0"/>
          </a:p>
        </p:txBody>
      </p:sp>
      <p:sp>
        <p:nvSpPr>
          <p:cNvPr id="8" name="Shape 6"/>
          <p:cNvSpPr/>
          <p:nvPr/>
        </p:nvSpPr>
        <p:spPr>
          <a:xfrm>
            <a:off x="6848475" y="1257300"/>
            <a:ext cx="4362450" cy="7886700"/>
          </a:xfrm>
          <a:prstGeom prst="roundRect">
            <a:avLst>
              <a:gd name="adj" fmla="val 8297"/>
            </a:avLst>
          </a:prstGeom>
          <a:solidFill>
            <a:srgbClr val="14100D"/>
          </a:solidFill>
          <a:ln/>
          <a:effectLst>
            <a:outerShdw sx="100000" sy="100000" kx="0" ky="0" algn="bl" rotWithShape="0" blurRad="666750" dist="285750" dir="5400000">
              <a:srgbClr val="1E160C">
                <a:alpha val="22000"/>
              </a:srgbClr>
            </a:outerShdw>
          </a:effectLst>
        </p:spPr>
      </p:sp>
      <p:sp>
        <p:nvSpPr>
          <p:cNvPr id="9" name="Shape 7"/>
          <p:cNvSpPr/>
          <p:nvPr/>
        </p:nvSpPr>
        <p:spPr>
          <a:xfrm>
            <a:off x="6981825" y="1390650"/>
            <a:ext cx="4095750" cy="7620000"/>
          </a:xfrm>
          <a:prstGeom prst="roundRect">
            <a:avLst>
              <a:gd name="adj" fmla="val 6047"/>
            </a:avLst>
          </a:prstGeom>
          <a:solidFill>
            <a:srgbClr val="FBF8F3"/>
          </a:solidFill>
          <a:ln/>
        </p:spPr>
      </p:sp>
      <p:sp>
        <p:nvSpPr>
          <p:cNvPr id="10" name="Shape 8"/>
          <p:cNvSpPr/>
          <p:nvPr/>
        </p:nvSpPr>
        <p:spPr>
          <a:xfrm>
            <a:off x="6981825" y="2400300"/>
            <a:ext cx="4095750" cy="9525"/>
          </a:xfrm>
          <a:prstGeom prst="rect">
            <a:avLst/>
          </a:prstGeom>
          <a:solidFill>
            <a:srgbClr val="EDE5D9"/>
          </a:solidFill>
          <a:ln/>
        </p:spPr>
      </p:sp>
      <p:sp>
        <p:nvSpPr>
          <p:cNvPr id="11" name="Text 9"/>
          <p:cNvSpPr/>
          <p:nvPr/>
        </p:nvSpPr>
        <p:spPr>
          <a:xfrm>
            <a:off x="7229475" y="1657350"/>
            <a:ext cx="3960495"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A8F82"/>
                </a:solidFill>
                <a:latin typeface="Courier New" pitchFamily="34" charset="0"/>
                <a:ea typeface="Courier New" pitchFamily="34" charset="-122"/>
                <a:cs typeface="Courier New" pitchFamily="34" charset="-120"/>
              </a:rPr>
              <a:t>KENT'S — FLOOR</a:t>
            </a:r>
            <a:endParaRPr lang="en-US" sz="1200" dirty="0"/>
          </a:p>
        </p:txBody>
      </p:sp>
      <p:sp>
        <p:nvSpPr>
          <p:cNvPr id="12" name="Text 10"/>
          <p:cNvSpPr/>
          <p:nvPr/>
        </p:nvSpPr>
        <p:spPr>
          <a:xfrm>
            <a:off x="7229475" y="1885950"/>
            <a:ext cx="3960495"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91512"/>
                </a:solidFill>
                <a:latin typeface="Arial" pitchFamily="34" charset="0"/>
                <a:ea typeface="Arial" pitchFamily="34" charset="-122"/>
                <a:cs typeface="Arial" pitchFamily="34" charset="-120"/>
              </a:rPr>
              <a:t>Ravi · Section A</a:t>
            </a:r>
            <a:endParaRPr lang="en-US" sz="2250" dirty="0"/>
          </a:p>
        </p:txBody>
      </p:sp>
      <p:sp>
        <p:nvSpPr>
          <p:cNvPr id="13" name="Shape 11"/>
          <p:cNvSpPr/>
          <p:nvPr/>
        </p:nvSpPr>
        <p:spPr>
          <a:xfrm>
            <a:off x="7229475" y="2619375"/>
            <a:ext cx="3600450" cy="685800"/>
          </a:xfrm>
          <a:prstGeom prst="rect">
            <a:avLst/>
          </a:prstGeom>
          <a:solidFill>
            <a:srgbClr val="FFFFFF"/>
          </a:solidFill>
          <a:ln w="9525">
            <a:solidFill>
              <a:srgbClr val="E0D6C6"/>
            </a:solidFill>
            <a:prstDash val="solid"/>
          </a:ln>
        </p:spPr>
      </p:sp>
      <p:sp>
        <p:nvSpPr>
          <p:cNvPr id="14" name="Text 12"/>
          <p:cNvSpPr/>
          <p:nvPr/>
        </p:nvSpPr>
        <p:spPr>
          <a:xfrm>
            <a:off x="7429500" y="2819400"/>
            <a:ext cx="67076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91512"/>
                </a:solidFill>
                <a:latin typeface="Courier New" pitchFamily="34" charset="0"/>
                <a:ea typeface="Courier New" pitchFamily="34" charset="-122"/>
                <a:cs typeface="Courier New" pitchFamily="34" charset="-120"/>
              </a:rPr>
              <a:t>T-01</a:t>
            </a:r>
            <a:endParaRPr lang="en-US" sz="1950" dirty="0"/>
          </a:p>
        </p:txBody>
      </p:sp>
      <p:sp>
        <p:nvSpPr>
          <p:cNvPr id="15" name="Text 13"/>
          <p:cNvSpPr/>
          <p:nvPr/>
        </p:nvSpPr>
        <p:spPr>
          <a:xfrm>
            <a:off x="9703891" y="2867025"/>
            <a:ext cx="100220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Available</a:t>
            </a:r>
            <a:endParaRPr lang="en-US" sz="1350" dirty="0"/>
          </a:p>
        </p:txBody>
      </p:sp>
      <p:sp>
        <p:nvSpPr>
          <p:cNvPr id="16" name="Shape 14"/>
          <p:cNvSpPr/>
          <p:nvPr/>
        </p:nvSpPr>
        <p:spPr>
          <a:xfrm>
            <a:off x="7229475" y="3438525"/>
            <a:ext cx="3600450" cy="666750"/>
          </a:xfrm>
          <a:prstGeom prst="rect">
            <a:avLst/>
          </a:prstGeom>
          <a:solidFill>
            <a:srgbClr val="241D17"/>
          </a:solidFill>
          <a:ln/>
        </p:spPr>
      </p:sp>
      <p:sp>
        <p:nvSpPr>
          <p:cNvPr id="17" name="Text 15"/>
          <p:cNvSpPr/>
          <p:nvPr/>
        </p:nvSpPr>
        <p:spPr>
          <a:xfrm>
            <a:off x="7419975" y="3629025"/>
            <a:ext cx="67076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F7F1E6"/>
                </a:solidFill>
                <a:latin typeface="Courier New" pitchFamily="34" charset="0"/>
                <a:ea typeface="Courier New" pitchFamily="34" charset="-122"/>
                <a:cs typeface="Courier New" pitchFamily="34" charset="-120"/>
              </a:rPr>
              <a:t>T-02</a:t>
            </a:r>
            <a:endParaRPr lang="en-US" sz="1950" dirty="0"/>
          </a:p>
        </p:txBody>
      </p:sp>
      <p:sp>
        <p:nvSpPr>
          <p:cNvPr id="18" name="Text 16"/>
          <p:cNvSpPr/>
          <p:nvPr/>
        </p:nvSpPr>
        <p:spPr>
          <a:xfrm>
            <a:off x="9404747" y="3676650"/>
            <a:ext cx="1358146" cy="228600"/>
          </a:xfrm>
          <a:prstGeom prst="rect">
            <a:avLst/>
          </a:prstGeom>
          <a:noFill/>
          <a:ln/>
        </p:spPr>
        <p:txBody>
          <a:bodyPr wrap="square" lIns="25400" tIns="25400" rIns="25400" bIns="25400" rtlCol="0" anchor="t">
            <a:normAutofit/>
          </a:bodyPr>
          <a:lstStyle/>
          <a:p>
            <a:pPr algn="l" indent="0" marL="0">
              <a:buNone/>
            </a:pPr>
            <a:r>
              <a:rPr lang="en-US" sz="1350" dirty="0">
                <a:solidFill>
                  <a:srgbClr val="B8862B"/>
                </a:solidFill>
                <a:latin typeface="Courier New" pitchFamily="34" charset="0"/>
                <a:ea typeface="Courier New" pitchFamily="34" charset="-122"/>
                <a:cs typeface="Courier New" pitchFamily="34" charset="-120"/>
              </a:rPr>
              <a:t>Served · 42m</a:t>
            </a:r>
            <a:endParaRPr lang="en-US" sz="1350" dirty="0"/>
          </a:p>
        </p:txBody>
      </p:sp>
      <p:sp>
        <p:nvSpPr>
          <p:cNvPr id="19" name="Shape 17"/>
          <p:cNvSpPr/>
          <p:nvPr/>
        </p:nvSpPr>
        <p:spPr>
          <a:xfrm>
            <a:off x="7229475" y="4238625"/>
            <a:ext cx="3600450" cy="666750"/>
          </a:xfrm>
          <a:prstGeom prst="rect">
            <a:avLst/>
          </a:prstGeom>
          <a:solidFill>
            <a:srgbClr val="241D17"/>
          </a:solidFill>
          <a:ln/>
        </p:spPr>
      </p:sp>
      <p:sp>
        <p:nvSpPr>
          <p:cNvPr id="20" name="Text 18"/>
          <p:cNvSpPr/>
          <p:nvPr/>
        </p:nvSpPr>
        <p:spPr>
          <a:xfrm>
            <a:off x="7419975" y="4429125"/>
            <a:ext cx="67076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F7F1E6"/>
                </a:solidFill>
                <a:latin typeface="Courier New" pitchFamily="34" charset="0"/>
                <a:ea typeface="Courier New" pitchFamily="34" charset="-122"/>
                <a:cs typeface="Courier New" pitchFamily="34" charset="-120"/>
              </a:rPr>
              <a:t>T-03</a:t>
            </a:r>
            <a:endParaRPr lang="en-US" sz="1950" dirty="0"/>
          </a:p>
        </p:txBody>
      </p:sp>
      <p:sp>
        <p:nvSpPr>
          <p:cNvPr id="21" name="Text 19"/>
          <p:cNvSpPr/>
          <p:nvPr/>
        </p:nvSpPr>
        <p:spPr>
          <a:xfrm>
            <a:off x="9713416" y="4476750"/>
            <a:ext cx="100220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B8862B"/>
                </a:solidFill>
                <a:latin typeface="Courier New" pitchFamily="34" charset="0"/>
                <a:ea typeface="Courier New" pitchFamily="34" charset="-122"/>
                <a:cs typeface="Courier New" pitchFamily="34" charset="-120"/>
              </a:rPr>
              <a:t>Preparing</a:t>
            </a:r>
            <a:endParaRPr lang="en-US" sz="1350" dirty="0"/>
          </a:p>
        </p:txBody>
      </p:sp>
      <p:sp>
        <p:nvSpPr>
          <p:cNvPr id="22" name="Shape 20"/>
          <p:cNvSpPr/>
          <p:nvPr/>
        </p:nvSpPr>
        <p:spPr>
          <a:xfrm>
            <a:off x="7229475" y="5038725"/>
            <a:ext cx="3600450" cy="685800"/>
          </a:xfrm>
          <a:prstGeom prst="rect">
            <a:avLst/>
          </a:prstGeom>
          <a:solidFill>
            <a:srgbClr val="FFFFFF"/>
          </a:solidFill>
          <a:ln w="9525">
            <a:solidFill>
              <a:srgbClr val="E0D6C6"/>
            </a:solidFill>
            <a:prstDash val="solid"/>
          </a:ln>
        </p:spPr>
      </p:sp>
      <p:sp>
        <p:nvSpPr>
          <p:cNvPr id="23" name="Text 21"/>
          <p:cNvSpPr/>
          <p:nvPr/>
        </p:nvSpPr>
        <p:spPr>
          <a:xfrm>
            <a:off x="7429500" y="5238750"/>
            <a:ext cx="67076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91512"/>
                </a:solidFill>
                <a:latin typeface="Courier New" pitchFamily="34" charset="0"/>
                <a:ea typeface="Courier New" pitchFamily="34" charset="-122"/>
                <a:cs typeface="Courier New" pitchFamily="34" charset="-120"/>
              </a:rPr>
              <a:t>T-04</a:t>
            </a:r>
            <a:endParaRPr lang="en-US" sz="1950" dirty="0"/>
          </a:p>
        </p:txBody>
      </p:sp>
      <p:sp>
        <p:nvSpPr>
          <p:cNvPr id="24" name="Text 22"/>
          <p:cNvSpPr/>
          <p:nvPr/>
        </p:nvSpPr>
        <p:spPr>
          <a:xfrm>
            <a:off x="9703891" y="5286375"/>
            <a:ext cx="100220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Available</a:t>
            </a:r>
            <a:endParaRPr lang="en-US" sz="1350" dirty="0"/>
          </a:p>
        </p:txBody>
      </p:sp>
      <p:sp>
        <p:nvSpPr>
          <p:cNvPr id="25" name="Shape 23"/>
          <p:cNvSpPr/>
          <p:nvPr/>
        </p:nvSpPr>
        <p:spPr>
          <a:xfrm>
            <a:off x="7229475" y="5857875"/>
            <a:ext cx="3600450" cy="704850"/>
          </a:xfrm>
          <a:prstGeom prst="rect">
            <a:avLst/>
          </a:prstGeom>
          <a:solidFill>
            <a:srgbClr val="B8862B">
              <a:alpha val="10000"/>
            </a:srgbClr>
          </a:solidFill>
          <a:ln w="19050">
            <a:solidFill>
              <a:srgbClr val="B8862B"/>
            </a:solidFill>
            <a:prstDash val="solid"/>
          </a:ln>
        </p:spPr>
      </p:sp>
      <p:sp>
        <p:nvSpPr>
          <p:cNvPr id="26" name="Text 24"/>
          <p:cNvSpPr/>
          <p:nvPr/>
        </p:nvSpPr>
        <p:spPr>
          <a:xfrm>
            <a:off x="7439025" y="6067425"/>
            <a:ext cx="67076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91512"/>
                </a:solidFill>
                <a:latin typeface="Courier New" pitchFamily="34" charset="0"/>
                <a:ea typeface="Courier New" pitchFamily="34" charset="-122"/>
                <a:cs typeface="Courier New" pitchFamily="34" charset="-120"/>
              </a:rPr>
              <a:t>T-05</a:t>
            </a:r>
            <a:endParaRPr lang="en-US" sz="1950" dirty="0"/>
          </a:p>
        </p:txBody>
      </p:sp>
      <p:sp>
        <p:nvSpPr>
          <p:cNvPr id="27" name="Text 25"/>
          <p:cNvSpPr/>
          <p:nvPr/>
        </p:nvSpPr>
        <p:spPr>
          <a:xfrm>
            <a:off x="9179868" y="6115050"/>
            <a:ext cx="1584558" cy="228600"/>
          </a:xfrm>
          <a:prstGeom prst="rect">
            <a:avLst/>
          </a:prstGeom>
          <a:noFill/>
          <a:ln/>
        </p:spPr>
        <p:txBody>
          <a:bodyPr wrap="square" lIns="25400" tIns="25400" rIns="25400" bIns="25400" rtlCol="0" anchor="t">
            <a:normAutofit/>
          </a:bodyPr>
          <a:lstStyle/>
          <a:p>
            <a:pPr algn="l" indent="0" marL="0">
              <a:buNone/>
            </a:pPr>
            <a:r>
              <a:rPr lang="en-US" sz="1350" dirty="0">
                <a:solidFill>
                  <a:srgbClr val="B8862B"/>
                </a:solidFill>
                <a:latin typeface="Courier New" pitchFamily="34" charset="0"/>
                <a:ea typeface="Courier New" pitchFamily="34" charset="-122"/>
                <a:cs typeface="Courier New" pitchFamily="34" charset="-120"/>
              </a:rPr>
              <a:t>Reserved 21:00</a:t>
            </a:r>
            <a:endParaRPr lang="en-US" sz="1350" dirty="0"/>
          </a:p>
        </p:txBody>
      </p:sp>
      <p:sp>
        <p:nvSpPr>
          <p:cNvPr id="28" name="Shape 26"/>
          <p:cNvSpPr/>
          <p:nvPr/>
        </p:nvSpPr>
        <p:spPr>
          <a:xfrm>
            <a:off x="6981825" y="8391525"/>
            <a:ext cx="4095750" cy="9525"/>
          </a:xfrm>
          <a:prstGeom prst="rect">
            <a:avLst/>
          </a:prstGeom>
          <a:solidFill>
            <a:srgbClr val="EDE5D9"/>
          </a:solidFill>
          <a:ln/>
        </p:spPr>
      </p:sp>
      <p:sp>
        <p:nvSpPr>
          <p:cNvPr id="29" name="Text 27"/>
          <p:cNvSpPr/>
          <p:nvPr/>
        </p:nvSpPr>
        <p:spPr>
          <a:xfrm>
            <a:off x="7229475" y="8610600"/>
            <a:ext cx="59069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Floor</a:t>
            </a:r>
            <a:endParaRPr lang="en-US" sz="1350" dirty="0"/>
          </a:p>
        </p:txBody>
      </p:sp>
      <p:sp>
        <p:nvSpPr>
          <p:cNvPr id="30" name="Text 28"/>
          <p:cNvSpPr/>
          <p:nvPr/>
        </p:nvSpPr>
        <p:spPr>
          <a:xfrm>
            <a:off x="8875365" y="8610600"/>
            <a:ext cx="69353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B8862B"/>
                </a:solidFill>
                <a:latin typeface="Courier New" pitchFamily="34" charset="0"/>
                <a:ea typeface="Courier New" pitchFamily="34" charset="-122"/>
                <a:cs typeface="Courier New" pitchFamily="34" charset="-120"/>
              </a:rPr>
              <a:t>Orders</a:t>
            </a:r>
            <a:endParaRPr lang="en-US" sz="1350" dirty="0"/>
          </a:p>
        </p:txBody>
      </p:sp>
      <p:sp>
        <p:nvSpPr>
          <p:cNvPr id="31" name="Text 29"/>
          <p:cNvSpPr/>
          <p:nvPr/>
        </p:nvSpPr>
        <p:spPr>
          <a:xfrm>
            <a:off x="10624096" y="8610600"/>
            <a:ext cx="28202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Me</a:t>
            </a:r>
            <a:endParaRPr lang="en-US" sz="1350" dirty="0"/>
          </a:p>
        </p:txBody>
      </p:sp>
      <p:sp>
        <p:nvSpPr>
          <p:cNvPr id="32" name="Shape 30"/>
          <p:cNvSpPr/>
          <p:nvPr/>
        </p:nvSpPr>
        <p:spPr>
          <a:xfrm>
            <a:off x="11744325" y="1257300"/>
            <a:ext cx="4362450" cy="7886700"/>
          </a:xfrm>
          <a:prstGeom prst="roundRect">
            <a:avLst>
              <a:gd name="adj" fmla="val 8297"/>
            </a:avLst>
          </a:prstGeom>
          <a:solidFill>
            <a:srgbClr val="14100D"/>
          </a:solidFill>
          <a:ln/>
          <a:effectLst>
            <a:outerShdw sx="100000" sy="100000" kx="0" ky="0" algn="bl" rotWithShape="0" blurRad="666750" dist="285750" dir="5400000">
              <a:srgbClr val="1E160C">
                <a:alpha val="22000"/>
              </a:srgbClr>
            </a:outerShdw>
          </a:effectLst>
        </p:spPr>
      </p:sp>
      <p:sp>
        <p:nvSpPr>
          <p:cNvPr id="33" name="Shape 31"/>
          <p:cNvSpPr/>
          <p:nvPr/>
        </p:nvSpPr>
        <p:spPr>
          <a:xfrm>
            <a:off x="11877675" y="1390650"/>
            <a:ext cx="4095750" cy="7620000"/>
          </a:xfrm>
          <a:prstGeom prst="roundRect">
            <a:avLst>
              <a:gd name="adj" fmla="val 6047"/>
            </a:avLst>
          </a:prstGeom>
          <a:solidFill>
            <a:srgbClr val="FBF8F3"/>
          </a:solidFill>
          <a:ln/>
        </p:spPr>
      </p:sp>
      <p:sp>
        <p:nvSpPr>
          <p:cNvPr id="34" name="Shape 32"/>
          <p:cNvSpPr/>
          <p:nvPr/>
        </p:nvSpPr>
        <p:spPr>
          <a:xfrm>
            <a:off x="11877675" y="2171700"/>
            <a:ext cx="4095750" cy="9525"/>
          </a:xfrm>
          <a:prstGeom prst="rect">
            <a:avLst/>
          </a:prstGeom>
          <a:solidFill>
            <a:srgbClr val="EDE5D9"/>
          </a:solidFill>
          <a:ln/>
        </p:spPr>
      </p:sp>
      <p:sp>
        <p:nvSpPr>
          <p:cNvPr id="35" name="Text 33"/>
          <p:cNvSpPr/>
          <p:nvPr/>
        </p:nvSpPr>
        <p:spPr>
          <a:xfrm>
            <a:off x="12125325" y="1657350"/>
            <a:ext cx="176431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91512"/>
                </a:solidFill>
                <a:latin typeface="Arial" pitchFamily="34" charset="0"/>
                <a:ea typeface="Arial" pitchFamily="34" charset="-122"/>
                <a:cs typeface="Arial" pitchFamily="34" charset="-120"/>
              </a:rPr>
              <a:t>T-12 · Order</a:t>
            </a:r>
            <a:endParaRPr lang="en-US" sz="2250" dirty="0"/>
          </a:p>
        </p:txBody>
      </p:sp>
      <p:sp>
        <p:nvSpPr>
          <p:cNvPr id="36" name="Text 34"/>
          <p:cNvSpPr/>
          <p:nvPr/>
        </p:nvSpPr>
        <p:spPr>
          <a:xfrm>
            <a:off x="15211276" y="1724025"/>
            <a:ext cx="590699"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4 pax</a:t>
            </a:r>
            <a:endParaRPr lang="en-US" sz="1350" dirty="0"/>
          </a:p>
        </p:txBody>
      </p:sp>
      <p:sp>
        <p:nvSpPr>
          <p:cNvPr id="37" name="Shape 35"/>
          <p:cNvSpPr/>
          <p:nvPr/>
        </p:nvSpPr>
        <p:spPr>
          <a:xfrm>
            <a:off x="11877675" y="2667000"/>
            <a:ext cx="4095750" cy="9525"/>
          </a:xfrm>
          <a:prstGeom prst="rect">
            <a:avLst/>
          </a:prstGeom>
          <a:solidFill>
            <a:srgbClr val="EDE5D9"/>
          </a:solidFill>
          <a:ln/>
        </p:spPr>
      </p:sp>
      <p:sp>
        <p:nvSpPr>
          <p:cNvPr id="38" name="Shape 36"/>
          <p:cNvSpPr/>
          <p:nvPr/>
        </p:nvSpPr>
        <p:spPr>
          <a:xfrm>
            <a:off x="11877675" y="2647950"/>
            <a:ext cx="1023938" cy="19050"/>
          </a:xfrm>
          <a:prstGeom prst="rect">
            <a:avLst/>
          </a:prstGeom>
          <a:solidFill>
            <a:srgbClr val="B8862B"/>
          </a:solidFill>
          <a:ln/>
        </p:spPr>
      </p:sp>
      <p:sp>
        <p:nvSpPr>
          <p:cNvPr id="39" name="Text 37"/>
          <p:cNvSpPr/>
          <p:nvPr/>
        </p:nvSpPr>
        <p:spPr>
          <a:xfrm>
            <a:off x="11839575" y="2333625"/>
            <a:ext cx="1100138" cy="200025"/>
          </a:xfrm>
          <a:prstGeom prst="rect">
            <a:avLst/>
          </a:prstGeom>
          <a:noFill/>
          <a:ln/>
        </p:spPr>
        <p:txBody>
          <a:bodyPr wrap="square" lIns="25400" tIns="25400" rIns="25400" bIns="25400" rtlCol="0" anchor="t">
            <a:normAutofit/>
          </a:bodyPr>
          <a:lstStyle/>
          <a:p>
            <a:pPr algn="ctr" indent="0" marL="0">
              <a:buNone/>
            </a:pPr>
            <a:r>
              <a:rPr lang="en-US" sz="1125" spc="90" kern="0" dirty="0">
                <a:solidFill>
                  <a:srgbClr val="14100D"/>
                </a:solidFill>
                <a:latin typeface="Courier New" pitchFamily="34" charset="0"/>
                <a:ea typeface="Courier New" pitchFamily="34" charset="-122"/>
                <a:cs typeface="Courier New" pitchFamily="34" charset="-120"/>
              </a:rPr>
              <a:t>STARTERS</a:t>
            </a:r>
            <a:endParaRPr lang="en-US" sz="1125" dirty="0"/>
          </a:p>
        </p:txBody>
      </p:sp>
      <p:sp>
        <p:nvSpPr>
          <p:cNvPr id="40" name="Text 38"/>
          <p:cNvSpPr/>
          <p:nvPr/>
        </p:nvSpPr>
        <p:spPr>
          <a:xfrm>
            <a:off x="12863513" y="2333625"/>
            <a:ext cx="1100138" cy="219075"/>
          </a:xfrm>
          <a:prstGeom prst="rect">
            <a:avLst/>
          </a:prstGeom>
          <a:noFill/>
          <a:ln/>
        </p:spPr>
        <p:txBody>
          <a:bodyPr wrap="square" lIns="25400" tIns="25400" rIns="25400" bIns="25400" rtlCol="0" anchor="t">
            <a:normAutofit/>
          </a:bodyPr>
          <a:lstStyle/>
          <a:p>
            <a:pPr algn="ctr" indent="0" marL="0">
              <a:buNone/>
            </a:pPr>
            <a:r>
              <a:rPr lang="en-US" sz="1125" spc="90" kern="0" dirty="0">
                <a:solidFill>
                  <a:srgbClr val="9A8F82"/>
                </a:solidFill>
                <a:latin typeface="Courier New" pitchFamily="34" charset="0"/>
                <a:ea typeface="Courier New" pitchFamily="34" charset="-122"/>
                <a:cs typeface="Courier New" pitchFamily="34" charset="-120"/>
              </a:rPr>
              <a:t>MAINS</a:t>
            </a:r>
            <a:endParaRPr lang="en-US" sz="1125" dirty="0"/>
          </a:p>
        </p:txBody>
      </p:sp>
      <p:sp>
        <p:nvSpPr>
          <p:cNvPr id="41" name="Text 39"/>
          <p:cNvSpPr/>
          <p:nvPr/>
        </p:nvSpPr>
        <p:spPr>
          <a:xfrm>
            <a:off x="13887450" y="2333625"/>
            <a:ext cx="1100138" cy="219075"/>
          </a:xfrm>
          <a:prstGeom prst="rect">
            <a:avLst/>
          </a:prstGeom>
          <a:noFill/>
          <a:ln/>
        </p:spPr>
        <p:txBody>
          <a:bodyPr wrap="square" lIns="25400" tIns="25400" rIns="25400" bIns="25400" rtlCol="0" anchor="t">
            <a:normAutofit/>
          </a:bodyPr>
          <a:lstStyle/>
          <a:p>
            <a:pPr algn="ctr" indent="0" marL="0">
              <a:buNone/>
            </a:pPr>
            <a:r>
              <a:rPr lang="en-US" sz="1125" spc="90" kern="0" dirty="0">
                <a:solidFill>
                  <a:srgbClr val="9A8F82"/>
                </a:solidFill>
                <a:latin typeface="Courier New" pitchFamily="34" charset="0"/>
                <a:ea typeface="Courier New" pitchFamily="34" charset="-122"/>
                <a:cs typeface="Courier New" pitchFamily="34" charset="-120"/>
              </a:rPr>
              <a:t>BREADS</a:t>
            </a:r>
            <a:endParaRPr lang="en-US" sz="1125" dirty="0"/>
          </a:p>
        </p:txBody>
      </p:sp>
      <p:sp>
        <p:nvSpPr>
          <p:cNvPr id="42" name="Text 40"/>
          <p:cNvSpPr/>
          <p:nvPr/>
        </p:nvSpPr>
        <p:spPr>
          <a:xfrm>
            <a:off x="14911387" y="2333625"/>
            <a:ext cx="1100138" cy="219075"/>
          </a:xfrm>
          <a:prstGeom prst="rect">
            <a:avLst/>
          </a:prstGeom>
          <a:noFill/>
          <a:ln/>
        </p:spPr>
        <p:txBody>
          <a:bodyPr wrap="square" lIns="25400" tIns="25400" rIns="25400" bIns="25400" rtlCol="0" anchor="t">
            <a:normAutofit/>
          </a:bodyPr>
          <a:lstStyle/>
          <a:p>
            <a:pPr algn="ctr" indent="0" marL="0">
              <a:buNone/>
            </a:pPr>
            <a:r>
              <a:rPr lang="en-US" sz="1125" spc="90" kern="0" dirty="0">
                <a:solidFill>
                  <a:srgbClr val="9A8F82"/>
                </a:solidFill>
                <a:latin typeface="Courier New" pitchFamily="34" charset="0"/>
                <a:ea typeface="Courier New" pitchFamily="34" charset="-122"/>
                <a:cs typeface="Courier New" pitchFamily="34" charset="-120"/>
              </a:rPr>
              <a:t>BEVS</a:t>
            </a:r>
            <a:endParaRPr lang="en-US" sz="1125" dirty="0"/>
          </a:p>
        </p:txBody>
      </p:sp>
      <p:sp>
        <p:nvSpPr>
          <p:cNvPr id="43" name="Shape 41"/>
          <p:cNvSpPr/>
          <p:nvPr/>
        </p:nvSpPr>
        <p:spPr>
          <a:xfrm>
            <a:off x="12125325" y="2867025"/>
            <a:ext cx="3600450" cy="819150"/>
          </a:xfrm>
          <a:prstGeom prst="rect">
            <a:avLst/>
          </a:prstGeom>
          <a:solidFill>
            <a:srgbClr val="FFFFFF"/>
          </a:solidFill>
          <a:ln w="9525">
            <a:solidFill>
              <a:srgbClr val="E0D6C6"/>
            </a:solidFill>
            <a:prstDash val="solid"/>
          </a:ln>
        </p:spPr>
      </p:sp>
      <p:sp>
        <p:nvSpPr>
          <p:cNvPr id="44" name="Text 42"/>
          <p:cNvSpPr/>
          <p:nvPr/>
        </p:nvSpPr>
        <p:spPr>
          <a:xfrm>
            <a:off x="12306300" y="3028950"/>
            <a:ext cx="1580629" cy="295275"/>
          </a:xfrm>
          <a:prstGeom prst="rect">
            <a:avLst/>
          </a:prstGeom>
          <a:noFill/>
          <a:ln/>
        </p:spPr>
        <p:txBody>
          <a:bodyPr wrap="square" lIns="25400" tIns="25400" rIns="25400" bIns="25400" rtlCol="0" anchor="t">
            <a:normAutofit/>
          </a:bodyPr>
          <a:lstStyle/>
          <a:p>
            <a:pPr algn="l" indent="0" marL="0">
              <a:buNone/>
            </a:pPr>
            <a:r>
              <a:rPr lang="en-US" sz="1725" dirty="0">
                <a:solidFill>
                  <a:srgbClr val="191512"/>
                </a:solidFill>
                <a:latin typeface="Arial" pitchFamily="34" charset="0"/>
                <a:ea typeface="Arial" pitchFamily="34" charset="-122"/>
                <a:cs typeface="Arial" pitchFamily="34" charset="-120"/>
              </a:rPr>
              <a:t>Butter Chicken</a:t>
            </a:r>
            <a:endParaRPr lang="en-US" sz="1725" dirty="0"/>
          </a:p>
        </p:txBody>
      </p:sp>
      <p:sp>
        <p:nvSpPr>
          <p:cNvPr id="45" name="Text 43"/>
          <p:cNvSpPr/>
          <p:nvPr/>
        </p:nvSpPr>
        <p:spPr>
          <a:xfrm>
            <a:off x="12306300" y="3324225"/>
            <a:ext cx="1580629" cy="238125"/>
          </a:xfrm>
          <a:prstGeom prst="rect">
            <a:avLst/>
          </a:prstGeom>
          <a:noFill/>
          <a:ln/>
        </p:spPr>
        <p:txBody>
          <a:bodyPr wrap="square" lIns="25400" tIns="25400" rIns="25400" bIns="25400" rtlCol="0" anchor="t">
            <a:normAutofit/>
          </a:bodyPr>
          <a:lstStyle/>
          <a:p>
            <a:pPr algn="l" indent="0" marL="0">
              <a:buNone/>
            </a:pPr>
            <a:r>
              <a:rPr lang="en-US" sz="1200" dirty="0">
                <a:solidFill>
                  <a:srgbClr val="9A8F82"/>
                </a:solidFill>
                <a:latin typeface="Courier New" pitchFamily="34" charset="0"/>
                <a:ea typeface="Courier New" pitchFamily="34" charset="-122"/>
                <a:cs typeface="Courier New" pitchFamily="34" charset="-120"/>
              </a:rPr>
              <a:t>₹620</a:t>
            </a:r>
            <a:endParaRPr lang="en-US" sz="1200" dirty="0"/>
          </a:p>
        </p:txBody>
      </p:sp>
      <p:sp>
        <p:nvSpPr>
          <p:cNvPr id="46" name="Shape 44"/>
          <p:cNvSpPr/>
          <p:nvPr/>
        </p:nvSpPr>
        <p:spPr>
          <a:xfrm>
            <a:off x="14485590" y="3105150"/>
            <a:ext cx="342900" cy="342900"/>
          </a:xfrm>
          <a:prstGeom prst="rect">
            <a:avLst/>
          </a:prstGeom>
          <a:ln w="9525">
            <a:solidFill>
              <a:srgbClr val="C9BEAC"/>
            </a:solidFill>
            <a:prstDash val="solid"/>
          </a:ln>
        </p:spPr>
      </p:sp>
      <p:sp>
        <p:nvSpPr>
          <p:cNvPr id="47" name="Text 45"/>
          <p:cNvSpPr/>
          <p:nvPr/>
        </p:nvSpPr>
        <p:spPr>
          <a:xfrm>
            <a:off x="14457015" y="311467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6F6455"/>
                </a:solidFill>
                <a:latin typeface="Arial" pitchFamily="34" charset="0"/>
                <a:ea typeface="Arial" pitchFamily="34" charset="-122"/>
                <a:cs typeface="Arial" pitchFamily="34" charset="-120"/>
              </a:rPr>
              <a:t>−</a:t>
            </a:r>
            <a:endParaRPr lang="en-US" sz="1500" dirty="0"/>
          </a:p>
        </p:txBody>
      </p:sp>
      <p:sp>
        <p:nvSpPr>
          <p:cNvPr id="48" name="Text 46"/>
          <p:cNvSpPr/>
          <p:nvPr/>
        </p:nvSpPr>
        <p:spPr>
          <a:xfrm>
            <a:off x="14961840" y="3157538"/>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2</a:t>
            </a:r>
            <a:endParaRPr lang="en-US" sz="1650" dirty="0"/>
          </a:p>
        </p:txBody>
      </p:sp>
      <p:sp>
        <p:nvSpPr>
          <p:cNvPr id="49" name="Shape 47"/>
          <p:cNvSpPr/>
          <p:nvPr/>
        </p:nvSpPr>
        <p:spPr>
          <a:xfrm>
            <a:off x="15220950" y="3114675"/>
            <a:ext cx="323850" cy="323850"/>
          </a:xfrm>
          <a:prstGeom prst="rect">
            <a:avLst/>
          </a:prstGeom>
          <a:solidFill>
            <a:srgbClr val="B8862B"/>
          </a:solidFill>
          <a:ln/>
        </p:spPr>
      </p:sp>
      <p:sp>
        <p:nvSpPr>
          <p:cNvPr id="50" name="Text 48"/>
          <p:cNvSpPr/>
          <p:nvPr/>
        </p:nvSpPr>
        <p:spPr>
          <a:xfrm>
            <a:off x="15182850" y="311467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14100D"/>
                </a:solidFill>
                <a:latin typeface="Arial" pitchFamily="34" charset="0"/>
                <a:ea typeface="Arial" pitchFamily="34" charset="-122"/>
                <a:cs typeface="Arial" pitchFamily="34" charset="-120"/>
              </a:rPr>
              <a:t>+</a:t>
            </a:r>
            <a:endParaRPr lang="en-US" sz="1500" dirty="0"/>
          </a:p>
        </p:txBody>
      </p:sp>
      <p:sp>
        <p:nvSpPr>
          <p:cNvPr id="51" name="Shape 49"/>
          <p:cNvSpPr/>
          <p:nvPr/>
        </p:nvSpPr>
        <p:spPr>
          <a:xfrm>
            <a:off x="12125325" y="3800475"/>
            <a:ext cx="3600450" cy="819150"/>
          </a:xfrm>
          <a:prstGeom prst="rect">
            <a:avLst/>
          </a:prstGeom>
          <a:solidFill>
            <a:srgbClr val="FFFFFF"/>
          </a:solidFill>
          <a:ln w="9525">
            <a:solidFill>
              <a:srgbClr val="E0D6C6"/>
            </a:solidFill>
            <a:prstDash val="solid"/>
          </a:ln>
        </p:spPr>
      </p:sp>
      <p:sp>
        <p:nvSpPr>
          <p:cNvPr id="52" name="Text 50"/>
          <p:cNvSpPr/>
          <p:nvPr/>
        </p:nvSpPr>
        <p:spPr>
          <a:xfrm>
            <a:off x="12306300" y="3962400"/>
            <a:ext cx="1339483" cy="295275"/>
          </a:xfrm>
          <a:prstGeom prst="rect">
            <a:avLst/>
          </a:prstGeom>
          <a:noFill/>
          <a:ln/>
        </p:spPr>
        <p:txBody>
          <a:bodyPr wrap="square" lIns="25400" tIns="25400" rIns="25400" bIns="25400" rtlCol="0" anchor="t">
            <a:normAutofit/>
          </a:bodyPr>
          <a:lstStyle/>
          <a:p>
            <a:pPr algn="l" indent="0" marL="0">
              <a:buNone/>
            </a:pPr>
            <a:r>
              <a:rPr lang="en-US" sz="1725" dirty="0">
                <a:solidFill>
                  <a:srgbClr val="191512"/>
                </a:solidFill>
                <a:latin typeface="Arial" pitchFamily="34" charset="0"/>
                <a:ea typeface="Arial" pitchFamily="34" charset="-122"/>
                <a:cs typeface="Arial" pitchFamily="34" charset="-120"/>
              </a:rPr>
              <a:t>Dal Makhani</a:t>
            </a:r>
            <a:endParaRPr lang="en-US" sz="1725" dirty="0"/>
          </a:p>
        </p:txBody>
      </p:sp>
      <p:sp>
        <p:nvSpPr>
          <p:cNvPr id="53" name="Text 51"/>
          <p:cNvSpPr/>
          <p:nvPr/>
        </p:nvSpPr>
        <p:spPr>
          <a:xfrm>
            <a:off x="12306300" y="4257675"/>
            <a:ext cx="1339483" cy="238125"/>
          </a:xfrm>
          <a:prstGeom prst="rect">
            <a:avLst/>
          </a:prstGeom>
          <a:noFill/>
          <a:ln/>
        </p:spPr>
        <p:txBody>
          <a:bodyPr wrap="square" lIns="25400" tIns="25400" rIns="25400" bIns="25400" rtlCol="0" anchor="t">
            <a:normAutofit/>
          </a:bodyPr>
          <a:lstStyle/>
          <a:p>
            <a:pPr algn="l" indent="0" marL="0">
              <a:buNone/>
            </a:pPr>
            <a:r>
              <a:rPr lang="en-US" sz="1200" dirty="0">
                <a:solidFill>
                  <a:srgbClr val="9A8F82"/>
                </a:solidFill>
                <a:latin typeface="Courier New" pitchFamily="34" charset="0"/>
                <a:ea typeface="Courier New" pitchFamily="34" charset="-122"/>
                <a:cs typeface="Courier New" pitchFamily="34" charset="-120"/>
              </a:rPr>
              <a:t>₹430</a:t>
            </a:r>
            <a:endParaRPr lang="en-US" sz="1200" dirty="0"/>
          </a:p>
        </p:txBody>
      </p:sp>
      <p:sp>
        <p:nvSpPr>
          <p:cNvPr id="54" name="Shape 52"/>
          <p:cNvSpPr/>
          <p:nvPr/>
        </p:nvSpPr>
        <p:spPr>
          <a:xfrm>
            <a:off x="14485590" y="4038600"/>
            <a:ext cx="342900" cy="342900"/>
          </a:xfrm>
          <a:prstGeom prst="rect">
            <a:avLst/>
          </a:prstGeom>
          <a:ln w="9525">
            <a:solidFill>
              <a:srgbClr val="C9BEAC"/>
            </a:solidFill>
            <a:prstDash val="solid"/>
          </a:ln>
        </p:spPr>
      </p:sp>
      <p:sp>
        <p:nvSpPr>
          <p:cNvPr id="55" name="Text 53"/>
          <p:cNvSpPr/>
          <p:nvPr/>
        </p:nvSpPr>
        <p:spPr>
          <a:xfrm>
            <a:off x="14457015" y="404812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6F6455"/>
                </a:solidFill>
                <a:latin typeface="Arial" pitchFamily="34" charset="0"/>
                <a:ea typeface="Arial" pitchFamily="34" charset="-122"/>
                <a:cs typeface="Arial" pitchFamily="34" charset="-120"/>
              </a:rPr>
              <a:t>−</a:t>
            </a:r>
            <a:endParaRPr lang="en-US" sz="1500" dirty="0"/>
          </a:p>
        </p:txBody>
      </p:sp>
      <p:sp>
        <p:nvSpPr>
          <p:cNvPr id="56" name="Text 54"/>
          <p:cNvSpPr/>
          <p:nvPr/>
        </p:nvSpPr>
        <p:spPr>
          <a:xfrm>
            <a:off x="14961840" y="4090987"/>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1</a:t>
            </a:r>
            <a:endParaRPr lang="en-US" sz="1650" dirty="0"/>
          </a:p>
        </p:txBody>
      </p:sp>
      <p:sp>
        <p:nvSpPr>
          <p:cNvPr id="57" name="Shape 55"/>
          <p:cNvSpPr/>
          <p:nvPr/>
        </p:nvSpPr>
        <p:spPr>
          <a:xfrm>
            <a:off x="15220950" y="4048125"/>
            <a:ext cx="323850" cy="323850"/>
          </a:xfrm>
          <a:prstGeom prst="rect">
            <a:avLst/>
          </a:prstGeom>
          <a:solidFill>
            <a:srgbClr val="B8862B"/>
          </a:solidFill>
          <a:ln/>
        </p:spPr>
      </p:sp>
      <p:sp>
        <p:nvSpPr>
          <p:cNvPr id="58" name="Text 56"/>
          <p:cNvSpPr/>
          <p:nvPr/>
        </p:nvSpPr>
        <p:spPr>
          <a:xfrm>
            <a:off x="15182850" y="404812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14100D"/>
                </a:solidFill>
                <a:latin typeface="Arial" pitchFamily="34" charset="0"/>
                <a:ea typeface="Arial" pitchFamily="34" charset="-122"/>
                <a:cs typeface="Arial" pitchFamily="34" charset="-120"/>
              </a:rPr>
              <a:t>+</a:t>
            </a:r>
            <a:endParaRPr lang="en-US" sz="1500" dirty="0"/>
          </a:p>
        </p:txBody>
      </p:sp>
      <p:sp>
        <p:nvSpPr>
          <p:cNvPr id="59" name="Shape 57"/>
          <p:cNvSpPr/>
          <p:nvPr/>
        </p:nvSpPr>
        <p:spPr>
          <a:xfrm>
            <a:off x="12125325" y="4733925"/>
            <a:ext cx="3600450" cy="819150"/>
          </a:xfrm>
          <a:prstGeom prst="rect">
            <a:avLst/>
          </a:prstGeom>
          <a:solidFill>
            <a:srgbClr val="FFFFFF"/>
          </a:solidFill>
          <a:ln w="9525">
            <a:solidFill>
              <a:srgbClr val="E0D6C6"/>
            </a:solidFill>
            <a:prstDash val="solid"/>
          </a:ln>
        </p:spPr>
      </p:sp>
      <p:sp>
        <p:nvSpPr>
          <p:cNvPr id="60" name="Text 58"/>
          <p:cNvSpPr/>
          <p:nvPr/>
        </p:nvSpPr>
        <p:spPr>
          <a:xfrm>
            <a:off x="12306300" y="4895850"/>
            <a:ext cx="124539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191512"/>
                </a:solidFill>
                <a:latin typeface="Arial" pitchFamily="34" charset="0"/>
                <a:ea typeface="Arial" pitchFamily="34" charset="-122"/>
                <a:cs typeface="Arial" pitchFamily="34" charset="-120"/>
              </a:rPr>
              <a:t>Butter Naan</a:t>
            </a:r>
            <a:endParaRPr lang="en-US" sz="1725" dirty="0"/>
          </a:p>
        </p:txBody>
      </p:sp>
      <p:sp>
        <p:nvSpPr>
          <p:cNvPr id="61" name="Text 59"/>
          <p:cNvSpPr/>
          <p:nvPr/>
        </p:nvSpPr>
        <p:spPr>
          <a:xfrm>
            <a:off x="12306300" y="5191125"/>
            <a:ext cx="1245394" cy="238125"/>
          </a:xfrm>
          <a:prstGeom prst="rect">
            <a:avLst/>
          </a:prstGeom>
          <a:noFill/>
          <a:ln/>
        </p:spPr>
        <p:txBody>
          <a:bodyPr wrap="square" lIns="25400" tIns="25400" rIns="25400" bIns="25400" rtlCol="0" anchor="t">
            <a:normAutofit/>
          </a:bodyPr>
          <a:lstStyle/>
          <a:p>
            <a:pPr algn="l" indent="0" marL="0">
              <a:buNone/>
            </a:pPr>
            <a:r>
              <a:rPr lang="en-US" sz="1200" dirty="0">
                <a:solidFill>
                  <a:srgbClr val="9A8F82"/>
                </a:solidFill>
                <a:latin typeface="Courier New" pitchFamily="34" charset="0"/>
                <a:ea typeface="Courier New" pitchFamily="34" charset="-122"/>
                <a:cs typeface="Courier New" pitchFamily="34" charset="-120"/>
              </a:rPr>
              <a:t>₹90</a:t>
            </a:r>
            <a:endParaRPr lang="en-US" sz="1200" dirty="0"/>
          </a:p>
        </p:txBody>
      </p:sp>
      <p:sp>
        <p:nvSpPr>
          <p:cNvPr id="62" name="Shape 60"/>
          <p:cNvSpPr/>
          <p:nvPr/>
        </p:nvSpPr>
        <p:spPr>
          <a:xfrm>
            <a:off x="14485590" y="4972050"/>
            <a:ext cx="342900" cy="342900"/>
          </a:xfrm>
          <a:prstGeom prst="rect">
            <a:avLst/>
          </a:prstGeom>
          <a:ln w="9525">
            <a:solidFill>
              <a:srgbClr val="C9BEAC"/>
            </a:solidFill>
            <a:prstDash val="solid"/>
          </a:ln>
        </p:spPr>
      </p:sp>
      <p:sp>
        <p:nvSpPr>
          <p:cNvPr id="63" name="Text 61"/>
          <p:cNvSpPr/>
          <p:nvPr/>
        </p:nvSpPr>
        <p:spPr>
          <a:xfrm>
            <a:off x="14457015" y="498157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6F6455"/>
                </a:solidFill>
                <a:latin typeface="Arial" pitchFamily="34" charset="0"/>
                <a:ea typeface="Arial" pitchFamily="34" charset="-122"/>
                <a:cs typeface="Arial" pitchFamily="34" charset="-120"/>
              </a:rPr>
              <a:t>−</a:t>
            </a:r>
            <a:endParaRPr lang="en-US" sz="1500" dirty="0"/>
          </a:p>
        </p:txBody>
      </p:sp>
      <p:sp>
        <p:nvSpPr>
          <p:cNvPr id="64" name="Text 62"/>
          <p:cNvSpPr/>
          <p:nvPr/>
        </p:nvSpPr>
        <p:spPr>
          <a:xfrm>
            <a:off x="14961840" y="5024438"/>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3</a:t>
            </a:r>
            <a:endParaRPr lang="en-US" sz="1650" dirty="0"/>
          </a:p>
        </p:txBody>
      </p:sp>
      <p:sp>
        <p:nvSpPr>
          <p:cNvPr id="65" name="Shape 63"/>
          <p:cNvSpPr/>
          <p:nvPr/>
        </p:nvSpPr>
        <p:spPr>
          <a:xfrm>
            <a:off x="15220950" y="4981575"/>
            <a:ext cx="323850" cy="323850"/>
          </a:xfrm>
          <a:prstGeom prst="rect">
            <a:avLst/>
          </a:prstGeom>
          <a:solidFill>
            <a:srgbClr val="B8862B"/>
          </a:solidFill>
          <a:ln/>
        </p:spPr>
      </p:sp>
      <p:sp>
        <p:nvSpPr>
          <p:cNvPr id="66" name="Text 64"/>
          <p:cNvSpPr/>
          <p:nvPr/>
        </p:nvSpPr>
        <p:spPr>
          <a:xfrm>
            <a:off x="15182850" y="498157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14100D"/>
                </a:solidFill>
                <a:latin typeface="Arial" pitchFamily="34" charset="0"/>
                <a:ea typeface="Arial" pitchFamily="34" charset="-122"/>
                <a:cs typeface="Arial" pitchFamily="34" charset="-120"/>
              </a:rPr>
              <a:t>+</a:t>
            </a:r>
            <a:endParaRPr lang="en-US" sz="1500" dirty="0"/>
          </a:p>
        </p:txBody>
      </p:sp>
      <p:sp>
        <p:nvSpPr>
          <p:cNvPr id="67" name="Shape 65"/>
          <p:cNvSpPr/>
          <p:nvPr/>
        </p:nvSpPr>
        <p:spPr>
          <a:xfrm>
            <a:off x="12125325" y="5667375"/>
            <a:ext cx="3600450" cy="819150"/>
          </a:xfrm>
          <a:prstGeom prst="rect">
            <a:avLst/>
          </a:prstGeom>
          <a:solidFill>
            <a:srgbClr val="FFFFFF"/>
          </a:solidFill>
          <a:ln w="9525">
            <a:solidFill>
              <a:srgbClr val="E0D6C6"/>
            </a:solidFill>
            <a:prstDash val="solid"/>
          </a:ln>
        </p:spPr>
      </p:sp>
      <p:sp>
        <p:nvSpPr>
          <p:cNvPr id="68" name="Text 66"/>
          <p:cNvSpPr/>
          <p:nvPr/>
        </p:nvSpPr>
        <p:spPr>
          <a:xfrm>
            <a:off x="12306300" y="5829300"/>
            <a:ext cx="587722" cy="295275"/>
          </a:xfrm>
          <a:prstGeom prst="rect">
            <a:avLst/>
          </a:prstGeom>
          <a:noFill/>
          <a:ln/>
        </p:spPr>
        <p:txBody>
          <a:bodyPr wrap="square" lIns="25400" tIns="25400" rIns="25400" bIns="25400" rtlCol="0" anchor="t">
            <a:normAutofit/>
          </a:bodyPr>
          <a:lstStyle/>
          <a:p>
            <a:pPr algn="l" indent="0" marL="0">
              <a:buNone/>
            </a:pPr>
            <a:r>
              <a:rPr lang="en-US" sz="1725" dirty="0">
                <a:solidFill>
                  <a:srgbClr val="191512"/>
                </a:solidFill>
                <a:latin typeface="Arial" pitchFamily="34" charset="0"/>
                <a:ea typeface="Arial" pitchFamily="34" charset="-122"/>
                <a:cs typeface="Arial" pitchFamily="34" charset="-120"/>
              </a:rPr>
              <a:t>Coke</a:t>
            </a:r>
            <a:endParaRPr lang="en-US" sz="1725" dirty="0"/>
          </a:p>
        </p:txBody>
      </p:sp>
      <p:sp>
        <p:nvSpPr>
          <p:cNvPr id="69" name="Text 67"/>
          <p:cNvSpPr/>
          <p:nvPr/>
        </p:nvSpPr>
        <p:spPr>
          <a:xfrm>
            <a:off x="12306300" y="6124575"/>
            <a:ext cx="587722" cy="238125"/>
          </a:xfrm>
          <a:prstGeom prst="rect">
            <a:avLst/>
          </a:prstGeom>
          <a:noFill/>
          <a:ln/>
        </p:spPr>
        <p:txBody>
          <a:bodyPr wrap="square" lIns="25400" tIns="25400" rIns="25400" bIns="25400" rtlCol="0" anchor="t">
            <a:normAutofit/>
          </a:bodyPr>
          <a:lstStyle/>
          <a:p>
            <a:pPr algn="l" indent="0" marL="0">
              <a:buNone/>
            </a:pPr>
            <a:r>
              <a:rPr lang="en-US" sz="1200" dirty="0">
                <a:solidFill>
                  <a:srgbClr val="9A8F82"/>
                </a:solidFill>
                <a:latin typeface="Courier New" pitchFamily="34" charset="0"/>
                <a:ea typeface="Courier New" pitchFamily="34" charset="-122"/>
                <a:cs typeface="Courier New" pitchFamily="34" charset="-120"/>
              </a:rPr>
              <a:t>₹120</a:t>
            </a:r>
            <a:endParaRPr lang="en-US" sz="1200" dirty="0"/>
          </a:p>
        </p:txBody>
      </p:sp>
      <p:sp>
        <p:nvSpPr>
          <p:cNvPr id="70" name="Shape 68"/>
          <p:cNvSpPr/>
          <p:nvPr/>
        </p:nvSpPr>
        <p:spPr>
          <a:xfrm>
            <a:off x="14485590" y="5905500"/>
            <a:ext cx="342900" cy="342900"/>
          </a:xfrm>
          <a:prstGeom prst="rect">
            <a:avLst/>
          </a:prstGeom>
          <a:ln w="9525">
            <a:solidFill>
              <a:srgbClr val="C9BEAC"/>
            </a:solidFill>
            <a:prstDash val="solid"/>
          </a:ln>
        </p:spPr>
      </p:sp>
      <p:sp>
        <p:nvSpPr>
          <p:cNvPr id="71" name="Text 69"/>
          <p:cNvSpPr/>
          <p:nvPr/>
        </p:nvSpPr>
        <p:spPr>
          <a:xfrm>
            <a:off x="14457015" y="591502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6F6455"/>
                </a:solidFill>
                <a:latin typeface="Arial" pitchFamily="34" charset="0"/>
                <a:ea typeface="Arial" pitchFamily="34" charset="-122"/>
                <a:cs typeface="Arial" pitchFamily="34" charset="-120"/>
              </a:rPr>
              <a:t>−</a:t>
            </a:r>
            <a:endParaRPr lang="en-US" sz="1500" dirty="0"/>
          </a:p>
        </p:txBody>
      </p:sp>
      <p:sp>
        <p:nvSpPr>
          <p:cNvPr id="72" name="Text 70"/>
          <p:cNvSpPr/>
          <p:nvPr/>
        </p:nvSpPr>
        <p:spPr>
          <a:xfrm>
            <a:off x="14961840" y="5957888"/>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191512"/>
                </a:solidFill>
                <a:latin typeface="Courier New" pitchFamily="34" charset="0"/>
                <a:ea typeface="Courier New" pitchFamily="34" charset="-122"/>
                <a:cs typeface="Courier New" pitchFamily="34" charset="-120"/>
              </a:rPr>
              <a:t>2</a:t>
            </a:r>
            <a:endParaRPr lang="en-US" sz="1650" dirty="0"/>
          </a:p>
        </p:txBody>
      </p:sp>
      <p:sp>
        <p:nvSpPr>
          <p:cNvPr id="73" name="Shape 71"/>
          <p:cNvSpPr/>
          <p:nvPr/>
        </p:nvSpPr>
        <p:spPr>
          <a:xfrm>
            <a:off x="15220950" y="5915025"/>
            <a:ext cx="323850" cy="323850"/>
          </a:xfrm>
          <a:prstGeom prst="rect">
            <a:avLst/>
          </a:prstGeom>
          <a:solidFill>
            <a:srgbClr val="B8862B"/>
          </a:solidFill>
          <a:ln/>
        </p:spPr>
      </p:sp>
      <p:sp>
        <p:nvSpPr>
          <p:cNvPr id="74" name="Text 72"/>
          <p:cNvSpPr/>
          <p:nvPr/>
        </p:nvSpPr>
        <p:spPr>
          <a:xfrm>
            <a:off x="15182850" y="5915025"/>
            <a:ext cx="400050" cy="361950"/>
          </a:xfrm>
          <a:prstGeom prst="rect">
            <a:avLst/>
          </a:prstGeom>
          <a:noFill/>
          <a:ln/>
        </p:spPr>
        <p:txBody>
          <a:bodyPr wrap="square" lIns="25400" tIns="25400" rIns="25400" bIns="25400" rtlCol="0" anchor="ctr">
            <a:normAutofit/>
          </a:bodyPr>
          <a:lstStyle/>
          <a:p>
            <a:pPr algn="ctr" indent="0" marL="0">
              <a:buNone/>
            </a:pPr>
            <a:r>
              <a:rPr lang="en-US" sz="1500" dirty="0">
                <a:solidFill>
                  <a:srgbClr val="14100D"/>
                </a:solidFill>
                <a:latin typeface="Arial" pitchFamily="34" charset="0"/>
                <a:ea typeface="Arial" pitchFamily="34" charset="-122"/>
                <a:cs typeface="Arial" pitchFamily="34" charset="-120"/>
              </a:rPr>
              <a:t>+</a:t>
            </a:r>
            <a:endParaRPr lang="en-US" sz="1500" dirty="0"/>
          </a:p>
        </p:txBody>
      </p:sp>
      <p:sp>
        <p:nvSpPr>
          <p:cNvPr id="75" name="Shape 73"/>
          <p:cNvSpPr/>
          <p:nvPr/>
        </p:nvSpPr>
        <p:spPr>
          <a:xfrm>
            <a:off x="12125325" y="6600825"/>
            <a:ext cx="3600450" cy="466725"/>
          </a:xfrm>
          <a:prstGeom prst="rect">
            <a:avLst/>
          </a:prstGeom>
          <a:ln w="9525">
            <a:solidFill>
              <a:srgbClr val="C9BEAC"/>
            </a:solidFill>
            <a:prstDash val="dash"/>
          </a:ln>
        </p:spPr>
      </p:sp>
      <p:sp>
        <p:nvSpPr>
          <p:cNvPr id="76" name="Text 74"/>
          <p:cNvSpPr/>
          <p:nvPr/>
        </p:nvSpPr>
        <p:spPr>
          <a:xfrm>
            <a:off x="12306300" y="6743700"/>
            <a:ext cx="3346514" cy="219075"/>
          </a:xfrm>
          <a:prstGeom prst="rect">
            <a:avLst/>
          </a:prstGeom>
          <a:noFill/>
          <a:ln/>
        </p:spPr>
        <p:txBody>
          <a:bodyPr wrap="square" lIns="25400" tIns="25400" rIns="25400" bIns="25400" rtlCol="0" anchor="t">
            <a:normAutofit/>
          </a:bodyPr>
          <a:lstStyle/>
          <a:p>
            <a:pPr algn="l" indent="0" marL="0">
              <a:buNone/>
            </a:pPr>
            <a:r>
              <a:rPr lang="en-US" sz="1275" dirty="0">
                <a:solidFill>
                  <a:srgbClr val="6F6455"/>
                </a:solidFill>
                <a:latin typeface="Courier New" pitchFamily="34" charset="0"/>
                <a:ea typeface="Courier New" pitchFamily="34" charset="-122"/>
                <a:cs typeface="Courier New" pitchFamily="34" charset="-120"/>
              </a:rPr>
              <a:t>Note: no onion in the dal</a:t>
            </a:r>
            <a:endParaRPr lang="en-US" sz="1275" dirty="0"/>
          </a:p>
        </p:txBody>
      </p:sp>
      <p:sp>
        <p:nvSpPr>
          <p:cNvPr id="77" name="Shape 75"/>
          <p:cNvSpPr/>
          <p:nvPr/>
        </p:nvSpPr>
        <p:spPr>
          <a:xfrm>
            <a:off x="11877675" y="7400925"/>
            <a:ext cx="4095750" cy="9525"/>
          </a:xfrm>
          <a:prstGeom prst="rect">
            <a:avLst/>
          </a:prstGeom>
          <a:solidFill>
            <a:srgbClr val="EDE5D9"/>
          </a:solidFill>
          <a:ln/>
        </p:spPr>
      </p:sp>
      <p:sp>
        <p:nvSpPr>
          <p:cNvPr id="78" name="Text 76"/>
          <p:cNvSpPr/>
          <p:nvPr/>
        </p:nvSpPr>
        <p:spPr>
          <a:xfrm>
            <a:off x="12125325" y="7753350"/>
            <a:ext cx="1471434" cy="228600"/>
          </a:xfrm>
          <a:prstGeom prst="rect">
            <a:avLst/>
          </a:prstGeom>
          <a:noFill/>
          <a:ln/>
        </p:spPr>
        <p:txBody>
          <a:bodyPr wrap="square" lIns="25400" tIns="25400" rIns="25400" bIns="25400" rtlCol="0" anchor="t">
            <a:normAutofit/>
          </a:bodyPr>
          <a:lstStyle/>
          <a:p>
            <a:pPr algn="l" indent="0" marL="0">
              <a:buNone/>
            </a:pPr>
            <a:r>
              <a:rPr lang="en-US" sz="1350" dirty="0">
                <a:solidFill>
                  <a:srgbClr val="9A8F82"/>
                </a:solidFill>
                <a:latin typeface="Courier New" pitchFamily="34" charset="0"/>
                <a:ea typeface="Courier New" pitchFamily="34" charset="-122"/>
                <a:cs typeface="Courier New" pitchFamily="34" charset="-120"/>
              </a:rPr>
              <a:t>RUNNING TOTAL</a:t>
            </a:r>
            <a:endParaRPr lang="en-US" sz="1350" dirty="0"/>
          </a:p>
        </p:txBody>
      </p:sp>
      <p:sp>
        <p:nvSpPr>
          <p:cNvPr id="79" name="Text 77"/>
          <p:cNvSpPr/>
          <p:nvPr/>
        </p:nvSpPr>
        <p:spPr>
          <a:xfrm>
            <a:off x="14716423" y="7600950"/>
            <a:ext cx="1085552"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91512"/>
                </a:solidFill>
                <a:latin typeface="Arial" pitchFamily="34" charset="0"/>
                <a:ea typeface="Arial" pitchFamily="34" charset="-122"/>
                <a:cs typeface="Arial" pitchFamily="34" charset="-120"/>
              </a:rPr>
              <a:t>₹2,410</a:t>
            </a:r>
            <a:endParaRPr lang="en-US" sz="2550" dirty="0"/>
          </a:p>
        </p:txBody>
      </p:sp>
      <p:sp>
        <p:nvSpPr>
          <p:cNvPr id="80" name="Shape 78"/>
          <p:cNvSpPr/>
          <p:nvPr/>
        </p:nvSpPr>
        <p:spPr>
          <a:xfrm>
            <a:off x="12125325" y="8124825"/>
            <a:ext cx="3600450" cy="638175"/>
          </a:xfrm>
          <a:prstGeom prst="rect">
            <a:avLst/>
          </a:prstGeom>
          <a:solidFill>
            <a:srgbClr val="14100D"/>
          </a:solidFill>
          <a:ln/>
        </p:spPr>
      </p:sp>
      <p:sp>
        <p:nvSpPr>
          <p:cNvPr id="81" name="Text 79"/>
          <p:cNvSpPr/>
          <p:nvPr/>
        </p:nvSpPr>
        <p:spPr>
          <a:xfrm>
            <a:off x="12280868" y="8334375"/>
            <a:ext cx="3289364" cy="257175"/>
          </a:xfrm>
          <a:prstGeom prst="rect">
            <a:avLst/>
          </a:prstGeom>
          <a:noFill/>
          <a:ln/>
        </p:spPr>
        <p:txBody>
          <a:bodyPr wrap="square" lIns="25400" tIns="25400" rIns="25400" bIns="25400" rtlCol="0" anchor="t">
            <a:normAutofit/>
          </a:bodyPr>
          <a:lstStyle/>
          <a:p>
            <a:pPr algn="ctr" indent="0" marL="0">
              <a:buNone/>
            </a:pPr>
            <a:r>
              <a:rPr lang="en-US" sz="1500" spc="210" kern="0" dirty="0">
                <a:solidFill>
                  <a:srgbClr val="F7F1E6"/>
                </a:solidFill>
                <a:latin typeface="Courier New" pitchFamily="34" charset="0"/>
                <a:ea typeface="Courier New" pitchFamily="34" charset="-122"/>
                <a:cs typeface="Courier New" pitchFamily="34" charset="-120"/>
              </a:rPr>
              <a:t>SEND TO KITCHEN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00D"/>
        </a:solidFill>
      </p:bgPr>
    </p:bg>
    <p:spTree>
      <p:nvGrpSpPr>
        <p:cNvPr id="1" name=""/>
        <p:cNvGrpSpPr/>
        <p:nvPr/>
      </p:nvGrpSpPr>
      <p:grpSpPr>
        <a:xfrm>
          <a:off x="0" y="0"/>
          <a:ext cx="0" cy="0"/>
          <a:chOff x="0" y="0"/>
          <a:chExt cx="0" cy="0"/>
        </a:xfrm>
      </p:grpSpPr>
      <p:sp>
        <p:nvSpPr>
          <p:cNvPr id="2" name="Text 0"/>
          <p:cNvSpPr/>
          <p:nvPr/>
        </p:nvSpPr>
        <p:spPr>
          <a:xfrm>
            <a:off x="952500" y="876300"/>
            <a:ext cx="11064404"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B8862B"/>
                </a:solidFill>
                <a:latin typeface="Courier New" pitchFamily="34" charset="0"/>
                <a:ea typeface="Courier New" pitchFamily="34" charset="-122"/>
                <a:cs typeface="Courier New" pitchFamily="34" charset="-120"/>
              </a:rPr>
              <a:t>THE KITCHEN</a:t>
            </a:r>
            <a:endParaRPr lang="en-US" sz="1425" dirty="0"/>
          </a:p>
        </p:txBody>
      </p:sp>
      <p:sp>
        <p:nvSpPr>
          <p:cNvPr id="3" name="Text 1"/>
          <p:cNvSpPr/>
          <p:nvPr/>
        </p:nvSpPr>
        <p:spPr>
          <a:xfrm>
            <a:off x="952500" y="1314450"/>
            <a:ext cx="11064404" cy="800100"/>
          </a:xfrm>
          <a:prstGeom prst="rect">
            <a:avLst/>
          </a:prstGeom>
          <a:noFill/>
          <a:ln/>
        </p:spPr>
        <p:txBody>
          <a:bodyPr wrap="square" lIns="25400" tIns="25400" rIns="25400" bIns="25400" rtlCol="0" anchor="t">
            <a:normAutofit/>
          </a:bodyPr>
          <a:lstStyle/>
          <a:p>
            <a:pPr algn="l" indent="0" marL="0">
              <a:lnSpc>
                <a:spcPct val="86957"/>
              </a:lnSpc>
              <a:buNone/>
            </a:pPr>
            <a:r>
              <a:rPr lang="en-US" sz="6000" b="1" spc="-180" kern="0" dirty="0">
                <a:solidFill>
                  <a:srgbClr val="F7F1E6"/>
                </a:solidFill>
                <a:latin typeface="Arial" pitchFamily="34" charset="0"/>
                <a:ea typeface="Arial" pitchFamily="34" charset="-122"/>
                <a:cs typeface="Arial" pitchFamily="34" charset="-120"/>
              </a:rPr>
              <a:t>ONE QUEUE. NO SHOUTING.</a:t>
            </a:r>
            <a:endParaRPr lang="en-US" sz="6000" dirty="0"/>
          </a:p>
        </p:txBody>
      </p:sp>
      <p:sp>
        <p:nvSpPr>
          <p:cNvPr id="4" name="Text 2"/>
          <p:cNvSpPr/>
          <p:nvPr/>
        </p:nvSpPr>
        <p:spPr>
          <a:xfrm>
            <a:off x="13016061" y="1857375"/>
            <a:ext cx="1036588" cy="257175"/>
          </a:xfrm>
          <a:prstGeom prst="rect">
            <a:avLst/>
          </a:prstGeom>
          <a:noFill/>
          <a:ln/>
        </p:spPr>
        <p:txBody>
          <a:bodyPr wrap="square" lIns="25400" tIns="25400" rIns="25400" bIns="25400" rtlCol="0" anchor="t">
            <a:normAutofit/>
          </a:bodyPr>
          <a:lstStyle/>
          <a:p>
            <a:pPr algn="l" indent="0" marL="0">
              <a:buNone/>
            </a:pPr>
            <a:r>
              <a:rPr lang="en-US" sz="1575" dirty="0">
                <a:solidFill>
                  <a:srgbClr val="7C7268"/>
                </a:solidFill>
                <a:latin typeface="Courier New" pitchFamily="34" charset="0"/>
                <a:ea typeface="Courier New" pitchFamily="34" charset="-122"/>
                <a:cs typeface="Courier New" pitchFamily="34" charset="-120"/>
              </a:rPr>
              <a:t>8 active</a:t>
            </a:r>
            <a:endParaRPr lang="en-US" sz="1575" dirty="0"/>
          </a:p>
        </p:txBody>
      </p:sp>
      <p:sp>
        <p:nvSpPr>
          <p:cNvPr id="5" name="Text 3"/>
          <p:cNvSpPr/>
          <p:nvPr/>
        </p:nvSpPr>
        <p:spPr>
          <a:xfrm>
            <a:off x="14395549" y="1857375"/>
            <a:ext cx="1156543" cy="257175"/>
          </a:xfrm>
          <a:prstGeom prst="rect">
            <a:avLst/>
          </a:prstGeom>
          <a:noFill/>
          <a:ln/>
        </p:spPr>
        <p:txBody>
          <a:bodyPr wrap="square" lIns="25400" tIns="25400" rIns="25400" bIns="25400" rtlCol="0" anchor="t">
            <a:normAutofit/>
          </a:bodyPr>
          <a:lstStyle/>
          <a:p>
            <a:pPr algn="l" indent="0" marL="0">
              <a:buNone/>
            </a:pPr>
            <a:r>
              <a:rPr lang="en-US" sz="1575" dirty="0">
                <a:solidFill>
                  <a:srgbClr val="7C7268"/>
                </a:solidFill>
                <a:latin typeface="Courier New" pitchFamily="34" charset="0"/>
                <a:ea typeface="Courier New" pitchFamily="34" charset="-122"/>
                <a:cs typeface="Courier New" pitchFamily="34" charset="-120"/>
              </a:rPr>
              <a:t>Avg 11:20</a:t>
            </a:r>
            <a:endParaRPr lang="en-US" sz="1575" dirty="0"/>
          </a:p>
        </p:txBody>
      </p:sp>
      <p:sp>
        <p:nvSpPr>
          <p:cNvPr id="6" name="Text 4"/>
          <p:cNvSpPr/>
          <p:nvPr/>
        </p:nvSpPr>
        <p:spPr>
          <a:xfrm>
            <a:off x="15894993" y="1857375"/>
            <a:ext cx="1584558" cy="257175"/>
          </a:xfrm>
          <a:prstGeom prst="rect">
            <a:avLst/>
          </a:prstGeom>
          <a:noFill/>
          <a:ln/>
        </p:spPr>
        <p:txBody>
          <a:bodyPr wrap="square" lIns="25400" tIns="25400" rIns="25400" bIns="25400" rtlCol="0" anchor="t">
            <a:normAutofit/>
          </a:bodyPr>
          <a:lstStyle/>
          <a:p>
            <a:pPr algn="l" indent="0" marL="0">
              <a:buNone/>
            </a:pPr>
            <a:r>
              <a:rPr lang="en-US" sz="1575" dirty="0">
                <a:solidFill>
                  <a:srgbClr val="D8A94A"/>
                </a:solidFill>
                <a:latin typeface="Courier New" pitchFamily="34" charset="0"/>
                <a:ea typeface="Courier New" pitchFamily="34" charset="-122"/>
                <a:cs typeface="Courier New" pitchFamily="34" charset="-120"/>
              </a:rPr>
              <a:t>2 over 15:00</a:t>
            </a:r>
            <a:endParaRPr lang="en-US" sz="1575" dirty="0"/>
          </a:p>
        </p:txBody>
      </p:sp>
      <p:sp>
        <p:nvSpPr>
          <p:cNvPr id="7" name="Shape 5"/>
          <p:cNvSpPr/>
          <p:nvPr/>
        </p:nvSpPr>
        <p:spPr>
          <a:xfrm>
            <a:off x="952500" y="2962275"/>
            <a:ext cx="5283101" cy="9525"/>
          </a:xfrm>
          <a:prstGeom prst="rect">
            <a:avLst/>
          </a:prstGeom>
          <a:solidFill>
            <a:srgbClr val="33291F"/>
          </a:solidFill>
          <a:ln/>
        </p:spPr>
      </p:sp>
      <p:sp>
        <p:nvSpPr>
          <p:cNvPr id="8" name="Text 6"/>
          <p:cNvSpPr/>
          <p:nvPr/>
        </p:nvSpPr>
        <p:spPr>
          <a:xfrm>
            <a:off x="952500" y="2571750"/>
            <a:ext cx="1031974" cy="2762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C4B9AB"/>
                </a:solidFill>
                <a:latin typeface="Courier New" pitchFamily="34" charset="0"/>
                <a:ea typeface="Courier New" pitchFamily="34" charset="-122"/>
                <a:cs typeface="Courier New" pitchFamily="34" charset="-120"/>
              </a:rPr>
              <a:t>QUEUED</a:t>
            </a:r>
            <a:endParaRPr lang="en-US" sz="1650" dirty="0"/>
          </a:p>
        </p:txBody>
      </p:sp>
      <p:sp>
        <p:nvSpPr>
          <p:cNvPr id="9" name="Text 7"/>
          <p:cNvSpPr/>
          <p:nvPr/>
        </p:nvSpPr>
        <p:spPr>
          <a:xfrm>
            <a:off x="6109841" y="25717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7C7268"/>
                </a:solidFill>
                <a:latin typeface="Courier New" pitchFamily="34" charset="0"/>
                <a:ea typeface="Courier New" pitchFamily="34" charset="-122"/>
                <a:cs typeface="Courier New" pitchFamily="34" charset="-120"/>
              </a:rPr>
              <a:t>3</a:t>
            </a:r>
            <a:endParaRPr lang="en-US" sz="1650" dirty="0"/>
          </a:p>
        </p:txBody>
      </p:sp>
      <p:sp>
        <p:nvSpPr>
          <p:cNvPr id="10" name="Shape 8"/>
          <p:cNvSpPr/>
          <p:nvPr/>
        </p:nvSpPr>
        <p:spPr>
          <a:xfrm>
            <a:off x="952500" y="3162300"/>
            <a:ext cx="5283101" cy="1190625"/>
          </a:xfrm>
          <a:prstGeom prst="rect">
            <a:avLst/>
          </a:prstGeom>
          <a:solidFill>
            <a:srgbClr val="1C1712"/>
          </a:solidFill>
          <a:ln w="9525">
            <a:solidFill>
              <a:srgbClr val="33291F"/>
            </a:solidFill>
            <a:prstDash val="solid"/>
          </a:ln>
        </p:spPr>
      </p:sp>
      <p:sp>
        <p:nvSpPr>
          <p:cNvPr id="11" name="Text 9"/>
          <p:cNvSpPr/>
          <p:nvPr/>
        </p:nvSpPr>
        <p:spPr>
          <a:xfrm>
            <a:off x="1209675" y="3419475"/>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T-18</a:t>
            </a:r>
            <a:endParaRPr lang="en-US" sz="1800" dirty="0"/>
          </a:p>
        </p:txBody>
      </p:sp>
      <p:sp>
        <p:nvSpPr>
          <p:cNvPr id="12" name="Text 10"/>
          <p:cNvSpPr/>
          <p:nvPr/>
        </p:nvSpPr>
        <p:spPr>
          <a:xfrm>
            <a:off x="5292477" y="3419475"/>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00:48</a:t>
            </a:r>
            <a:endParaRPr lang="en-US" sz="1800" dirty="0"/>
          </a:p>
        </p:txBody>
      </p:sp>
      <p:sp>
        <p:nvSpPr>
          <p:cNvPr id="13" name="Text 11"/>
          <p:cNvSpPr/>
          <p:nvPr/>
        </p:nvSpPr>
        <p:spPr>
          <a:xfrm>
            <a:off x="1209675" y="3790950"/>
            <a:ext cx="524562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Butter Naan ×4</a:t>
            </a:r>
            <a:endParaRPr lang="en-US" sz="2100" dirty="0"/>
          </a:p>
        </p:txBody>
      </p:sp>
      <p:sp>
        <p:nvSpPr>
          <p:cNvPr id="14" name="Shape 12"/>
          <p:cNvSpPr/>
          <p:nvPr/>
        </p:nvSpPr>
        <p:spPr>
          <a:xfrm>
            <a:off x="952500" y="4543425"/>
            <a:ext cx="5283101" cy="1514475"/>
          </a:xfrm>
          <a:prstGeom prst="rect">
            <a:avLst/>
          </a:prstGeom>
          <a:solidFill>
            <a:srgbClr val="1C1712"/>
          </a:solidFill>
          <a:ln w="9525">
            <a:solidFill>
              <a:srgbClr val="33291F"/>
            </a:solidFill>
            <a:prstDash val="solid"/>
          </a:ln>
        </p:spPr>
      </p:sp>
      <p:sp>
        <p:nvSpPr>
          <p:cNvPr id="15" name="Text 13"/>
          <p:cNvSpPr/>
          <p:nvPr/>
        </p:nvSpPr>
        <p:spPr>
          <a:xfrm>
            <a:off x="1209675" y="4800600"/>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T-06</a:t>
            </a:r>
            <a:endParaRPr lang="en-US" sz="1800" dirty="0"/>
          </a:p>
        </p:txBody>
      </p:sp>
      <p:sp>
        <p:nvSpPr>
          <p:cNvPr id="16" name="Text 14"/>
          <p:cNvSpPr/>
          <p:nvPr/>
        </p:nvSpPr>
        <p:spPr>
          <a:xfrm>
            <a:off x="5292477" y="4800600"/>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01:35</a:t>
            </a:r>
            <a:endParaRPr lang="en-US" sz="1800" dirty="0"/>
          </a:p>
        </p:txBody>
      </p:sp>
      <p:sp>
        <p:nvSpPr>
          <p:cNvPr id="17" name="Text 15"/>
          <p:cNvSpPr/>
          <p:nvPr/>
        </p:nvSpPr>
        <p:spPr>
          <a:xfrm>
            <a:off x="1209675" y="5172075"/>
            <a:ext cx="524562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Paneer Tikka ×1</a:t>
            </a:r>
            <a:endParaRPr lang="en-US" sz="2100" dirty="0"/>
          </a:p>
        </p:txBody>
      </p:sp>
      <p:sp>
        <p:nvSpPr>
          <p:cNvPr id="18" name="Text 16"/>
          <p:cNvSpPr/>
          <p:nvPr/>
        </p:nvSpPr>
        <p:spPr>
          <a:xfrm>
            <a:off x="1209675" y="5591175"/>
            <a:ext cx="5245626" cy="247650"/>
          </a:xfrm>
          <a:prstGeom prst="rect">
            <a:avLst/>
          </a:prstGeom>
          <a:noFill/>
          <a:ln/>
        </p:spPr>
        <p:txBody>
          <a:bodyPr wrap="square" lIns="25400" tIns="25400" rIns="25400" bIns="25400" rtlCol="0" anchor="t">
            <a:normAutofit/>
          </a:bodyPr>
          <a:lstStyle/>
          <a:p>
            <a:pPr algn="l" indent="0" marL="0">
              <a:buNone/>
            </a:pPr>
            <a:r>
              <a:rPr lang="en-US" sz="1425" dirty="0">
                <a:solidFill>
                  <a:srgbClr val="8F857A"/>
                </a:solidFill>
                <a:latin typeface="Courier New" pitchFamily="34" charset="0"/>
                <a:ea typeface="Courier New" pitchFamily="34" charset="-122"/>
                <a:cs typeface="Courier New" pitchFamily="34" charset="-120"/>
              </a:rPr>
              <a:t>“extra spicy”</a:t>
            </a:r>
            <a:endParaRPr lang="en-US" sz="1425" dirty="0"/>
          </a:p>
        </p:txBody>
      </p:sp>
      <p:sp>
        <p:nvSpPr>
          <p:cNvPr id="19" name="Shape 17"/>
          <p:cNvSpPr/>
          <p:nvPr/>
        </p:nvSpPr>
        <p:spPr>
          <a:xfrm>
            <a:off x="952500" y="6248400"/>
            <a:ext cx="5283101" cy="1190625"/>
          </a:xfrm>
          <a:prstGeom prst="rect">
            <a:avLst/>
          </a:prstGeom>
          <a:solidFill>
            <a:srgbClr val="1C1712"/>
          </a:solidFill>
          <a:ln w="9525">
            <a:solidFill>
              <a:srgbClr val="33291F"/>
            </a:solidFill>
            <a:prstDash val="solid"/>
          </a:ln>
        </p:spPr>
      </p:sp>
      <p:sp>
        <p:nvSpPr>
          <p:cNvPr id="20" name="Text 18"/>
          <p:cNvSpPr/>
          <p:nvPr/>
        </p:nvSpPr>
        <p:spPr>
          <a:xfrm>
            <a:off x="1209675" y="6505575"/>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T-20</a:t>
            </a:r>
            <a:endParaRPr lang="en-US" sz="1800" dirty="0"/>
          </a:p>
        </p:txBody>
      </p:sp>
      <p:sp>
        <p:nvSpPr>
          <p:cNvPr id="21" name="Text 19"/>
          <p:cNvSpPr/>
          <p:nvPr/>
        </p:nvSpPr>
        <p:spPr>
          <a:xfrm>
            <a:off x="5292477" y="6505575"/>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02:10</a:t>
            </a:r>
            <a:endParaRPr lang="en-US" sz="1800" dirty="0"/>
          </a:p>
        </p:txBody>
      </p:sp>
      <p:sp>
        <p:nvSpPr>
          <p:cNvPr id="22" name="Text 20"/>
          <p:cNvSpPr/>
          <p:nvPr/>
        </p:nvSpPr>
        <p:spPr>
          <a:xfrm>
            <a:off x="1209675" y="6877050"/>
            <a:ext cx="524562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Dal Makhani ×2</a:t>
            </a:r>
            <a:endParaRPr lang="en-US" sz="2100" dirty="0"/>
          </a:p>
        </p:txBody>
      </p:sp>
      <p:sp>
        <p:nvSpPr>
          <p:cNvPr id="23" name="Shape 21"/>
          <p:cNvSpPr/>
          <p:nvPr/>
        </p:nvSpPr>
        <p:spPr>
          <a:xfrm>
            <a:off x="6502301" y="2962275"/>
            <a:ext cx="5283250" cy="9525"/>
          </a:xfrm>
          <a:prstGeom prst="rect">
            <a:avLst/>
          </a:prstGeom>
          <a:solidFill>
            <a:srgbClr val="33291F"/>
          </a:solidFill>
          <a:ln/>
        </p:spPr>
      </p:sp>
      <p:sp>
        <p:nvSpPr>
          <p:cNvPr id="24" name="Text 22"/>
          <p:cNvSpPr/>
          <p:nvPr/>
        </p:nvSpPr>
        <p:spPr>
          <a:xfrm>
            <a:off x="6502301" y="2571750"/>
            <a:ext cx="1576864" cy="2762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C4B9AB"/>
                </a:solidFill>
                <a:latin typeface="Courier New" pitchFamily="34" charset="0"/>
                <a:ea typeface="Courier New" pitchFamily="34" charset="-122"/>
                <a:cs typeface="Courier New" pitchFamily="34" charset="-120"/>
              </a:rPr>
              <a:t>PREPARING</a:t>
            </a:r>
            <a:endParaRPr lang="en-US" sz="1650" dirty="0"/>
          </a:p>
        </p:txBody>
      </p:sp>
      <p:sp>
        <p:nvSpPr>
          <p:cNvPr id="25" name="Text 23"/>
          <p:cNvSpPr/>
          <p:nvPr/>
        </p:nvSpPr>
        <p:spPr>
          <a:xfrm>
            <a:off x="11659791" y="25717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7C7268"/>
                </a:solidFill>
                <a:latin typeface="Courier New" pitchFamily="34" charset="0"/>
                <a:ea typeface="Courier New" pitchFamily="34" charset="-122"/>
                <a:cs typeface="Courier New" pitchFamily="34" charset="-120"/>
              </a:rPr>
              <a:t>3</a:t>
            </a:r>
            <a:endParaRPr lang="en-US" sz="1650" dirty="0"/>
          </a:p>
        </p:txBody>
      </p:sp>
      <p:sp>
        <p:nvSpPr>
          <p:cNvPr id="26" name="Shape 24"/>
          <p:cNvSpPr/>
          <p:nvPr/>
        </p:nvSpPr>
        <p:spPr>
          <a:xfrm>
            <a:off x="6502301" y="3162300"/>
            <a:ext cx="5283250" cy="1514475"/>
          </a:xfrm>
          <a:prstGeom prst="rect">
            <a:avLst/>
          </a:prstGeom>
          <a:solidFill>
            <a:srgbClr val="B8862B">
              <a:alpha val="9000"/>
            </a:srgbClr>
          </a:solidFill>
          <a:ln w="9525">
            <a:solidFill>
              <a:srgbClr val="B8862B"/>
            </a:solidFill>
            <a:prstDash val="solid"/>
          </a:ln>
        </p:spPr>
      </p:sp>
      <p:sp>
        <p:nvSpPr>
          <p:cNvPr id="27" name="Text 25"/>
          <p:cNvSpPr/>
          <p:nvPr/>
        </p:nvSpPr>
        <p:spPr>
          <a:xfrm>
            <a:off x="6759476" y="3419475"/>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D8A94A"/>
                </a:solidFill>
                <a:latin typeface="Courier New" pitchFamily="34" charset="0"/>
                <a:ea typeface="Courier New" pitchFamily="34" charset="-122"/>
                <a:cs typeface="Courier New" pitchFamily="34" charset="-120"/>
              </a:rPr>
              <a:t>T-12</a:t>
            </a:r>
            <a:endParaRPr lang="en-US" sz="1800" dirty="0"/>
          </a:p>
        </p:txBody>
      </p:sp>
      <p:sp>
        <p:nvSpPr>
          <p:cNvPr id="28" name="Text 26"/>
          <p:cNvSpPr/>
          <p:nvPr/>
        </p:nvSpPr>
        <p:spPr>
          <a:xfrm>
            <a:off x="10842427" y="3419475"/>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D8A94A"/>
                </a:solidFill>
                <a:latin typeface="Courier New" pitchFamily="34" charset="0"/>
                <a:ea typeface="Courier New" pitchFamily="34" charset="-122"/>
                <a:cs typeface="Courier New" pitchFamily="34" charset="-120"/>
              </a:rPr>
              <a:t>09:42</a:t>
            </a:r>
            <a:endParaRPr lang="en-US" sz="1800" dirty="0"/>
          </a:p>
        </p:txBody>
      </p:sp>
      <p:sp>
        <p:nvSpPr>
          <p:cNvPr id="29" name="Text 27"/>
          <p:cNvSpPr/>
          <p:nvPr/>
        </p:nvSpPr>
        <p:spPr>
          <a:xfrm>
            <a:off x="6759476" y="3790950"/>
            <a:ext cx="5245790"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Butter Chicken ×2</a:t>
            </a:r>
            <a:endParaRPr lang="en-US" sz="2100" dirty="0"/>
          </a:p>
        </p:txBody>
      </p:sp>
      <p:sp>
        <p:nvSpPr>
          <p:cNvPr id="30" name="Text 28"/>
          <p:cNvSpPr/>
          <p:nvPr/>
        </p:nvSpPr>
        <p:spPr>
          <a:xfrm>
            <a:off x="6759476" y="4210050"/>
            <a:ext cx="5245790" cy="247650"/>
          </a:xfrm>
          <a:prstGeom prst="rect">
            <a:avLst/>
          </a:prstGeom>
          <a:noFill/>
          <a:ln/>
        </p:spPr>
        <p:txBody>
          <a:bodyPr wrap="square" lIns="25400" tIns="25400" rIns="25400" bIns="25400" rtlCol="0" anchor="t">
            <a:normAutofit/>
          </a:bodyPr>
          <a:lstStyle/>
          <a:p>
            <a:pPr algn="l" indent="0" marL="0">
              <a:buNone/>
            </a:pPr>
            <a:r>
              <a:rPr lang="en-US" sz="1425" dirty="0">
                <a:solidFill>
                  <a:srgbClr val="C4B9AB"/>
                </a:solidFill>
                <a:latin typeface="Courier New" pitchFamily="34" charset="0"/>
                <a:ea typeface="Courier New" pitchFamily="34" charset="-122"/>
                <a:cs typeface="Courier New" pitchFamily="34" charset="-120"/>
              </a:rPr>
              <a:t>“no onion”</a:t>
            </a:r>
            <a:endParaRPr lang="en-US" sz="1425" dirty="0"/>
          </a:p>
        </p:txBody>
      </p:sp>
      <p:sp>
        <p:nvSpPr>
          <p:cNvPr id="31" name="Shape 29"/>
          <p:cNvSpPr/>
          <p:nvPr/>
        </p:nvSpPr>
        <p:spPr>
          <a:xfrm>
            <a:off x="6502301" y="4867275"/>
            <a:ext cx="5283250" cy="1190625"/>
          </a:xfrm>
          <a:prstGeom prst="rect">
            <a:avLst/>
          </a:prstGeom>
          <a:solidFill>
            <a:srgbClr val="1C1712"/>
          </a:solidFill>
          <a:ln w="9525">
            <a:solidFill>
              <a:srgbClr val="33291F"/>
            </a:solidFill>
            <a:prstDash val="solid"/>
          </a:ln>
        </p:spPr>
      </p:sp>
      <p:sp>
        <p:nvSpPr>
          <p:cNvPr id="32" name="Text 30"/>
          <p:cNvSpPr/>
          <p:nvPr/>
        </p:nvSpPr>
        <p:spPr>
          <a:xfrm>
            <a:off x="6759476" y="5124450"/>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T-08</a:t>
            </a:r>
            <a:endParaRPr lang="en-US" sz="1800" dirty="0"/>
          </a:p>
        </p:txBody>
      </p:sp>
      <p:sp>
        <p:nvSpPr>
          <p:cNvPr id="33" name="Text 31"/>
          <p:cNvSpPr/>
          <p:nvPr/>
        </p:nvSpPr>
        <p:spPr>
          <a:xfrm>
            <a:off x="10842427" y="5124450"/>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06:11</a:t>
            </a:r>
            <a:endParaRPr lang="en-US" sz="1800" dirty="0"/>
          </a:p>
        </p:txBody>
      </p:sp>
      <p:sp>
        <p:nvSpPr>
          <p:cNvPr id="34" name="Text 32"/>
          <p:cNvSpPr/>
          <p:nvPr/>
        </p:nvSpPr>
        <p:spPr>
          <a:xfrm>
            <a:off x="6759476" y="5495925"/>
            <a:ext cx="5245790"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Rogan Josh ×1</a:t>
            </a:r>
            <a:endParaRPr lang="en-US" sz="2100" dirty="0"/>
          </a:p>
        </p:txBody>
      </p:sp>
      <p:sp>
        <p:nvSpPr>
          <p:cNvPr id="35" name="Shape 33"/>
          <p:cNvSpPr/>
          <p:nvPr/>
        </p:nvSpPr>
        <p:spPr>
          <a:xfrm>
            <a:off x="6502301" y="6248400"/>
            <a:ext cx="5283250" cy="1514475"/>
          </a:xfrm>
          <a:prstGeom prst="rect">
            <a:avLst/>
          </a:prstGeom>
          <a:solidFill>
            <a:srgbClr val="8C3A1E">
              <a:alpha val="14000"/>
            </a:srgbClr>
          </a:solidFill>
          <a:ln w="9525">
            <a:solidFill>
              <a:srgbClr val="8C3A1E"/>
            </a:solidFill>
            <a:prstDash val="solid"/>
          </a:ln>
        </p:spPr>
      </p:sp>
      <p:sp>
        <p:nvSpPr>
          <p:cNvPr id="36" name="Text 34"/>
          <p:cNvSpPr/>
          <p:nvPr/>
        </p:nvSpPr>
        <p:spPr>
          <a:xfrm>
            <a:off x="6759476" y="6505575"/>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E08A62"/>
                </a:solidFill>
                <a:latin typeface="Courier New" pitchFamily="34" charset="0"/>
                <a:ea typeface="Courier New" pitchFamily="34" charset="-122"/>
                <a:cs typeface="Courier New" pitchFamily="34" charset="-120"/>
              </a:rPr>
              <a:t>T-14</a:t>
            </a:r>
            <a:endParaRPr lang="en-US" sz="1800" dirty="0"/>
          </a:p>
        </p:txBody>
      </p:sp>
      <p:sp>
        <p:nvSpPr>
          <p:cNvPr id="37" name="Text 35"/>
          <p:cNvSpPr/>
          <p:nvPr/>
        </p:nvSpPr>
        <p:spPr>
          <a:xfrm>
            <a:off x="10842427" y="6505575"/>
            <a:ext cx="76214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E08A62"/>
                </a:solidFill>
                <a:latin typeface="Courier New" pitchFamily="34" charset="0"/>
                <a:ea typeface="Courier New" pitchFamily="34" charset="-122"/>
                <a:cs typeface="Courier New" pitchFamily="34" charset="-120"/>
              </a:rPr>
              <a:t>17:26</a:t>
            </a:r>
            <a:endParaRPr lang="en-US" sz="1800" dirty="0"/>
          </a:p>
        </p:txBody>
      </p:sp>
      <p:sp>
        <p:nvSpPr>
          <p:cNvPr id="38" name="Text 36"/>
          <p:cNvSpPr/>
          <p:nvPr/>
        </p:nvSpPr>
        <p:spPr>
          <a:xfrm>
            <a:off x="6759476" y="6877050"/>
            <a:ext cx="5245790"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Biryani ×3</a:t>
            </a:r>
            <a:endParaRPr lang="en-US" sz="2100" dirty="0"/>
          </a:p>
        </p:txBody>
      </p:sp>
      <p:sp>
        <p:nvSpPr>
          <p:cNvPr id="39" name="Text 37"/>
          <p:cNvSpPr/>
          <p:nvPr/>
        </p:nvSpPr>
        <p:spPr>
          <a:xfrm>
            <a:off x="6759476" y="7296150"/>
            <a:ext cx="5245790" cy="247650"/>
          </a:xfrm>
          <a:prstGeom prst="rect">
            <a:avLst/>
          </a:prstGeom>
          <a:noFill/>
          <a:ln/>
        </p:spPr>
        <p:txBody>
          <a:bodyPr wrap="square" lIns="25400" tIns="25400" rIns="25400" bIns="25400" rtlCol="0" anchor="t">
            <a:normAutofit/>
          </a:bodyPr>
          <a:lstStyle/>
          <a:p>
            <a:pPr algn="l" indent="0" marL="0">
              <a:buNone/>
            </a:pPr>
            <a:r>
              <a:rPr lang="en-US" sz="1425" dirty="0">
                <a:solidFill>
                  <a:srgbClr val="C4B9AB"/>
                </a:solidFill>
                <a:latin typeface="Courier New" pitchFamily="34" charset="0"/>
                <a:ea typeface="Courier New" pitchFamily="34" charset="-122"/>
                <a:cs typeface="Courier New" pitchFamily="34" charset="-120"/>
              </a:rPr>
              <a:t>Running late</a:t>
            </a:r>
            <a:endParaRPr lang="en-US" sz="1425" dirty="0"/>
          </a:p>
        </p:txBody>
      </p:sp>
      <p:sp>
        <p:nvSpPr>
          <p:cNvPr id="40" name="Shape 38"/>
          <p:cNvSpPr/>
          <p:nvPr/>
        </p:nvSpPr>
        <p:spPr>
          <a:xfrm>
            <a:off x="12052250" y="2962275"/>
            <a:ext cx="5283101" cy="9525"/>
          </a:xfrm>
          <a:prstGeom prst="rect">
            <a:avLst/>
          </a:prstGeom>
          <a:solidFill>
            <a:srgbClr val="33291F"/>
          </a:solidFill>
          <a:ln/>
        </p:spPr>
      </p:sp>
      <p:sp>
        <p:nvSpPr>
          <p:cNvPr id="41" name="Text 39"/>
          <p:cNvSpPr/>
          <p:nvPr/>
        </p:nvSpPr>
        <p:spPr>
          <a:xfrm>
            <a:off x="12052250" y="2571750"/>
            <a:ext cx="872728" cy="2762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C4B9AB"/>
                </a:solidFill>
                <a:latin typeface="Courier New" pitchFamily="34" charset="0"/>
                <a:ea typeface="Courier New" pitchFamily="34" charset="-122"/>
                <a:cs typeface="Courier New" pitchFamily="34" charset="-120"/>
              </a:rPr>
              <a:t>READY</a:t>
            </a:r>
            <a:endParaRPr lang="en-US" sz="1650" dirty="0"/>
          </a:p>
        </p:txBody>
      </p:sp>
      <p:sp>
        <p:nvSpPr>
          <p:cNvPr id="42" name="Text 40"/>
          <p:cNvSpPr/>
          <p:nvPr/>
        </p:nvSpPr>
        <p:spPr>
          <a:xfrm>
            <a:off x="17209591" y="2571750"/>
            <a:ext cx="2019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7C7268"/>
                </a:solidFill>
                <a:latin typeface="Courier New" pitchFamily="34" charset="0"/>
                <a:ea typeface="Courier New" pitchFamily="34" charset="-122"/>
                <a:cs typeface="Courier New" pitchFamily="34" charset="-120"/>
              </a:rPr>
              <a:t>2</a:t>
            </a:r>
            <a:endParaRPr lang="en-US" sz="1650" dirty="0"/>
          </a:p>
        </p:txBody>
      </p:sp>
      <p:sp>
        <p:nvSpPr>
          <p:cNvPr id="43" name="Shape 41"/>
          <p:cNvSpPr/>
          <p:nvPr/>
        </p:nvSpPr>
        <p:spPr>
          <a:xfrm>
            <a:off x="12052250" y="3162300"/>
            <a:ext cx="5283101" cy="1190625"/>
          </a:xfrm>
          <a:prstGeom prst="rect">
            <a:avLst/>
          </a:prstGeom>
          <a:solidFill>
            <a:srgbClr val="241D17"/>
          </a:solidFill>
          <a:ln w="9525">
            <a:solidFill>
              <a:srgbClr val="33291F"/>
            </a:solidFill>
            <a:prstDash val="solid"/>
          </a:ln>
        </p:spPr>
      </p:sp>
      <p:sp>
        <p:nvSpPr>
          <p:cNvPr id="44" name="Text 42"/>
          <p:cNvSpPr/>
          <p:nvPr/>
        </p:nvSpPr>
        <p:spPr>
          <a:xfrm>
            <a:off x="12309425" y="3419475"/>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T-03</a:t>
            </a:r>
            <a:endParaRPr lang="en-US" sz="1800" dirty="0"/>
          </a:p>
        </p:txBody>
      </p:sp>
      <p:sp>
        <p:nvSpPr>
          <p:cNvPr id="45" name="Text 43"/>
          <p:cNvSpPr/>
          <p:nvPr/>
        </p:nvSpPr>
        <p:spPr>
          <a:xfrm>
            <a:off x="15569059" y="3419475"/>
            <a:ext cx="16600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Ready 00:22</a:t>
            </a:r>
            <a:endParaRPr lang="en-US" sz="1800" dirty="0"/>
          </a:p>
        </p:txBody>
      </p:sp>
      <p:sp>
        <p:nvSpPr>
          <p:cNvPr id="46" name="Text 44"/>
          <p:cNvSpPr/>
          <p:nvPr/>
        </p:nvSpPr>
        <p:spPr>
          <a:xfrm>
            <a:off x="12309425" y="3790950"/>
            <a:ext cx="524562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Butter Naan ×3</a:t>
            </a:r>
            <a:endParaRPr lang="en-US" sz="2100" dirty="0"/>
          </a:p>
        </p:txBody>
      </p:sp>
      <p:sp>
        <p:nvSpPr>
          <p:cNvPr id="47" name="Shape 45"/>
          <p:cNvSpPr/>
          <p:nvPr/>
        </p:nvSpPr>
        <p:spPr>
          <a:xfrm>
            <a:off x="12052250" y="4543425"/>
            <a:ext cx="5283101" cy="1190625"/>
          </a:xfrm>
          <a:prstGeom prst="rect">
            <a:avLst/>
          </a:prstGeom>
          <a:solidFill>
            <a:srgbClr val="241D17"/>
          </a:solidFill>
          <a:ln w="9525">
            <a:solidFill>
              <a:srgbClr val="33291F"/>
            </a:solidFill>
            <a:prstDash val="solid"/>
          </a:ln>
        </p:spPr>
      </p:sp>
      <p:sp>
        <p:nvSpPr>
          <p:cNvPr id="48" name="Text 46"/>
          <p:cNvSpPr/>
          <p:nvPr/>
        </p:nvSpPr>
        <p:spPr>
          <a:xfrm>
            <a:off x="12309425" y="4800600"/>
            <a:ext cx="6249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B8862B"/>
                </a:solidFill>
                <a:latin typeface="Courier New" pitchFamily="34" charset="0"/>
                <a:ea typeface="Courier New" pitchFamily="34" charset="-122"/>
                <a:cs typeface="Courier New" pitchFamily="34" charset="-120"/>
              </a:rPr>
              <a:t>T-11</a:t>
            </a:r>
            <a:endParaRPr lang="en-US" sz="1800" dirty="0"/>
          </a:p>
        </p:txBody>
      </p:sp>
      <p:sp>
        <p:nvSpPr>
          <p:cNvPr id="49" name="Text 47"/>
          <p:cNvSpPr/>
          <p:nvPr/>
        </p:nvSpPr>
        <p:spPr>
          <a:xfrm>
            <a:off x="15569059" y="4800600"/>
            <a:ext cx="1660029"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Ready 01:04</a:t>
            </a:r>
            <a:endParaRPr lang="en-US" sz="1800" dirty="0"/>
          </a:p>
        </p:txBody>
      </p:sp>
      <p:sp>
        <p:nvSpPr>
          <p:cNvPr id="50" name="Text 48"/>
          <p:cNvSpPr/>
          <p:nvPr/>
        </p:nvSpPr>
        <p:spPr>
          <a:xfrm>
            <a:off x="12309425" y="5172075"/>
            <a:ext cx="524562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7F1E6"/>
                </a:solidFill>
                <a:latin typeface="Arial" pitchFamily="34" charset="0"/>
                <a:ea typeface="Arial" pitchFamily="34" charset="-122"/>
                <a:cs typeface="Arial" pitchFamily="34" charset="-120"/>
              </a:rPr>
              <a:t>Coke ×2</a:t>
            </a:r>
            <a:endParaRPr lang="en-US" sz="2100" dirty="0"/>
          </a:p>
        </p:txBody>
      </p:sp>
      <p:sp>
        <p:nvSpPr>
          <p:cNvPr id="51" name="Shape 49"/>
          <p:cNvSpPr/>
          <p:nvPr/>
        </p:nvSpPr>
        <p:spPr>
          <a:xfrm>
            <a:off x="12052250" y="5924550"/>
            <a:ext cx="5283101" cy="723900"/>
          </a:xfrm>
          <a:prstGeom prst="rect">
            <a:avLst/>
          </a:prstGeom>
          <a:ln w="9525">
            <a:solidFill>
              <a:srgbClr val="33291F"/>
            </a:solidFill>
            <a:prstDash val="dash"/>
          </a:ln>
        </p:spPr>
      </p:sp>
      <p:sp>
        <p:nvSpPr>
          <p:cNvPr id="52" name="Text 50"/>
          <p:cNvSpPr/>
          <p:nvPr/>
        </p:nvSpPr>
        <p:spPr>
          <a:xfrm>
            <a:off x="12309425" y="6181725"/>
            <a:ext cx="4927244" cy="247650"/>
          </a:xfrm>
          <a:prstGeom prst="rect">
            <a:avLst/>
          </a:prstGeom>
          <a:noFill/>
          <a:ln/>
        </p:spPr>
        <p:txBody>
          <a:bodyPr wrap="square" lIns="25400" tIns="25400" rIns="25400" bIns="25400" rtlCol="0" anchor="t">
            <a:normAutofit/>
          </a:bodyPr>
          <a:lstStyle/>
          <a:p>
            <a:pPr algn="l" indent="0" marL="0">
              <a:buNone/>
            </a:pPr>
            <a:r>
              <a:rPr lang="en-US" sz="1425" dirty="0">
                <a:solidFill>
                  <a:srgbClr val="5E564D"/>
                </a:solidFill>
                <a:latin typeface="Courier New" pitchFamily="34" charset="0"/>
                <a:ea typeface="Courier New" pitchFamily="34" charset="-122"/>
                <a:cs typeface="Courier New" pitchFamily="34" charset="-120"/>
              </a:rPr>
              <a:t>Picked-up items clear automatically</a:t>
            </a:r>
            <a:endParaRPr lang="en-US" sz="14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ORDER LIFECYCLE</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AN ORDER CAN ONLY MOVE FORWARD.</a:t>
            </a:r>
            <a:endParaRPr lang="en-US" sz="6300" dirty="0"/>
          </a:p>
        </p:txBody>
      </p:sp>
      <p:sp>
        <p:nvSpPr>
          <p:cNvPr id="4" name="Shape 2"/>
          <p:cNvSpPr/>
          <p:nvPr/>
        </p:nvSpPr>
        <p:spPr>
          <a:xfrm>
            <a:off x="952500" y="5762625"/>
            <a:ext cx="2463850" cy="2447925"/>
          </a:xfrm>
          <a:prstGeom prst="rect">
            <a:avLst/>
          </a:prstGeom>
          <a:solidFill>
            <a:srgbClr val="FFFFFF"/>
          </a:solidFill>
          <a:ln w="9525">
            <a:solidFill>
              <a:srgbClr val="E0D6C6"/>
            </a:solidFill>
            <a:prstDash val="solid"/>
          </a:ln>
        </p:spPr>
      </p:sp>
      <p:sp>
        <p:nvSpPr>
          <p:cNvPr id="5" name="Text 3"/>
          <p:cNvSpPr/>
          <p:nvPr/>
        </p:nvSpPr>
        <p:spPr>
          <a:xfrm>
            <a:off x="1209675" y="6096000"/>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01</a:t>
            </a:r>
            <a:endParaRPr lang="en-US" sz="1275" dirty="0"/>
          </a:p>
        </p:txBody>
      </p:sp>
      <p:sp>
        <p:nvSpPr>
          <p:cNvPr id="6" name="Text 4"/>
          <p:cNvSpPr/>
          <p:nvPr/>
        </p:nvSpPr>
        <p:spPr>
          <a:xfrm>
            <a:off x="1209675" y="6429375"/>
            <a:ext cx="2144450"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DRAFT</a:t>
            </a:r>
            <a:endParaRPr lang="en-US" sz="2550" dirty="0"/>
          </a:p>
        </p:txBody>
      </p:sp>
      <p:sp>
        <p:nvSpPr>
          <p:cNvPr id="7" name="Text 5"/>
          <p:cNvSpPr/>
          <p:nvPr/>
        </p:nvSpPr>
        <p:spPr>
          <a:xfrm>
            <a:off x="1209675" y="6953250"/>
            <a:ext cx="2025700" cy="590550"/>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8A7F71"/>
                </a:solidFill>
                <a:latin typeface="Arial" pitchFamily="34" charset="0"/>
                <a:ea typeface="Arial" pitchFamily="34" charset="-122"/>
                <a:cs typeface="Arial" pitchFamily="34" charset="-120"/>
              </a:rPr>
              <a:t>Being taken at the table</a:t>
            </a:r>
            <a:endParaRPr lang="en-US" sz="1650" dirty="0"/>
          </a:p>
        </p:txBody>
      </p:sp>
      <p:sp>
        <p:nvSpPr>
          <p:cNvPr id="8" name="Text 6"/>
          <p:cNvSpPr/>
          <p:nvPr/>
        </p:nvSpPr>
        <p:spPr>
          <a:xfrm>
            <a:off x="3378250" y="5762625"/>
            <a:ext cx="400050" cy="2486025"/>
          </a:xfrm>
          <a:prstGeom prst="rect">
            <a:avLst/>
          </a:prstGeom>
          <a:noFill/>
          <a:ln/>
        </p:spPr>
        <p:txBody>
          <a:bodyPr wrap="square" lIns="25400" tIns="25400" rIns="25400" bIns="25400" rtlCol="0" anchor="ctr">
            <a:normAutofit/>
          </a:bodyPr>
          <a:lstStyle/>
          <a:p>
            <a:pPr algn="ctr" indent="0" marL="0">
              <a:buNone/>
            </a:pPr>
            <a:r>
              <a:rPr lang="en-US" sz="1950" dirty="0">
                <a:solidFill>
                  <a:srgbClr val="C9BEAC"/>
                </a:solidFill>
                <a:latin typeface="Arial" pitchFamily="34" charset="0"/>
                <a:ea typeface="Arial" pitchFamily="34" charset="-122"/>
                <a:cs typeface="Arial" pitchFamily="34" charset="-120"/>
              </a:rPr>
              <a:t>→</a:t>
            </a:r>
            <a:endParaRPr lang="en-US" sz="1950" dirty="0"/>
          </a:p>
        </p:txBody>
      </p:sp>
      <p:sp>
        <p:nvSpPr>
          <p:cNvPr id="9" name="Shape 7"/>
          <p:cNvSpPr/>
          <p:nvPr/>
        </p:nvSpPr>
        <p:spPr>
          <a:xfrm>
            <a:off x="3740200" y="5762625"/>
            <a:ext cx="2463850" cy="2447925"/>
          </a:xfrm>
          <a:prstGeom prst="rect">
            <a:avLst/>
          </a:prstGeom>
          <a:solidFill>
            <a:srgbClr val="FFFFFF"/>
          </a:solidFill>
          <a:ln w="9525">
            <a:solidFill>
              <a:srgbClr val="E0D6C6"/>
            </a:solidFill>
            <a:prstDash val="solid"/>
          </a:ln>
        </p:spPr>
      </p:sp>
      <p:sp>
        <p:nvSpPr>
          <p:cNvPr id="10" name="Text 8"/>
          <p:cNvSpPr/>
          <p:nvPr/>
        </p:nvSpPr>
        <p:spPr>
          <a:xfrm>
            <a:off x="3997375" y="6096000"/>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02</a:t>
            </a:r>
            <a:endParaRPr lang="en-US" sz="1275" dirty="0"/>
          </a:p>
        </p:txBody>
      </p:sp>
      <p:sp>
        <p:nvSpPr>
          <p:cNvPr id="11" name="Text 9"/>
          <p:cNvSpPr/>
          <p:nvPr/>
        </p:nvSpPr>
        <p:spPr>
          <a:xfrm>
            <a:off x="3997375" y="6429375"/>
            <a:ext cx="2144450"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PLACED</a:t>
            </a:r>
            <a:endParaRPr lang="en-US" sz="2550" dirty="0"/>
          </a:p>
        </p:txBody>
      </p:sp>
      <p:sp>
        <p:nvSpPr>
          <p:cNvPr id="12" name="Text 10"/>
          <p:cNvSpPr/>
          <p:nvPr/>
        </p:nvSpPr>
        <p:spPr>
          <a:xfrm>
            <a:off x="3997375" y="6953250"/>
            <a:ext cx="2144450" cy="314325"/>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8A7F71"/>
                </a:solidFill>
                <a:latin typeface="Arial" pitchFamily="34" charset="0"/>
                <a:ea typeface="Arial" pitchFamily="34" charset="-122"/>
                <a:cs typeface="Arial" pitchFamily="34" charset="-120"/>
              </a:rPr>
              <a:t>Visible in the kitchen</a:t>
            </a:r>
            <a:endParaRPr lang="en-US" sz="1650" dirty="0"/>
          </a:p>
        </p:txBody>
      </p:sp>
      <p:sp>
        <p:nvSpPr>
          <p:cNvPr id="13" name="Text 11"/>
          <p:cNvSpPr/>
          <p:nvPr/>
        </p:nvSpPr>
        <p:spPr>
          <a:xfrm>
            <a:off x="6165949" y="5762625"/>
            <a:ext cx="400050" cy="2486025"/>
          </a:xfrm>
          <a:prstGeom prst="rect">
            <a:avLst/>
          </a:prstGeom>
          <a:noFill/>
          <a:ln/>
        </p:spPr>
        <p:txBody>
          <a:bodyPr wrap="square" lIns="25400" tIns="25400" rIns="25400" bIns="25400" rtlCol="0" anchor="ctr">
            <a:normAutofit/>
          </a:bodyPr>
          <a:lstStyle/>
          <a:p>
            <a:pPr algn="ctr" indent="0" marL="0">
              <a:buNone/>
            </a:pPr>
            <a:r>
              <a:rPr lang="en-US" sz="1950" dirty="0">
                <a:solidFill>
                  <a:srgbClr val="C9BEAC"/>
                </a:solidFill>
                <a:latin typeface="Arial" pitchFamily="34" charset="0"/>
                <a:ea typeface="Arial" pitchFamily="34" charset="-122"/>
                <a:cs typeface="Arial" pitchFamily="34" charset="-120"/>
              </a:rPr>
              <a:t>→</a:t>
            </a:r>
            <a:endParaRPr lang="en-US" sz="1950" dirty="0"/>
          </a:p>
        </p:txBody>
      </p:sp>
      <p:sp>
        <p:nvSpPr>
          <p:cNvPr id="14" name="Shape 12"/>
          <p:cNvSpPr/>
          <p:nvPr/>
        </p:nvSpPr>
        <p:spPr>
          <a:xfrm>
            <a:off x="6527899" y="5762625"/>
            <a:ext cx="2463850" cy="2447925"/>
          </a:xfrm>
          <a:prstGeom prst="rect">
            <a:avLst/>
          </a:prstGeom>
          <a:solidFill>
            <a:srgbClr val="FFFFFF"/>
          </a:solidFill>
          <a:ln w="9525">
            <a:solidFill>
              <a:srgbClr val="E0D6C6"/>
            </a:solidFill>
            <a:prstDash val="solid"/>
          </a:ln>
        </p:spPr>
      </p:sp>
      <p:sp>
        <p:nvSpPr>
          <p:cNvPr id="15" name="Text 13"/>
          <p:cNvSpPr/>
          <p:nvPr/>
        </p:nvSpPr>
        <p:spPr>
          <a:xfrm>
            <a:off x="6785074" y="6096000"/>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03</a:t>
            </a:r>
            <a:endParaRPr lang="en-US" sz="1275" dirty="0"/>
          </a:p>
        </p:txBody>
      </p:sp>
      <p:sp>
        <p:nvSpPr>
          <p:cNvPr id="16" name="Text 14"/>
          <p:cNvSpPr/>
          <p:nvPr/>
        </p:nvSpPr>
        <p:spPr>
          <a:xfrm>
            <a:off x="6785074" y="6429375"/>
            <a:ext cx="2025700" cy="78105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PARTIALLY SERVED</a:t>
            </a:r>
            <a:endParaRPr lang="en-US" sz="2550" dirty="0"/>
          </a:p>
        </p:txBody>
      </p:sp>
      <p:sp>
        <p:nvSpPr>
          <p:cNvPr id="17" name="Text 15"/>
          <p:cNvSpPr/>
          <p:nvPr/>
        </p:nvSpPr>
        <p:spPr>
          <a:xfrm>
            <a:off x="6785074" y="7324725"/>
            <a:ext cx="2025700" cy="590550"/>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8A7F71"/>
                </a:solidFill>
                <a:latin typeface="Arial" pitchFamily="34" charset="0"/>
                <a:ea typeface="Arial" pitchFamily="34" charset="-122"/>
                <a:cs typeface="Arial" pitchFamily="34" charset="-120"/>
              </a:rPr>
              <a:t>Some dishes on the table</a:t>
            </a:r>
            <a:endParaRPr lang="en-US" sz="1650" dirty="0"/>
          </a:p>
        </p:txBody>
      </p:sp>
      <p:sp>
        <p:nvSpPr>
          <p:cNvPr id="18" name="Text 16"/>
          <p:cNvSpPr/>
          <p:nvPr/>
        </p:nvSpPr>
        <p:spPr>
          <a:xfrm>
            <a:off x="8953649" y="5762625"/>
            <a:ext cx="400050" cy="2486025"/>
          </a:xfrm>
          <a:prstGeom prst="rect">
            <a:avLst/>
          </a:prstGeom>
          <a:noFill/>
          <a:ln/>
        </p:spPr>
        <p:txBody>
          <a:bodyPr wrap="square" lIns="25400" tIns="25400" rIns="25400" bIns="25400" rtlCol="0" anchor="ctr">
            <a:normAutofit/>
          </a:bodyPr>
          <a:lstStyle/>
          <a:p>
            <a:pPr algn="ctr" indent="0" marL="0">
              <a:buNone/>
            </a:pPr>
            <a:r>
              <a:rPr lang="en-US" sz="1950" dirty="0">
                <a:solidFill>
                  <a:srgbClr val="C9BEAC"/>
                </a:solidFill>
                <a:latin typeface="Arial" pitchFamily="34" charset="0"/>
                <a:ea typeface="Arial" pitchFamily="34" charset="-122"/>
                <a:cs typeface="Arial" pitchFamily="34" charset="-120"/>
              </a:rPr>
              <a:t>→</a:t>
            </a:r>
            <a:endParaRPr lang="en-US" sz="1950" dirty="0"/>
          </a:p>
        </p:txBody>
      </p:sp>
      <p:sp>
        <p:nvSpPr>
          <p:cNvPr id="19" name="Shape 17"/>
          <p:cNvSpPr/>
          <p:nvPr/>
        </p:nvSpPr>
        <p:spPr>
          <a:xfrm>
            <a:off x="9315599" y="5762625"/>
            <a:ext cx="2463850" cy="2447925"/>
          </a:xfrm>
          <a:prstGeom prst="rect">
            <a:avLst/>
          </a:prstGeom>
          <a:solidFill>
            <a:srgbClr val="FFFFFF"/>
          </a:solidFill>
          <a:ln w="9525">
            <a:solidFill>
              <a:srgbClr val="E0D6C6"/>
            </a:solidFill>
            <a:prstDash val="solid"/>
          </a:ln>
        </p:spPr>
      </p:sp>
      <p:sp>
        <p:nvSpPr>
          <p:cNvPr id="20" name="Text 18"/>
          <p:cNvSpPr/>
          <p:nvPr/>
        </p:nvSpPr>
        <p:spPr>
          <a:xfrm>
            <a:off x="9572774" y="6096000"/>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04</a:t>
            </a:r>
            <a:endParaRPr lang="en-US" sz="1275" dirty="0"/>
          </a:p>
        </p:txBody>
      </p:sp>
      <p:sp>
        <p:nvSpPr>
          <p:cNvPr id="21" name="Text 19"/>
          <p:cNvSpPr/>
          <p:nvPr/>
        </p:nvSpPr>
        <p:spPr>
          <a:xfrm>
            <a:off x="9572774" y="6429375"/>
            <a:ext cx="2144450"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SERVED</a:t>
            </a:r>
            <a:endParaRPr lang="en-US" sz="2550" dirty="0"/>
          </a:p>
        </p:txBody>
      </p:sp>
      <p:sp>
        <p:nvSpPr>
          <p:cNvPr id="22" name="Text 20"/>
          <p:cNvSpPr/>
          <p:nvPr/>
        </p:nvSpPr>
        <p:spPr>
          <a:xfrm>
            <a:off x="9572774" y="6953250"/>
            <a:ext cx="2144450" cy="314325"/>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8A7F71"/>
                </a:solidFill>
                <a:latin typeface="Arial" pitchFamily="34" charset="0"/>
                <a:ea typeface="Arial" pitchFamily="34" charset="-122"/>
                <a:cs typeface="Arial" pitchFamily="34" charset="-120"/>
              </a:rPr>
              <a:t>Everything delivered</a:t>
            </a:r>
            <a:endParaRPr lang="en-US" sz="1650" dirty="0"/>
          </a:p>
        </p:txBody>
      </p:sp>
      <p:sp>
        <p:nvSpPr>
          <p:cNvPr id="23" name="Text 21"/>
          <p:cNvSpPr/>
          <p:nvPr/>
        </p:nvSpPr>
        <p:spPr>
          <a:xfrm>
            <a:off x="11741348" y="5762625"/>
            <a:ext cx="400050" cy="2486025"/>
          </a:xfrm>
          <a:prstGeom prst="rect">
            <a:avLst/>
          </a:prstGeom>
          <a:noFill/>
          <a:ln/>
        </p:spPr>
        <p:txBody>
          <a:bodyPr wrap="square" lIns="25400" tIns="25400" rIns="25400" bIns="25400" rtlCol="0" anchor="ctr">
            <a:normAutofit/>
          </a:bodyPr>
          <a:lstStyle/>
          <a:p>
            <a:pPr algn="ctr" indent="0" marL="0">
              <a:buNone/>
            </a:pPr>
            <a:r>
              <a:rPr lang="en-US" sz="1950" dirty="0">
                <a:solidFill>
                  <a:srgbClr val="C9BEAC"/>
                </a:solidFill>
                <a:latin typeface="Arial" pitchFamily="34" charset="0"/>
                <a:ea typeface="Arial" pitchFamily="34" charset="-122"/>
                <a:cs typeface="Arial" pitchFamily="34" charset="-120"/>
              </a:rPr>
              <a:t>→</a:t>
            </a:r>
            <a:endParaRPr lang="en-US" sz="1950" dirty="0"/>
          </a:p>
        </p:txBody>
      </p:sp>
      <p:sp>
        <p:nvSpPr>
          <p:cNvPr id="24" name="Shape 22"/>
          <p:cNvSpPr/>
          <p:nvPr/>
        </p:nvSpPr>
        <p:spPr>
          <a:xfrm>
            <a:off x="12103298" y="5762625"/>
            <a:ext cx="2463850" cy="2447925"/>
          </a:xfrm>
          <a:prstGeom prst="rect">
            <a:avLst/>
          </a:prstGeom>
          <a:solidFill>
            <a:srgbClr val="FFFFFF"/>
          </a:solidFill>
          <a:ln w="9525">
            <a:solidFill>
              <a:srgbClr val="E0D6C6"/>
            </a:solidFill>
            <a:prstDash val="solid"/>
          </a:ln>
        </p:spPr>
      </p:sp>
      <p:sp>
        <p:nvSpPr>
          <p:cNvPr id="25" name="Text 23"/>
          <p:cNvSpPr/>
          <p:nvPr/>
        </p:nvSpPr>
        <p:spPr>
          <a:xfrm>
            <a:off x="12360473" y="6096000"/>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05</a:t>
            </a:r>
            <a:endParaRPr lang="en-US" sz="1275" dirty="0"/>
          </a:p>
        </p:txBody>
      </p:sp>
      <p:sp>
        <p:nvSpPr>
          <p:cNvPr id="26" name="Text 24"/>
          <p:cNvSpPr/>
          <p:nvPr/>
        </p:nvSpPr>
        <p:spPr>
          <a:xfrm>
            <a:off x="12360473" y="6429375"/>
            <a:ext cx="2144450"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BILLED</a:t>
            </a:r>
            <a:endParaRPr lang="en-US" sz="2550" dirty="0"/>
          </a:p>
        </p:txBody>
      </p:sp>
      <p:sp>
        <p:nvSpPr>
          <p:cNvPr id="27" name="Text 25"/>
          <p:cNvSpPr/>
          <p:nvPr/>
        </p:nvSpPr>
        <p:spPr>
          <a:xfrm>
            <a:off x="12360473" y="6953250"/>
            <a:ext cx="2025700" cy="590550"/>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8A7F71"/>
                </a:solidFill>
                <a:latin typeface="Arial" pitchFamily="34" charset="0"/>
                <a:ea typeface="Arial" pitchFamily="34" charset="-122"/>
                <a:cs typeface="Arial" pitchFamily="34" charset="-120"/>
              </a:rPr>
              <a:t>Bill raised at the counter</a:t>
            </a:r>
            <a:endParaRPr lang="en-US" sz="1650" dirty="0"/>
          </a:p>
        </p:txBody>
      </p:sp>
      <p:sp>
        <p:nvSpPr>
          <p:cNvPr id="28" name="Text 26"/>
          <p:cNvSpPr/>
          <p:nvPr/>
        </p:nvSpPr>
        <p:spPr>
          <a:xfrm>
            <a:off x="14529048" y="5762625"/>
            <a:ext cx="400050" cy="2486025"/>
          </a:xfrm>
          <a:prstGeom prst="rect">
            <a:avLst/>
          </a:prstGeom>
          <a:noFill/>
          <a:ln/>
        </p:spPr>
        <p:txBody>
          <a:bodyPr wrap="square" lIns="25400" tIns="25400" rIns="25400" bIns="25400" rtlCol="0" anchor="ctr">
            <a:normAutofit/>
          </a:bodyPr>
          <a:lstStyle/>
          <a:p>
            <a:pPr algn="ctr" indent="0" marL="0">
              <a:buNone/>
            </a:pPr>
            <a:r>
              <a:rPr lang="en-US" sz="1950" dirty="0">
                <a:solidFill>
                  <a:srgbClr val="C9BEAC"/>
                </a:solidFill>
                <a:latin typeface="Arial" pitchFamily="34" charset="0"/>
                <a:ea typeface="Arial" pitchFamily="34" charset="-122"/>
                <a:cs typeface="Arial" pitchFamily="34" charset="-120"/>
              </a:rPr>
              <a:t>→</a:t>
            </a:r>
            <a:endParaRPr lang="en-US" sz="1950" dirty="0"/>
          </a:p>
        </p:txBody>
      </p:sp>
      <p:sp>
        <p:nvSpPr>
          <p:cNvPr id="29" name="Shape 27"/>
          <p:cNvSpPr/>
          <p:nvPr/>
        </p:nvSpPr>
        <p:spPr>
          <a:xfrm>
            <a:off x="14890998" y="5762625"/>
            <a:ext cx="2444800" cy="2447925"/>
          </a:xfrm>
          <a:prstGeom prst="rect">
            <a:avLst/>
          </a:prstGeom>
          <a:solidFill>
            <a:srgbClr val="241D17"/>
          </a:solidFill>
          <a:ln/>
        </p:spPr>
      </p:sp>
      <p:sp>
        <p:nvSpPr>
          <p:cNvPr id="30" name="Text 28"/>
          <p:cNvSpPr/>
          <p:nvPr/>
        </p:nvSpPr>
        <p:spPr>
          <a:xfrm>
            <a:off x="15138648" y="6086475"/>
            <a:ext cx="214445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D8A94A"/>
                </a:solidFill>
                <a:latin typeface="Courier New" pitchFamily="34" charset="0"/>
                <a:ea typeface="Courier New" pitchFamily="34" charset="-122"/>
                <a:cs typeface="Courier New" pitchFamily="34" charset="-120"/>
              </a:rPr>
              <a:t>06</a:t>
            </a:r>
            <a:endParaRPr lang="en-US" sz="1275" dirty="0"/>
          </a:p>
        </p:txBody>
      </p:sp>
      <p:sp>
        <p:nvSpPr>
          <p:cNvPr id="31" name="Text 29"/>
          <p:cNvSpPr/>
          <p:nvPr/>
        </p:nvSpPr>
        <p:spPr>
          <a:xfrm>
            <a:off x="15138648" y="6419850"/>
            <a:ext cx="2144450"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F7F1E6"/>
                </a:solidFill>
                <a:latin typeface="Arial" pitchFamily="34" charset="0"/>
                <a:ea typeface="Arial" pitchFamily="34" charset="-122"/>
                <a:cs typeface="Arial" pitchFamily="34" charset="-120"/>
              </a:rPr>
              <a:t>SETTLED</a:t>
            </a:r>
            <a:endParaRPr lang="en-US" sz="2550" dirty="0"/>
          </a:p>
        </p:txBody>
      </p:sp>
      <p:sp>
        <p:nvSpPr>
          <p:cNvPr id="32" name="Text 30"/>
          <p:cNvSpPr/>
          <p:nvPr/>
        </p:nvSpPr>
        <p:spPr>
          <a:xfrm>
            <a:off x="15138648" y="6943725"/>
            <a:ext cx="2144450" cy="314325"/>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A2988B"/>
                </a:solidFill>
                <a:latin typeface="Arial" pitchFamily="34" charset="0"/>
                <a:ea typeface="Arial" pitchFamily="34" charset="-122"/>
                <a:cs typeface="Arial" pitchFamily="34" charset="-120"/>
              </a:rPr>
              <a:t>Paid and closed</a:t>
            </a:r>
            <a:endParaRPr lang="en-US" sz="1650" dirty="0"/>
          </a:p>
        </p:txBody>
      </p:sp>
      <p:sp>
        <p:nvSpPr>
          <p:cNvPr id="33" name="Shape 31"/>
          <p:cNvSpPr/>
          <p:nvPr/>
        </p:nvSpPr>
        <p:spPr>
          <a:xfrm>
            <a:off x="1524000" y="8553450"/>
            <a:ext cx="9525" cy="419100"/>
          </a:xfrm>
          <a:prstGeom prst="rect">
            <a:avLst/>
          </a:prstGeom>
          <a:solidFill>
            <a:srgbClr val="C9BEAC"/>
          </a:solidFill>
          <a:ln/>
        </p:spPr>
      </p:sp>
      <p:sp>
        <p:nvSpPr>
          <p:cNvPr id="34" name="Shape 32"/>
          <p:cNvSpPr/>
          <p:nvPr/>
        </p:nvSpPr>
        <p:spPr>
          <a:xfrm>
            <a:off x="3748236" y="8801100"/>
            <a:ext cx="4734371" cy="723900"/>
          </a:xfrm>
          <a:prstGeom prst="rect">
            <a:avLst/>
          </a:prstGeom>
          <a:ln w="9525">
            <a:solidFill>
              <a:srgbClr val="C9BEAC"/>
            </a:solidFill>
            <a:prstDash val="dash"/>
          </a:ln>
        </p:spPr>
      </p:sp>
      <p:sp>
        <p:nvSpPr>
          <p:cNvPr id="35" name="Text 33"/>
          <p:cNvSpPr/>
          <p:nvPr/>
        </p:nvSpPr>
        <p:spPr>
          <a:xfrm>
            <a:off x="4043511" y="9001125"/>
            <a:ext cx="1938337"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6F6455"/>
                </a:solidFill>
                <a:latin typeface="Arial" pitchFamily="34" charset="0"/>
                <a:ea typeface="Arial" pitchFamily="34" charset="-122"/>
                <a:cs typeface="Arial" pitchFamily="34" charset="-120"/>
              </a:rPr>
              <a:t>CANCELLED</a:t>
            </a:r>
            <a:endParaRPr lang="en-US" sz="2250" dirty="0"/>
          </a:p>
        </p:txBody>
      </p:sp>
      <p:sp>
        <p:nvSpPr>
          <p:cNvPr id="36" name="Text 34"/>
          <p:cNvSpPr/>
          <p:nvPr/>
        </p:nvSpPr>
        <p:spPr>
          <a:xfrm>
            <a:off x="6015186" y="9053513"/>
            <a:ext cx="238936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9A8F82"/>
                </a:solidFill>
                <a:latin typeface="Courier New" pitchFamily="34" charset="0"/>
                <a:ea typeface="Courier New" pitchFamily="34" charset="-122"/>
                <a:cs typeface="Courier New" pitchFamily="34" charset="-120"/>
              </a:rPr>
              <a:t>reason + who + when</a:t>
            </a:r>
            <a:endParaRPr lang="en-US" sz="1500" dirty="0"/>
          </a:p>
        </p:txBody>
      </p:sp>
      <p:sp>
        <p:nvSpPr>
          <p:cNvPr id="37" name="Text 35"/>
          <p:cNvSpPr/>
          <p:nvPr/>
        </p:nvSpPr>
        <p:spPr>
          <a:xfrm>
            <a:off x="8749308" y="9029700"/>
            <a:ext cx="662096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9A8F82"/>
                </a:solidFill>
                <a:latin typeface="Arial" pitchFamily="34" charset="0"/>
                <a:ea typeface="Arial" pitchFamily="34" charset="-122"/>
                <a:cs typeface="Arial" pitchFamily="34" charset="-120"/>
              </a:rPr>
              <a:t>Available only before the dish is fired, and always recorded.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952500" y="876300"/>
            <a:ext cx="8010227" cy="8648700"/>
          </a:xfrm>
          <a:prstGeom prst="rect">
            <a:avLst/>
          </a:prstGeom>
          <a:solidFill>
            <a:srgbClr val="FFFFFF"/>
          </a:solidFill>
          <a:ln w="9525">
            <a:solidFill>
              <a:srgbClr val="E0D6C6"/>
            </a:solidFill>
            <a:prstDash val="solid"/>
          </a:ln>
        </p:spPr>
      </p:sp>
      <p:sp>
        <p:nvSpPr>
          <p:cNvPr id="3" name="Shape 1"/>
          <p:cNvSpPr/>
          <p:nvPr/>
        </p:nvSpPr>
        <p:spPr>
          <a:xfrm>
            <a:off x="962025" y="1828800"/>
            <a:ext cx="7991177" cy="9525"/>
          </a:xfrm>
          <a:prstGeom prst="rect">
            <a:avLst/>
          </a:prstGeom>
          <a:solidFill>
            <a:srgbClr val="EDE5D9"/>
          </a:solidFill>
          <a:ln/>
        </p:spPr>
      </p:sp>
      <p:sp>
        <p:nvSpPr>
          <p:cNvPr id="4" name="Text 2"/>
          <p:cNvSpPr/>
          <p:nvPr/>
        </p:nvSpPr>
        <p:spPr>
          <a:xfrm>
            <a:off x="1323975" y="1171575"/>
            <a:ext cx="1399237"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91512"/>
                </a:solidFill>
                <a:latin typeface="Arial" pitchFamily="34" charset="0"/>
                <a:ea typeface="Arial" pitchFamily="34" charset="-122"/>
                <a:cs typeface="Arial" pitchFamily="34" charset="-120"/>
              </a:rPr>
              <a:t>Table 12</a:t>
            </a:r>
            <a:endParaRPr lang="en-US" sz="2550" dirty="0"/>
          </a:p>
        </p:txBody>
      </p:sp>
      <p:sp>
        <p:nvSpPr>
          <p:cNvPr id="5" name="Text 3"/>
          <p:cNvSpPr/>
          <p:nvPr/>
        </p:nvSpPr>
        <p:spPr>
          <a:xfrm>
            <a:off x="6647706" y="1247775"/>
            <a:ext cx="213790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9A8F82"/>
                </a:solidFill>
                <a:latin typeface="Courier New" pitchFamily="34" charset="0"/>
                <a:ea typeface="Courier New" pitchFamily="34" charset="-122"/>
                <a:cs typeface="Courier New" pitchFamily="34" charset="-120"/>
              </a:rPr>
              <a:t>Bill #4821 · Ravi</a:t>
            </a:r>
            <a:endParaRPr lang="en-US" sz="1500" dirty="0"/>
          </a:p>
        </p:txBody>
      </p:sp>
      <p:sp>
        <p:nvSpPr>
          <p:cNvPr id="6" name="Text 4"/>
          <p:cNvSpPr/>
          <p:nvPr/>
        </p:nvSpPr>
        <p:spPr>
          <a:xfrm>
            <a:off x="1323975" y="2124075"/>
            <a:ext cx="2340084"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Arial" pitchFamily="34" charset="0"/>
                <a:ea typeface="Arial" pitchFamily="34" charset="-122"/>
                <a:cs typeface="Arial" pitchFamily="34" charset="-120"/>
              </a:rPr>
              <a:t>Butter Chicken ×2</a:t>
            </a:r>
            <a:endParaRPr lang="en-US" sz="2100" dirty="0"/>
          </a:p>
        </p:txBody>
      </p:sp>
      <p:sp>
        <p:nvSpPr>
          <p:cNvPr id="7" name="Text 5"/>
          <p:cNvSpPr/>
          <p:nvPr/>
        </p:nvSpPr>
        <p:spPr>
          <a:xfrm>
            <a:off x="7630864" y="2124075"/>
            <a:ext cx="103658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Courier New" pitchFamily="34" charset="0"/>
                <a:ea typeface="Courier New" pitchFamily="34" charset="-122"/>
                <a:cs typeface="Courier New" pitchFamily="34" charset="-120"/>
              </a:rPr>
              <a:t>₹1,240</a:t>
            </a:r>
            <a:endParaRPr lang="en-US" sz="2100" dirty="0"/>
          </a:p>
        </p:txBody>
      </p:sp>
      <p:sp>
        <p:nvSpPr>
          <p:cNvPr id="8" name="Text 6"/>
          <p:cNvSpPr/>
          <p:nvPr/>
        </p:nvSpPr>
        <p:spPr>
          <a:xfrm>
            <a:off x="1323975" y="2686050"/>
            <a:ext cx="1981557"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Arial" pitchFamily="34" charset="0"/>
                <a:ea typeface="Arial" pitchFamily="34" charset="-122"/>
                <a:cs typeface="Arial" pitchFamily="34" charset="-120"/>
              </a:rPr>
              <a:t>Butter Naan ×3</a:t>
            </a:r>
            <a:endParaRPr lang="en-US" sz="2100" dirty="0"/>
          </a:p>
        </p:txBody>
      </p:sp>
      <p:sp>
        <p:nvSpPr>
          <p:cNvPr id="9" name="Text 7"/>
          <p:cNvSpPr/>
          <p:nvPr/>
        </p:nvSpPr>
        <p:spPr>
          <a:xfrm>
            <a:off x="7950994" y="2686050"/>
            <a:ext cx="71645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Courier New" pitchFamily="34" charset="0"/>
                <a:ea typeface="Courier New" pitchFamily="34" charset="-122"/>
                <a:cs typeface="Courier New" pitchFamily="34" charset="-120"/>
              </a:rPr>
              <a:t>₹270</a:t>
            </a:r>
            <a:endParaRPr lang="en-US" sz="2100" dirty="0"/>
          </a:p>
        </p:txBody>
      </p:sp>
      <p:sp>
        <p:nvSpPr>
          <p:cNvPr id="10" name="Text 8"/>
          <p:cNvSpPr/>
          <p:nvPr/>
        </p:nvSpPr>
        <p:spPr>
          <a:xfrm>
            <a:off x="1323975" y="3248025"/>
            <a:ext cx="2046714"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Arial" pitchFamily="34" charset="0"/>
                <a:ea typeface="Arial" pitchFamily="34" charset="-122"/>
                <a:cs typeface="Arial" pitchFamily="34" charset="-120"/>
              </a:rPr>
              <a:t>Dal Makhani ×1</a:t>
            </a:r>
            <a:endParaRPr lang="en-US" sz="2100" dirty="0"/>
          </a:p>
        </p:txBody>
      </p:sp>
      <p:sp>
        <p:nvSpPr>
          <p:cNvPr id="11" name="Text 9"/>
          <p:cNvSpPr/>
          <p:nvPr/>
        </p:nvSpPr>
        <p:spPr>
          <a:xfrm>
            <a:off x="7950994" y="3248025"/>
            <a:ext cx="71645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Courier New" pitchFamily="34" charset="0"/>
                <a:ea typeface="Courier New" pitchFamily="34" charset="-122"/>
                <a:cs typeface="Courier New" pitchFamily="34" charset="-120"/>
              </a:rPr>
              <a:t>₹430</a:t>
            </a:r>
            <a:endParaRPr lang="en-US" sz="2100" dirty="0"/>
          </a:p>
        </p:txBody>
      </p:sp>
      <p:sp>
        <p:nvSpPr>
          <p:cNvPr id="12" name="Text 10"/>
          <p:cNvSpPr/>
          <p:nvPr/>
        </p:nvSpPr>
        <p:spPr>
          <a:xfrm>
            <a:off x="1323975" y="3810000"/>
            <a:ext cx="107706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Arial" pitchFamily="34" charset="0"/>
                <a:ea typeface="Arial" pitchFamily="34" charset="-122"/>
                <a:cs typeface="Arial" pitchFamily="34" charset="-120"/>
              </a:rPr>
              <a:t>Coke ×2</a:t>
            </a:r>
            <a:endParaRPr lang="en-US" sz="2100" dirty="0"/>
          </a:p>
        </p:txBody>
      </p:sp>
      <p:sp>
        <p:nvSpPr>
          <p:cNvPr id="13" name="Text 11"/>
          <p:cNvSpPr/>
          <p:nvPr/>
        </p:nvSpPr>
        <p:spPr>
          <a:xfrm>
            <a:off x="7950994" y="3810000"/>
            <a:ext cx="71645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91512"/>
                </a:solidFill>
                <a:latin typeface="Courier New" pitchFamily="34" charset="0"/>
                <a:ea typeface="Courier New" pitchFamily="34" charset="-122"/>
                <a:cs typeface="Courier New" pitchFamily="34" charset="-120"/>
              </a:rPr>
              <a:t>₹240</a:t>
            </a:r>
            <a:endParaRPr lang="en-US" sz="2100" dirty="0"/>
          </a:p>
        </p:txBody>
      </p:sp>
      <p:sp>
        <p:nvSpPr>
          <p:cNvPr id="14" name="Shape 12"/>
          <p:cNvSpPr/>
          <p:nvPr/>
        </p:nvSpPr>
        <p:spPr>
          <a:xfrm>
            <a:off x="1323975" y="4429125"/>
            <a:ext cx="7267277" cy="9525"/>
          </a:xfrm>
          <a:prstGeom prst="rect">
            <a:avLst/>
          </a:prstGeom>
          <a:solidFill>
            <a:srgbClr val="EDE5D9"/>
          </a:solidFill>
          <a:ln/>
        </p:spPr>
      </p:sp>
      <p:sp>
        <p:nvSpPr>
          <p:cNvPr id="15" name="Text 13"/>
          <p:cNvSpPr/>
          <p:nvPr/>
        </p:nvSpPr>
        <p:spPr>
          <a:xfrm>
            <a:off x="1323975" y="4705350"/>
            <a:ext cx="984945"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Arial" pitchFamily="34" charset="0"/>
                <a:ea typeface="Arial" pitchFamily="34" charset="-122"/>
                <a:cs typeface="Arial" pitchFamily="34" charset="-120"/>
              </a:rPr>
              <a:t>Subtotal</a:t>
            </a:r>
            <a:endParaRPr lang="en-US" sz="1950" dirty="0"/>
          </a:p>
        </p:txBody>
      </p:sp>
      <p:sp>
        <p:nvSpPr>
          <p:cNvPr id="16" name="Text 14"/>
          <p:cNvSpPr/>
          <p:nvPr/>
        </p:nvSpPr>
        <p:spPr>
          <a:xfrm>
            <a:off x="7699474" y="4705350"/>
            <a:ext cx="967978"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Courier New" pitchFamily="34" charset="0"/>
                <a:ea typeface="Courier New" pitchFamily="34" charset="-122"/>
                <a:cs typeface="Courier New" pitchFamily="34" charset="-120"/>
              </a:rPr>
              <a:t>₹2,180</a:t>
            </a:r>
            <a:endParaRPr lang="en-US" sz="1950" dirty="0"/>
          </a:p>
        </p:txBody>
      </p:sp>
      <p:sp>
        <p:nvSpPr>
          <p:cNvPr id="17" name="Text 15"/>
          <p:cNvSpPr/>
          <p:nvPr/>
        </p:nvSpPr>
        <p:spPr>
          <a:xfrm>
            <a:off x="1323975" y="5248275"/>
            <a:ext cx="1448514"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Arial" pitchFamily="34" charset="0"/>
                <a:ea typeface="Arial" pitchFamily="34" charset="-122"/>
                <a:cs typeface="Arial" pitchFamily="34" charset="-120"/>
              </a:rPr>
              <a:t>CGST 2.5%</a:t>
            </a:r>
            <a:endParaRPr lang="en-US" sz="1950" dirty="0"/>
          </a:p>
        </p:txBody>
      </p:sp>
      <p:sp>
        <p:nvSpPr>
          <p:cNvPr id="18" name="Text 16"/>
          <p:cNvSpPr/>
          <p:nvPr/>
        </p:nvSpPr>
        <p:spPr>
          <a:xfrm>
            <a:off x="7699474" y="5248275"/>
            <a:ext cx="967978"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Courier New" pitchFamily="34" charset="0"/>
                <a:ea typeface="Courier New" pitchFamily="34" charset="-122"/>
                <a:cs typeface="Courier New" pitchFamily="34" charset="-120"/>
              </a:rPr>
              <a:t>₹54.50</a:t>
            </a:r>
            <a:endParaRPr lang="en-US" sz="1950" dirty="0"/>
          </a:p>
        </p:txBody>
      </p:sp>
      <p:sp>
        <p:nvSpPr>
          <p:cNvPr id="19" name="Text 17"/>
          <p:cNvSpPr/>
          <p:nvPr/>
        </p:nvSpPr>
        <p:spPr>
          <a:xfrm>
            <a:off x="1323975" y="5791200"/>
            <a:ext cx="1433453"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Arial" pitchFamily="34" charset="0"/>
                <a:ea typeface="Arial" pitchFamily="34" charset="-122"/>
                <a:cs typeface="Arial" pitchFamily="34" charset="-120"/>
              </a:rPr>
              <a:t>SGST 2.5%</a:t>
            </a:r>
            <a:endParaRPr lang="en-US" sz="1950" dirty="0"/>
          </a:p>
        </p:txBody>
      </p:sp>
      <p:sp>
        <p:nvSpPr>
          <p:cNvPr id="20" name="Text 18"/>
          <p:cNvSpPr/>
          <p:nvPr/>
        </p:nvSpPr>
        <p:spPr>
          <a:xfrm>
            <a:off x="7699474" y="5791200"/>
            <a:ext cx="967978" cy="371475"/>
          </a:xfrm>
          <a:prstGeom prst="rect">
            <a:avLst/>
          </a:prstGeom>
          <a:noFill/>
          <a:ln/>
        </p:spPr>
        <p:txBody>
          <a:bodyPr wrap="square" lIns="25400" tIns="25400" rIns="25400" bIns="25400" rtlCol="0" anchor="t">
            <a:normAutofit/>
          </a:bodyPr>
          <a:lstStyle/>
          <a:p>
            <a:pPr algn="l" indent="0" marL="0">
              <a:buNone/>
            </a:pPr>
            <a:r>
              <a:rPr lang="en-US" sz="1950" dirty="0">
                <a:solidFill>
                  <a:srgbClr val="6F6455"/>
                </a:solidFill>
                <a:latin typeface="Courier New" pitchFamily="34" charset="0"/>
                <a:ea typeface="Courier New" pitchFamily="34" charset="-122"/>
                <a:cs typeface="Courier New" pitchFamily="34" charset="-120"/>
              </a:rPr>
              <a:t>₹54.50</a:t>
            </a:r>
            <a:endParaRPr lang="en-US" sz="1950" dirty="0"/>
          </a:p>
        </p:txBody>
      </p:sp>
      <p:sp>
        <p:nvSpPr>
          <p:cNvPr id="21" name="Shape 19"/>
          <p:cNvSpPr/>
          <p:nvPr/>
        </p:nvSpPr>
        <p:spPr>
          <a:xfrm>
            <a:off x="962025" y="8286750"/>
            <a:ext cx="7991177" cy="1228725"/>
          </a:xfrm>
          <a:prstGeom prst="rect">
            <a:avLst/>
          </a:prstGeom>
          <a:solidFill>
            <a:srgbClr val="241D17"/>
          </a:solidFill>
          <a:ln/>
        </p:spPr>
      </p:sp>
      <p:sp>
        <p:nvSpPr>
          <p:cNvPr id="22" name="Text 20"/>
          <p:cNvSpPr/>
          <p:nvPr/>
        </p:nvSpPr>
        <p:spPr>
          <a:xfrm>
            <a:off x="1323975" y="8915400"/>
            <a:ext cx="851743" cy="276225"/>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B8862B"/>
                </a:solidFill>
                <a:latin typeface="Courier New" pitchFamily="34" charset="0"/>
                <a:ea typeface="Courier New" pitchFamily="34" charset="-122"/>
                <a:cs typeface="Courier New" pitchFamily="34" charset="-120"/>
              </a:rPr>
              <a:t>TOTAL</a:t>
            </a:r>
            <a:endParaRPr lang="en-US" sz="1650" dirty="0"/>
          </a:p>
        </p:txBody>
      </p:sp>
      <p:sp>
        <p:nvSpPr>
          <p:cNvPr id="23" name="Text 21"/>
          <p:cNvSpPr/>
          <p:nvPr/>
        </p:nvSpPr>
        <p:spPr>
          <a:xfrm>
            <a:off x="6992838" y="8591550"/>
            <a:ext cx="1758255" cy="657225"/>
          </a:xfrm>
          <a:prstGeom prst="rect">
            <a:avLst/>
          </a:prstGeom>
          <a:noFill/>
          <a:ln/>
        </p:spPr>
        <p:txBody>
          <a:bodyPr wrap="square" lIns="25400" tIns="25400" rIns="25400" bIns="25400" rtlCol="0" anchor="t">
            <a:normAutofit/>
          </a:bodyPr>
          <a:lstStyle/>
          <a:p>
            <a:pPr algn="l" indent="0" marL="0">
              <a:buNone/>
            </a:pPr>
            <a:r>
              <a:rPr lang="en-US" sz="4200" b="1" spc="-84" kern="0" dirty="0">
                <a:solidFill>
                  <a:srgbClr val="F7F1E6"/>
                </a:solidFill>
                <a:latin typeface="Arial" pitchFamily="34" charset="0"/>
                <a:ea typeface="Arial" pitchFamily="34" charset="-122"/>
                <a:cs typeface="Arial" pitchFamily="34" charset="-120"/>
              </a:rPr>
              <a:t>₹2,289</a:t>
            </a:r>
            <a:endParaRPr lang="en-US" sz="4200" dirty="0"/>
          </a:p>
        </p:txBody>
      </p:sp>
      <p:sp>
        <p:nvSpPr>
          <p:cNvPr id="24" name="Text 22"/>
          <p:cNvSpPr/>
          <p:nvPr/>
        </p:nvSpPr>
        <p:spPr>
          <a:xfrm>
            <a:off x="9724727" y="876300"/>
            <a:ext cx="837185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THE COUNTER</a:t>
            </a:r>
            <a:endParaRPr lang="en-US" sz="1425" dirty="0"/>
          </a:p>
        </p:txBody>
      </p:sp>
      <p:sp>
        <p:nvSpPr>
          <p:cNvPr id="25" name="Text 23"/>
          <p:cNvSpPr/>
          <p:nvPr/>
        </p:nvSpPr>
        <p:spPr>
          <a:xfrm>
            <a:off x="9724727" y="1333500"/>
            <a:ext cx="7839096" cy="1409700"/>
          </a:xfrm>
          <a:prstGeom prst="rect">
            <a:avLst/>
          </a:prstGeom>
          <a:noFill/>
          <a:ln/>
        </p:spPr>
        <p:txBody>
          <a:bodyPr wrap="square" lIns="25400" tIns="25400" rIns="25400" bIns="25400" rtlCol="0" anchor="t">
            <a:normAutofit/>
          </a:bodyPr>
          <a:lstStyle/>
          <a:p>
            <a:pPr algn="l" indent="0" marL="0">
              <a:lnSpc>
                <a:spcPct val="87805"/>
              </a:lnSpc>
              <a:buNone/>
            </a:pPr>
            <a:r>
              <a:rPr lang="en-US" sz="5400" b="1" spc="-162" kern="0" dirty="0">
                <a:solidFill>
                  <a:srgbClr val="191512"/>
                </a:solidFill>
                <a:latin typeface="Arial" pitchFamily="34" charset="0"/>
                <a:ea typeface="Arial" pitchFamily="34" charset="-122"/>
                <a:cs typeface="Arial" pitchFamily="34" charset="-120"/>
              </a:rPr>
              <a:t>THE BILL WRITES ITSELF.</a:t>
            </a:r>
            <a:endParaRPr lang="en-US" sz="5400" dirty="0"/>
          </a:p>
        </p:txBody>
      </p:sp>
      <p:sp>
        <p:nvSpPr>
          <p:cNvPr id="26" name="Shape 24"/>
          <p:cNvSpPr/>
          <p:nvPr/>
        </p:nvSpPr>
        <p:spPr>
          <a:xfrm>
            <a:off x="9724727" y="3657600"/>
            <a:ext cx="7610773" cy="1209675"/>
          </a:xfrm>
          <a:prstGeom prst="rect">
            <a:avLst/>
          </a:prstGeom>
          <a:solidFill>
            <a:srgbClr val="FFFFFF"/>
          </a:solidFill>
          <a:ln w="9525">
            <a:solidFill>
              <a:srgbClr val="E0D6C6"/>
            </a:solidFill>
            <a:prstDash val="solid"/>
          </a:ln>
        </p:spPr>
      </p:sp>
      <p:sp>
        <p:nvSpPr>
          <p:cNvPr id="27" name="Text 25"/>
          <p:cNvSpPr/>
          <p:nvPr/>
        </p:nvSpPr>
        <p:spPr>
          <a:xfrm>
            <a:off x="10058102" y="3952875"/>
            <a:ext cx="187007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01 PAYMENT</a:t>
            </a:r>
            <a:endParaRPr lang="en-US" sz="1275" dirty="0"/>
          </a:p>
        </p:txBody>
      </p:sp>
      <p:sp>
        <p:nvSpPr>
          <p:cNvPr id="28" name="Text 26"/>
          <p:cNvSpPr/>
          <p:nvPr/>
        </p:nvSpPr>
        <p:spPr>
          <a:xfrm>
            <a:off x="10058102" y="4210050"/>
            <a:ext cx="187007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UPI · ₹2,289</a:t>
            </a:r>
            <a:endParaRPr lang="en-US" sz="2400" dirty="0"/>
          </a:p>
        </p:txBody>
      </p:sp>
      <p:sp>
        <p:nvSpPr>
          <p:cNvPr id="29" name="Text 27"/>
          <p:cNvSpPr/>
          <p:nvPr/>
        </p:nvSpPr>
        <p:spPr>
          <a:xfrm>
            <a:off x="14829979" y="4152900"/>
            <a:ext cx="238936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9A8F82"/>
                </a:solidFill>
                <a:latin typeface="Courier New" pitchFamily="34" charset="0"/>
                <a:ea typeface="Courier New" pitchFamily="34" charset="-122"/>
                <a:cs typeface="Courier New" pitchFamily="34" charset="-120"/>
              </a:rPr>
              <a:t>Cash · Card · Split</a:t>
            </a:r>
            <a:endParaRPr lang="en-US" sz="1500" dirty="0"/>
          </a:p>
        </p:txBody>
      </p:sp>
      <p:sp>
        <p:nvSpPr>
          <p:cNvPr id="30" name="Shape 28"/>
          <p:cNvSpPr/>
          <p:nvPr/>
        </p:nvSpPr>
        <p:spPr>
          <a:xfrm>
            <a:off x="10048577" y="4867275"/>
            <a:ext cx="9525" cy="247650"/>
          </a:xfrm>
          <a:prstGeom prst="rect">
            <a:avLst/>
          </a:prstGeom>
          <a:solidFill>
            <a:srgbClr val="C9BEAC"/>
          </a:solidFill>
          <a:ln/>
        </p:spPr>
      </p:sp>
      <p:sp>
        <p:nvSpPr>
          <p:cNvPr id="31" name="Shape 29"/>
          <p:cNvSpPr/>
          <p:nvPr/>
        </p:nvSpPr>
        <p:spPr>
          <a:xfrm>
            <a:off x="9724727" y="5114925"/>
            <a:ext cx="7610773" cy="1200150"/>
          </a:xfrm>
          <a:prstGeom prst="rect">
            <a:avLst/>
          </a:prstGeom>
          <a:solidFill>
            <a:srgbClr val="FFFFFF"/>
          </a:solidFill>
          <a:ln w="9525">
            <a:solidFill>
              <a:srgbClr val="E0D6C6"/>
            </a:solidFill>
            <a:prstDash val="solid"/>
          </a:ln>
        </p:spPr>
      </p:sp>
      <p:sp>
        <p:nvSpPr>
          <p:cNvPr id="32" name="Text 30"/>
          <p:cNvSpPr/>
          <p:nvPr/>
        </p:nvSpPr>
        <p:spPr>
          <a:xfrm>
            <a:off x="10058102" y="5410200"/>
            <a:ext cx="763842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02 SETTLEMENT</a:t>
            </a:r>
            <a:endParaRPr lang="en-US" sz="1275" dirty="0"/>
          </a:p>
        </p:txBody>
      </p:sp>
      <p:sp>
        <p:nvSpPr>
          <p:cNvPr id="33" name="Text 31"/>
          <p:cNvSpPr/>
          <p:nvPr/>
        </p:nvSpPr>
        <p:spPr>
          <a:xfrm>
            <a:off x="10058102" y="5667375"/>
            <a:ext cx="7638425"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91512"/>
                </a:solidFill>
                <a:latin typeface="Arial" pitchFamily="34" charset="0"/>
                <a:ea typeface="Arial" pitchFamily="34" charset="-122"/>
                <a:cs typeface="Arial" pitchFamily="34" charset="-120"/>
              </a:rPr>
              <a:t>Bill closed · 21:04</a:t>
            </a:r>
            <a:endParaRPr lang="en-US" sz="2400" dirty="0"/>
          </a:p>
        </p:txBody>
      </p:sp>
      <p:sp>
        <p:nvSpPr>
          <p:cNvPr id="34" name="Shape 32"/>
          <p:cNvSpPr/>
          <p:nvPr/>
        </p:nvSpPr>
        <p:spPr>
          <a:xfrm>
            <a:off x="10048577" y="6315075"/>
            <a:ext cx="9525" cy="247650"/>
          </a:xfrm>
          <a:prstGeom prst="rect">
            <a:avLst/>
          </a:prstGeom>
          <a:solidFill>
            <a:srgbClr val="C9BEAC"/>
          </a:solidFill>
          <a:ln/>
        </p:spPr>
      </p:sp>
      <p:sp>
        <p:nvSpPr>
          <p:cNvPr id="35" name="Shape 33"/>
          <p:cNvSpPr/>
          <p:nvPr/>
        </p:nvSpPr>
        <p:spPr>
          <a:xfrm>
            <a:off x="9724727" y="6562725"/>
            <a:ext cx="7610773" cy="1181100"/>
          </a:xfrm>
          <a:prstGeom prst="rect">
            <a:avLst/>
          </a:prstGeom>
          <a:solidFill>
            <a:srgbClr val="B8862B"/>
          </a:solidFill>
          <a:ln/>
        </p:spPr>
      </p:sp>
      <p:sp>
        <p:nvSpPr>
          <p:cNvPr id="36" name="Text 34"/>
          <p:cNvSpPr/>
          <p:nvPr/>
        </p:nvSpPr>
        <p:spPr>
          <a:xfrm>
            <a:off x="10048577" y="6848475"/>
            <a:ext cx="7659380"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14100D"/>
                </a:solidFill>
                <a:latin typeface="Courier New" pitchFamily="34" charset="0"/>
                <a:ea typeface="Courier New" pitchFamily="34" charset="-122"/>
                <a:cs typeface="Courier New" pitchFamily="34" charset="-120"/>
              </a:rPr>
              <a:t>03 TABLE RESET</a:t>
            </a:r>
            <a:endParaRPr lang="en-US" sz="1275" dirty="0"/>
          </a:p>
        </p:txBody>
      </p:sp>
      <p:sp>
        <p:nvSpPr>
          <p:cNvPr id="37" name="Text 35"/>
          <p:cNvSpPr/>
          <p:nvPr/>
        </p:nvSpPr>
        <p:spPr>
          <a:xfrm>
            <a:off x="10048577" y="7105650"/>
            <a:ext cx="765938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4100D"/>
                </a:solidFill>
                <a:latin typeface="Arial" pitchFamily="34" charset="0"/>
                <a:ea typeface="Arial" pitchFamily="34" charset="-122"/>
                <a:cs typeface="Arial" pitchFamily="34" charset="-120"/>
              </a:rPr>
              <a:t>T-12 released to the floor</a:t>
            </a:r>
            <a:endParaRPr lang="en-US" sz="2400" dirty="0"/>
          </a:p>
        </p:txBody>
      </p:sp>
      <p:sp>
        <p:nvSpPr>
          <p:cNvPr id="38" name="Shape 36"/>
          <p:cNvSpPr/>
          <p:nvPr/>
        </p:nvSpPr>
        <p:spPr>
          <a:xfrm>
            <a:off x="9724727" y="8696325"/>
            <a:ext cx="7610773" cy="828675"/>
          </a:xfrm>
          <a:prstGeom prst="rect">
            <a:avLst/>
          </a:prstGeom>
          <a:solidFill>
            <a:srgbClr val="14100D"/>
          </a:solidFill>
          <a:ln/>
        </p:spPr>
      </p:sp>
      <p:sp>
        <p:nvSpPr>
          <p:cNvPr id="39" name="Text 37"/>
          <p:cNvSpPr/>
          <p:nvPr/>
        </p:nvSpPr>
        <p:spPr>
          <a:xfrm>
            <a:off x="9896316" y="8982075"/>
            <a:ext cx="7267596" cy="295275"/>
          </a:xfrm>
          <a:prstGeom prst="rect">
            <a:avLst/>
          </a:prstGeom>
          <a:noFill/>
          <a:ln/>
        </p:spPr>
        <p:txBody>
          <a:bodyPr wrap="square" lIns="25400" tIns="25400" rIns="25400" bIns="25400" rtlCol="0" anchor="t">
            <a:normAutofit/>
          </a:bodyPr>
          <a:lstStyle/>
          <a:p>
            <a:pPr algn="ctr" indent="0" marL="0">
              <a:buNone/>
            </a:pPr>
            <a:r>
              <a:rPr lang="en-US" sz="1800" spc="288" kern="0" dirty="0">
                <a:solidFill>
                  <a:srgbClr val="F7F1E6"/>
                </a:solidFill>
                <a:latin typeface="Courier New" pitchFamily="34" charset="0"/>
                <a:ea typeface="Courier New" pitchFamily="34" charset="-122"/>
                <a:cs typeface="Courier New" pitchFamily="34" charset="-120"/>
              </a:rPr>
              <a:t>SETTLE BILL</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00D"/>
        </a:solidFill>
      </p:bgPr>
    </p:bg>
    <p:spTree>
      <p:nvGrpSpPr>
        <p:cNvPr id="1" name=""/>
        <p:cNvGrpSpPr/>
        <p:nvPr/>
      </p:nvGrpSpPr>
      <p:grpSpPr>
        <a:xfrm>
          <a:off x="0" y="0"/>
          <a:ext cx="0" cy="0"/>
          <a:chOff x="0" y="0"/>
          <a:chExt cx="0" cy="0"/>
        </a:xfrm>
      </p:grpSpPr>
      <p:sp>
        <p:nvSpPr>
          <p:cNvPr id="2" name="Text 0"/>
          <p:cNvSpPr/>
          <p:nvPr/>
        </p:nvSpPr>
        <p:spPr>
          <a:xfrm>
            <a:off x="952500" y="876300"/>
            <a:ext cx="14627081"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B8862B"/>
                </a:solidFill>
                <a:latin typeface="Courier New" pitchFamily="34" charset="0"/>
                <a:ea typeface="Courier New" pitchFamily="34" charset="-122"/>
                <a:cs typeface="Courier New" pitchFamily="34" charset="-120"/>
              </a:rPr>
              <a:t>OWNER VIEW</a:t>
            </a:r>
            <a:endParaRPr lang="en-US" sz="1425" dirty="0"/>
          </a:p>
        </p:txBody>
      </p:sp>
      <p:sp>
        <p:nvSpPr>
          <p:cNvPr id="3" name="Text 1"/>
          <p:cNvSpPr/>
          <p:nvPr/>
        </p:nvSpPr>
        <p:spPr>
          <a:xfrm>
            <a:off x="952500" y="1314450"/>
            <a:ext cx="14627081" cy="800100"/>
          </a:xfrm>
          <a:prstGeom prst="rect">
            <a:avLst/>
          </a:prstGeom>
          <a:noFill/>
          <a:ln/>
        </p:spPr>
        <p:txBody>
          <a:bodyPr wrap="square" lIns="25400" tIns="25400" rIns="25400" bIns="25400" rtlCol="0" anchor="t">
            <a:normAutofit/>
          </a:bodyPr>
          <a:lstStyle/>
          <a:p>
            <a:pPr algn="l" indent="0" marL="0">
              <a:lnSpc>
                <a:spcPct val="86957"/>
              </a:lnSpc>
              <a:buNone/>
            </a:pPr>
            <a:r>
              <a:rPr lang="en-US" sz="6000" b="1" spc="-180" kern="0" dirty="0">
                <a:solidFill>
                  <a:srgbClr val="F7F1E6"/>
                </a:solidFill>
                <a:latin typeface="Arial" pitchFamily="34" charset="0"/>
                <a:ea typeface="Arial" pitchFamily="34" charset="-122"/>
                <a:cs typeface="Arial" pitchFamily="34" charset="-120"/>
              </a:rPr>
              <a:t>TONIGHT, WHILE IT IS STILL TONIGHT.</a:t>
            </a:r>
            <a:endParaRPr lang="en-US" sz="6000" dirty="0"/>
          </a:p>
        </p:txBody>
      </p:sp>
      <p:sp>
        <p:nvSpPr>
          <p:cNvPr id="4" name="Text 2"/>
          <p:cNvSpPr/>
          <p:nvPr/>
        </p:nvSpPr>
        <p:spPr>
          <a:xfrm>
            <a:off x="14454634" y="1857375"/>
            <a:ext cx="3168953" cy="257175"/>
          </a:xfrm>
          <a:prstGeom prst="rect">
            <a:avLst/>
          </a:prstGeom>
          <a:noFill/>
          <a:ln/>
        </p:spPr>
        <p:txBody>
          <a:bodyPr wrap="square" lIns="25400" tIns="25400" rIns="25400" bIns="25400" rtlCol="0" anchor="t">
            <a:normAutofit/>
          </a:bodyPr>
          <a:lstStyle/>
          <a:p>
            <a:pPr algn="l" indent="0" marL="0">
              <a:buNone/>
            </a:pPr>
            <a:r>
              <a:rPr lang="en-US" sz="1575" dirty="0">
                <a:solidFill>
                  <a:srgbClr val="7C7268"/>
                </a:solidFill>
                <a:latin typeface="Courier New" pitchFamily="34" charset="0"/>
                <a:ea typeface="Courier New" pitchFamily="34" charset="-122"/>
                <a:cs typeface="Courier New" pitchFamily="34" charset="-120"/>
              </a:rPr>
              <a:t>Tue 2 Sep · 20:41 · live</a:t>
            </a:r>
            <a:endParaRPr lang="en-US" sz="1575" dirty="0"/>
          </a:p>
        </p:txBody>
      </p:sp>
      <p:sp>
        <p:nvSpPr>
          <p:cNvPr id="5" name="Shape 3"/>
          <p:cNvSpPr/>
          <p:nvPr/>
        </p:nvSpPr>
        <p:spPr>
          <a:xfrm>
            <a:off x="952500" y="2609850"/>
            <a:ext cx="16383000" cy="1771650"/>
          </a:xfrm>
          <a:prstGeom prst="rect">
            <a:avLst/>
          </a:prstGeom>
          <a:solidFill>
            <a:srgbClr val="33291F"/>
          </a:solidFill>
          <a:ln w="9525">
            <a:solidFill>
              <a:srgbClr val="33291F"/>
            </a:solidFill>
            <a:prstDash val="solid"/>
          </a:ln>
        </p:spPr>
      </p:sp>
      <p:sp>
        <p:nvSpPr>
          <p:cNvPr id="6" name="Shape 4"/>
          <p:cNvSpPr/>
          <p:nvPr/>
        </p:nvSpPr>
        <p:spPr>
          <a:xfrm>
            <a:off x="962025" y="2619375"/>
            <a:ext cx="3257550" cy="1752600"/>
          </a:xfrm>
          <a:prstGeom prst="rect">
            <a:avLst/>
          </a:prstGeom>
          <a:solidFill>
            <a:srgbClr val="1C1712"/>
          </a:solidFill>
          <a:ln/>
        </p:spPr>
      </p:sp>
      <p:sp>
        <p:nvSpPr>
          <p:cNvPr id="7" name="Text 5"/>
          <p:cNvSpPr/>
          <p:nvPr/>
        </p:nvSpPr>
        <p:spPr>
          <a:xfrm>
            <a:off x="1247775" y="2962275"/>
            <a:ext cx="2954655" cy="2286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7C7268"/>
                </a:solidFill>
                <a:latin typeface="Courier New" pitchFamily="34" charset="0"/>
                <a:ea typeface="Courier New" pitchFamily="34" charset="-122"/>
                <a:cs typeface="Courier New" pitchFamily="34" charset="-120"/>
              </a:rPr>
              <a:t>TODAY'S SALES</a:t>
            </a:r>
            <a:endParaRPr lang="en-US" sz="1350" dirty="0"/>
          </a:p>
        </p:txBody>
      </p:sp>
      <p:sp>
        <p:nvSpPr>
          <p:cNvPr id="8" name="Text 6"/>
          <p:cNvSpPr/>
          <p:nvPr/>
        </p:nvSpPr>
        <p:spPr>
          <a:xfrm>
            <a:off x="1247775" y="3324225"/>
            <a:ext cx="2954655" cy="742950"/>
          </a:xfrm>
          <a:prstGeom prst="rect">
            <a:avLst/>
          </a:prstGeom>
          <a:noFill/>
          <a:ln/>
        </p:spPr>
        <p:txBody>
          <a:bodyPr wrap="square" lIns="25400" tIns="25400" rIns="25400" bIns="25400" rtlCol="0" anchor="t">
            <a:normAutofit/>
          </a:bodyPr>
          <a:lstStyle/>
          <a:p>
            <a:pPr algn="l" indent="0" marL="0">
              <a:buNone/>
            </a:pPr>
            <a:r>
              <a:rPr lang="en-US" sz="4800" b="1" spc="-144" kern="0" dirty="0">
                <a:solidFill>
                  <a:srgbClr val="D8A94A"/>
                </a:solidFill>
                <a:latin typeface="Arial" pitchFamily="34" charset="0"/>
                <a:ea typeface="Arial" pitchFamily="34" charset="-122"/>
                <a:cs typeface="Arial" pitchFamily="34" charset="-120"/>
              </a:rPr>
              <a:t>₹84,260</a:t>
            </a:r>
            <a:endParaRPr lang="en-US" sz="4800" dirty="0"/>
          </a:p>
        </p:txBody>
      </p:sp>
      <p:sp>
        <p:nvSpPr>
          <p:cNvPr id="9" name="Shape 7"/>
          <p:cNvSpPr/>
          <p:nvPr/>
        </p:nvSpPr>
        <p:spPr>
          <a:xfrm>
            <a:off x="4238625" y="2619375"/>
            <a:ext cx="3257550" cy="1752600"/>
          </a:xfrm>
          <a:prstGeom prst="rect">
            <a:avLst/>
          </a:prstGeom>
          <a:solidFill>
            <a:srgbClr val="1C1712"/>
          </a:solidFill>
          <a:ln/>
        </p:spPr>
      </p:sp>
      <p:sp>
        <p:nvSpPr>
          <p:cNvPr id="10" name="Text 8"/>
          <p:cNvSpPr/>
          <p:nvPr/>
        </p:nvSpPr>
        <p:spPr>
          <a:xfrm>
            <a:off x="4524375" y="2962275"/>
            <a:ext cx="2954655" cy="2286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7C7268"/>
                </a:solidFill>
                <a:latin typeface="Courier New" pitchFamily="34" charset="0"/>
                <a:ea typeface="Courier New" pitchFamily="34" charset="-122"/>
                <a:cs typeface="Courier New" pitchFamily="34" charset="-120"/>
              </a:rPr>
              <a:t>OPEN TABLES</a:t>
            </a:r>
            <a:endParaRPr lang="en-US" sz="1350" dirty="0"/>
          </a:p>
        </p:txBody>
      </p:sp>
      <p:sp>
        <p:nvSpPr>
          <p:cNvPr id="11" name="Text 9"/>
          <p:cNvSpPr/>
          <p:nvPr/>
        </p:nvSpPr>
        <p:spPr>
          <a:xfrm>
            <a:off x="4524375" y="3324225"/>
            <a:ext cx="2954655" cy="742950"/>
          </a:xfrm>
          <a:prstGeom prst="rect">
            <a:avLst/>
          </a:prstGeom>
          <a:noFill/>
          <a:ln/>
        </p:spPr>
        <p:txBody>
          <a:bodyPr wrap="square" lIns="25400" tIns="25400" rIns="25400" bIns="25400" rtlCol="0" anchor="t">
            <a:normAutofit/>
          </a:bodyPr>
          <a:lstStyle/>
          <a:p>
            <a:pPr algn="l" indent="0" marL="0">
              <a:buNone/>
            </a:pPr>
            <a:r>
              <a:rPr lang="en-US" sz="4800" b="1" spc="-144" kern="0" dirty="0">
                <a:solidFill>
                  <a:srgbClr val="F7F1E6"/>
                </a:solidFill>
                <a:latin typeface="Arial" pitchFamily="34" charset="0"/>
                <a:ea typeface="Arial" pitchFamily="34" charset="-122"/>
                <a:cs typeface="Arial" pitchFamily="34" charset="-120"/>
              </a:rPr>
              <a:t>12</a:t>
            </a:r>
            <a:endParaRPr lang="en-US" sz="4800" dirty="0"/>
          </a:p>
        </p:txBody>
      </p:sp>
      <p:sp>
        <p:nvSpPr>
          <p:cNvPr id="12" name="Shape 10"/>
          <p:cNvSpPr/>
          <p:nvPr/>
        </p:nvSpPr>
        <p:spPr>
          <a:xfrm>
            <a:off x="7515225" y="2619375"/>
            <a:ext cx="3257550" cy="1752600"/>
          </a:xfrm>
          <a:prstGeom prst="rect">
            <a:avLst/>
          </a:prstGeom>
          <a:solidFill>
            <a:srgbClr val="1C1712"/>
          </a:solidFill>
          <a:ln/>
        </p:spPr>
      </p:sp>
      <p:sp>
        <p:nvSpPr>
          <p:cNvPr id="13" name="Text 11"/>
          <p:cNvSpPr/>
          <p:nvPr/>
        </p:nvSpPr>
        <p:spPr>
          <a:xfrm>
            <a:off x="7800975" y="2962275"/>
            <a:ext cx="2954655" cy="2286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7C7268"/>
                </a:solidFill>
                <a:latin typeface="Courier New" pitchFamily="34" charset="0"/>
                <a:ea typeface="Courier New" pitchFamily="34" charset="-122"/>
                <a:cs typeface="Courier New" pitchFamily="34" charset="-120"/>
              </a:rPr>
              <a:t>KITCHEN</a:t>
            </a:r>
            <a:endParaRPr lang="en-US" sz="1350" dirty="0"/>
          </a:p>
        </p:txBody>
      </p:sp>
      <p:sp>
        <p:nvSpPr>
          <p:cNvPr id="14" name="Text 12"/>
          <p:cNvSpPr/>
          <p:nvPr/>
        </p:nvSpPr>
        <p:spPr>
          <a:xfrm>
            <a:off x="7800975" y="3324225"/>
            <a:ext cx="2954655" cy="742950"/>
          </a:xfrm>
          <a:prstGeom prst="rect">
            <a:avLst/>
          </a:prstGeom>
          <a:noFill/>
          <a:ln/>
        </p:spPr>
        <p:txBody>
          <a:bodyPr wrap="square" lIns="25400" tIns="25400" rIns="25400" bIns="25400" rtlCol="0" anchor="t">
            <a:normAutofit/>
          </a:bodyPr>
          <a:lstStyle/>
          <a:p>
            <a:pPr algn="l" indent="0" marL="0">
              <a:buNone/>
            </a:pPr>
            <a:r>
              <a:rPr lang="en-US" sz="4800" b="1" spc="-144" kern="0" dirty="0">
                <a:solidFill>
                  <a:srgbClr val="F7F1E6"/>
                </a:solidFill>
                <a:latin typeface="Arial" pitchFamily="34" charset="0"/>
                <a:ea typeface="Arial" pitchFamily="34" charset="-122"/>
                <a:cs typeface="Arial" pitchFamily="34" charset="-120"/>
              </a:rPr>
              <a:t>8 active</a:t>
            </a:r>
            <a:endParaRPr lang="en-US" sz="4800" dirty="0"/>
          </a:p>
        </p:txBody>
      </p:sp>
      <p:sp>
        <p:nvSpPr>
          <p:cNvPr id="15" name="Shape 13"/>
          <p:cNvSpPr/>
          <p:nvPr/>
        </p:nvSpPr>
        <p:spPr>
          <a:xfrm>
            <a:off x="10791825" y="2619375"/>
            <a:ext cx="3257550" cy="1752600"/>
          </a:xfrm>
          <a:prstGeom prst="rect">
            <a:avLst/>
          </a:prstGeom>
          <a:solidFill>
            <a:srgbClr val="1C1712"/>
          </a:solidFill>
          <a:ln/>
        </p:spPr>
      </p:sp>
      <p:sp>
        <p:nvSpPr>
          <p:cNvPr id="16" name="Text 14"/>
          <p:cNvSpPr/>
          <p:nvPr/>
        </p:nvSpPr>
        <p:spPr>
          <a:xfrm>
            <a:off x="11077575" y="2962275"/>
            <a:ext cx="2954655" cy="2286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7C7268"/>
                </a:solidFill>
                <a:latin typeface="Courier New" pitchFamily="34" charset="0"/>
                <a:ea typeface="Courier New" pitchFamily="34" charset="-122"/>
                <a:cs typeface="Courier New" pitchFamily="34" charset="-120"/>
              </a:rPr>
              <a:t>OPEN BILLS</a:t>
            </a:r>
            <a:endParaRPr lang="en-US" sz="1350" dirty="0"/>
          </a:p>
        </p:txBody>
      </p:sp>
      <p:sp>
        <p:nvSpPr>
          <p:cNvPr id="17" name="Text 15"/>
          <p:cNvSpPr/>
          <p:nvPr/>
        </p:nvSpPr>
        <p:spPr>
          <a:xfrm>
            <a:off x="11077575" y="3324225"/>
            <a:ext cx="2954655" cy="742950"/>
          </a:xfrm>
          <a:prstGeom prst="rect">
            <a:avLst/>
          </a:prstGeom>
          <a:noFill/>
          <a:ln/>
        </p:spPr>
        <p:txBody>
          <a:bodyPr wrap="square" lIns="25400" tIns="25400" rIns="25400" bIns="25400" rtlCol="0" anchor="t">
            <a:normAutofit/>
          </a:bodyPr>
          <a:lstStyle/>
          <a:p>
            <a:pPr algn="l" indent="0" marL="0">
              <a:buNone/>
            </a:pPr>
            <a:r>
              <a:rPr lang="en-US" sz="4800" b="1" spc="-144" kern="0" dirty="0">
                <a:solidFill>
                  <a:srgbClr val="F7F1E6"/>
                </a:solidFill>
                <a:latin typeface="Arial" pitchFamily="34" charset="0"/>
                <a:ea typeface="Arial" pitchFamily="34" charset="-122"/>
                <a:cs typeface="Arial" pitchFamily="34" charset="-120"/>
              </a:rPr>
              <a:t>5</a:t>
            </a:r>
            <a:endParaRPr lang="en-US" sz="4800" dirty="0"/>
          </a:p>
        </p:txBody>
      </p:sp>
      <p:sp>
        <p:nvSpPr>
          <p:cNvPr id="18" name="Shape 16"/>
          <p:cNvSpPr/>
          <p:nvPr/>
        </p:nvSpPr>
        <p:spPr>
          <a:xfrm>
            <a:off x="14068425" y="2619375"/>
            <a:ext cx="3257550" cy="1752600"/>
          </a:xfrm>
          <a:prstGeom prst="rect">
            <a:avLst/>
          </a:prstGeom>
          <a:solidFill>
            <a:srgbClr val="1C1712"/>
          </a:solidFill>
          <a:ln/>
        </p:spPr>
      </p:sp>
      <p:sp>
        <p:nvSpPr>
          <p:cNvPr id="19" name="Text 17"/>
          <p:cNvSpPr/>
          <p:nvPr/>
        </p:nvSpPr>
        <p:spPr>
          <a:xfrm>
            <a:off x="14354175" y="2962275"/>
            <a:ext cx="2954655" cy="2286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7C7268"/>
                </a:solidFill>
                <a:latin typeface="Courier New" pitchFamily="34" charset="0"/>
                <a:ea typeface="Courier New" pitchFamily="34" charset="-122"/>
                <a:cs typeface="Courier New" pitchFamily="34" charset="-120"/>
              </a:rPr>
              <a:t>AVERAGE TICKET</a:t>
            </a:r>
            <a:endParaRPr lang="en-US" sz="1350" dirty="0"/>
          </a:p>
        </p:txBody>
      </p:sp>
      <p:sp>
        <p:nvSpPr>
          <p:cNvPr id="20" name="Text 18"/>
          <p:cNvSpPr/>
          <p:nvPr/>
        </p:nvSpPr>
        <p:spPr>
          <a:xfrm>
            <a:off x="14354175" y="3324225"/>
            <a:ext cx="2954655" cy="742950"/>
          </a:xfrm>
          <a:prstGeom prst="rect">
            <a:avLst/>
          </a:prstGeom>
          <a:noFill/>
          <a:ln/>
        </p:spPr>
        <p:txBody>
          <a:bodyPr wrap="square" lIns="25400" tIns="25400" rIns="25400" bIns="25400" rtlCol="0" anchor="t">
            <a:normAutofit/>
          </a:bodyPr>
          <a:lstStyle/>
          <a:p>
            <a:pPr algn="l" indent="0" marL="0">
              <a:buNone/>
            </a:pPr>
            <a:r>
              <a:rPr lang="en-US" sz="4800" b="1" spc="-144" kern="0" dirty="0">
                <a:solidFill>
                  <a:srgbClr val="F7F1E6"/>
                </a:solidFill>
                <a:latin typeface="Arial" pitchFamily="34" charset="0"/>
                <a:ea typeface="Arial" pitchFamily="34" charset="-122"/>
                <a:cs typeface="Arial" pitchFamily="34" charset="-120"/>
              </a:rPr>
              <a:t>₹1,840</a:t>
            </a:r>
            <a:endParaRPr lang="en-US" sz="4800" dirty="0"/>
          </a:p>
        </p:txBody>
      </p:sp>
      <p:sp>
        <p:nvSpPr>
          <p:cNvPr id="21" name="Shape 19"/>
          <p:cNvSpPr/>
          <p:nvPr/>
        </p:nvSpPr>
        <p:spPr>
          <a:xfrm>
            <a:off x="952500" y="4914900"/>
            <a:ext cx="9917609" cy="4610100"/>
          </a:xfrm>
          <a:prstGeom prst="rect">
            <a:avLst/>
          </a:prstGeom>
          <a:solidFill>
            <a:srgbClr val="1C1712"/>
          </a:solidFill>
          <a:ln w="9525">
            <a:solidFill>
              <a:srgbClr val="33291F"/>
            </a:solidFill>
            <a:prstDash val="solid"/>
          </a:ln>
        </p:spPr>
      </p:sp>
      <p:sp>
        <p:nvSpPr>
          <p:cNvPr id="22" name="Text 20"/>
          <p:cNvSpPr/>
          <p:nvPr/>
        </p:nvSpPr>
        <p:spPr>
          <a:xfrm>
            <a:off x="1304925" y="5248275"/>
            <a:ext cx="2016264"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C4B9AB"/>
                </a:solidFill>
                <a:latin typeface="Courier New" pitchFamily="34" charset="0"/>
                <a:ea typeface="Courier New" pitchFamily="34" charset="-122"/>
                <a:cs typeface="Courier New" pitchFamily="34" charset="-120"/>
              </a:rPr>
              <a:t>SALES BY HOUR</a:t>
            </a:r>
            <a:endParaRPr lang="en-US" sz="1500" dirty="0"/>
          </a:p>
        </p:txBody>
      </p:sp>
      <p:sp>
        <p:nvSpPr>
          <p:cNvPr id="23" name="Text 21"/>
          <p:cNvSpPr/>
          <p:nvPr/>
        </p:nvSpPr>
        <p:spPr>
          <a:xfrm>
            <a:off x="9105751" y="5257800"/>
            <a:ext cx="1553126" cy="247650"/>
          </a:xfrm>
          <a:prstGeom prst="rect">
            <a:avLst/>
          </a:prstGeom>
          <a:noFill/>
          <a:ln/>
        </p:spPr>
        <p:txBody>
          <a:bodyPr wrap="square" lIns="25400" tIns="25400" rIns="25400" bIns="25400" rtlCol="0" anchor="t">
            <a:normAutofit/>
          </a:bodyPr>
          <a:lstStyle/>
          <a:p>
            <a:pPr algn="l" indent="0" marL="0">
              <a:buNone/>
            </a:pPr>
            <a:r>
              <a:rPr lang="en-US" sz="1425" dirty="0">
                <a:solidFill>
                  <a:srgbClr val="7C7268"/>
                </a:solidFill>
                <a:latin typeface="Courier New" pitchFamily="34" charset="0"/>
                <a:ea typeface="Courier New" pitchFamily="34" charset="-122"/>
                <a:cs typeface="Courier New" pitchFamily="34" charset="-120"/>
              </a:rPr>
              <a:t>12:00 — 23:00</a:t>
            </a:r>
            <a:endParaRPr lang="en-US" sz="1425" dirty="0"/>
          </a:p>
        </p:txBody>
      </p:sp>
      <p:sp>
        <p:nvSpPr>
          <p:cNvPr id="24" name="Shape 22"/>
          <p:cNvSpPr/>
          <p:nvPr/>
        </p:nvSpPr>
        <p:spPr>
          <a:xfrm>
            <a:off x="1304925" y="8430964"/>
            <a:ext cx="716310" cy="760661"/>
          </a:xfrm>
          <a:prstGeom prst="rect">
            <a:avLst/>
          </a:prstGeom>
          <a:solidFill>
            <a:srgbClr val="3A2F24"/>
          </a:solidFill>
          <a:ln/>
        </p:spPr>
      </p:sp>
      <p:sp>
        <p:nvSpPr>
          <p:cNvPr id="25" name="Shape 23"/>
          <p:cNvSpPr/>
          <p:nvPr/>
        </p:nvSpPr>
        <p:spPr>
          <a:xfrm>
            <a:off x="2154585" y="7877770"/>
            <a:ext cx="716310" cy="1313855"/>
          </a:xfrm>
          <a:prstGeom prst="rect">
            <a:avLst/>
          </a:prstGeom>
          <a:solidFill>
            <a:srgbClr val="3A2F24"/>
          </a:solidFill>
          <a:ln/>
        </p:spPr>
      </p:sp>
      <p:sp>
        <p:nvSpPr>
          <p:cNvPr id="26" name="Shape 24"/>
          <p:cNvSpPr/>
          <p:nvPr/>
        </p:nvSpPr>
        <p:spPr>
          <a:xfrm>
            <a:off x="3004245" y="7601248"/>
            <a:ext cx="716310" cy="1590377"/>
          </a:xfrm>
          <a:prstGeom prst="rect">
            <a:avLst/>
          </a:prstGeom>
          <a:solidFill>
            <a:srgbClr val="3A2F24"/>
          </a:solidFill>
          <a:ln/>
        </p:spPr>
      </p:sp>
      <p:sp>
        <p:nvSpPr>
          <p:cNvPr id="27" name="Shape 25"/>
          <p:cNvSpPr/>
          <p:nvPr/>
        </p:nvSpPr>
        <p:spPr>
          <a:xfrm>
            <a:off x="3853904" y="8154442"/>
            <a:ext cx="716310" cy="1037183"/>
          </a:xfrm>
          <a:prstGeom prst="rect">
            <a:avLst/>
          </a:prstGeom>
          <a:solidFill>
            <a:srgbClr val="3A2F24"/>
          </a:solidFill>
          <a:ln/>
        </p:spPr>
      </p:sp>
      <p:sp>
        <p:nvSpPr>
          <p:cNvPr id="28" name="Shape 26"/>
          <p:cNvSpPr/>
          <p:nvPr/>
        </p:nvSpPr>
        <p:spPr>
          <a:xfrm>
            <a:off x="4703564" y="8500170"/>
            <a:ext cx="716310" cy="691455"/>
          </a:xfrm>
          <a:prstGeom prst="rect">
            <a:avLst/>
          </a:prstGeom>
          <a:solidFill>
            <a:srgbClr val="3A2F24"/>
          </a:solidFill>
          <a:ln/>
        </p:spPr>
      </p:sp>
      <p:sp>
        <p:nvSpPr>
          <p:cNvPr id="29" name="Shape 27"/>
          <p:cNvSpPr/>
          <p:nvPr/>
        </p:nvSpPr>
        <p:spPr>
          <a:xfrm>
            <a:off x="5553224" y="8292703"/>
            <a:ext cx="716310" cy="898922"/>
          </a:xfrm>
          <a:prstGeom prst="rect">
            <a:avLst/>
          </a:prstGeom>
          <a:solidFill>
            <a:srgbClr val="3A2F24"/>
          </a:solidFill>
          <a:ln/>
        </p:spPr>
      </p:sp>
      <p:sp>
        <p:nvSpPr>
          <p:cNvPr id="30" name="Shape 28"/>
          <p:cNvSpPr/>
          <p:nvPr/>
        </p:nvSpPr>
        <p:spPr>
          <a:xfrm>
            <a:off x="6402884" y="7670304"/>
            <a:ext cx="716310" cy="1521321"/>
          </a:xfrm>
          <a:prstGeom prst="rect">
            <a:avLst/>
          </a:prstGeom>
          <a:solidFill>
            <a:srgbClr val="3A2F24"/>
          </a:solidFill>
          <a:ln/>
        </p:spPr>
      </p:sp>
      <p:sp>
        <p:nvSpPr>
          <p:cNvPr id="31" name="Shape 29"/>
          <p:cNvSpPr/>
          <p:nvPr/>
        </p:nvSpPr>
        <p:spPr>
          <a:xfrm>
            <a:off x="7252543" y="6840587"/>
            <a:ext cx="716310" cy="2351038"/>
          </a:xfrm>
          <a:prstGeom prst="rect">
            <a:avLst/>
          </a:prstGeom>
          <a:solidFill>
            <a:srgbClr val="B8862B"/>
          </a:solidFill>
          <a:ln/>
        </p:spPr>
      </p:sp>
      <p:sp>
        <p:nvSpPr>
          <p:cNvPr id="32" name="Shape 30"/>
          <p:cNvSpPr/>
          <p:nvPr/>
        </p:nvSpPr>
        <p:spPr>
          <a:xfrm>
            <a:off x="8102203" y="6010721"/>
            <a:ext cx="716310" cy="3180904"/>
          </a:xfrm>
          <a:prstGeom prst="rect">
            <a:avLst/>
          </a:prstGeom>
          <a:solidFill>
            <a:srgbClr val="B8862B"/>
          </a:solidFill>
          <a:ln/>
        </p:spPr>
      </p:sp>
      <p:sp>
        <p:nvSpPr>
          <p:cNvPr id="33" name="Shape 31"/>
          <p:cNvSpPr/>
          <p:nvPr/>
        </p:nvSpPr>
        <p:spPr>
          <a:xfrm>
            <a:off x="8951863" y="6563916"/>
            <a:ext cx="716310" cy="2627709"/>
          </a:xfrm>
          <a:prstGeom prst="rect">
            <a:avLst/>
          </a:prstGeom>
          <a:solidFill>
            <a:srgbClr val="B8862B"/>
          </a:solidFill>
          <a:ln/>
        </p:spPr>
      </p:sp>
      <p:sp>
        <p:nvSpPr>
          <p:cNvPr id="34" name="Shape 32"/>
          <p:cNvSpPr/>
          <p:nvPr/>
        </p:nvSpPr>
        <p:spPr>
          <a:xfrm>
            <a:off x="9801523" y="7532043"/>
            <a:ext cx="716310" cy="1659582"/>
          </a:xfrm>
          <a:prstGeom prst="rect">
            <a:avLst/>
          </a:prstGeom>
          <a:solidFill>
            <a:srgbClr val="3A2F24"/>
          </a:solidFill>
          <a:ln/>
        </p:spPr>
      </p:sp>
      <p:sp>
        <p:nvSpPr>
          <p:cNvPr id="35" name="Shape 33"/>
          <p:cNvSpPr/>
          <p:nvPr/>
        </p:nvSpPr>
        <p:spPr>
          <a:xfrm>
            <a:off x="11136809" y="4914900"/>
            <a:ext cx="6198691" cy="4610100"/>
          </a:xfrm>
          <a:prstGeom prst="rect">
            <a:avLst/>
          </a:prstGeom>
          <a:solidFill>
            <a:srgbClr val="1C1712"/>
          </a:solidFill>
          <a:ln w="9525">
            <a:solidFill>
              <a:srgbClr val="33291F"/>
            </a:solidFill>
            <a:prstDash val="solid"/>
          </a:ln>
        </p:spPr>
      </p:sp>
      <p:sp>
        <p:nvSpPr>
          <p:cNvPr id="36" name="Text 34"/>
          <p:cNvSpPr/>
          <p:nvPr/>
        </p:nvSpPr>
        <p:spPr>
          <a:xfrm>
            <a:off x="11489234" y="5248275"/>
            <a:ext cx="6043226"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C4B9AB"/>
                </a:solidFill>
                <a:latin typeface="Courier New" pitchFamily="34" charset="0"/>
                <a:ea typeface="Courier New" pitchFamily="34" charset="-122"/>
                <a:cs typeface="Courier New" pitchFamily="34" charset="-120"/>
              </a:rPr>
              <a:t>TOP ITEMS TODAY</a:t>
            </a:r>
            <a:endParaRPr lang="en-US" sz="1500" dirty="0"/>
          </a:p>
        </p:txBody>
      </p:sp>
      <p:sp>
        <p:nvSpPr>
          <p:cNvPr id="37" name="Text 35"/>
          <p:cNvSpPr/>
          <p:nvPr/>
        </p:nvSpPr>
        <p:spPr>
          <a:xfrm>
            <a:off x="11489234" y="5715000"/>
            <a:ext cx="16492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7F1E6"/>
                </a:solidFill>
                <a:latin typeface="Arial" pitchFamily="34" charset="0"/>
                <a:ea typeface="Arial" pitchFamily="34" charset="-122"/>
                <a:cs typeface="Arial" pitchFamily="34" charset="-120"/>
              </a:rPr>
              <a:t>Butter Chicken</a:t>
            </a:r>
            <a:endParaRPr lang="en-US" sz="1800" dirty="0"/>
          </a:p>
        </p:txBody>
      </p:sp>
      <p:sp>
        <p:nvSpPr>
          <p:cNvPr id="38" name="Text 36"/>
          <p:cNvSpPr/>
          <p:nvPr/>
        </p:nvSpPr>
        <p:spPr>
          <a:xfrm>
            <a:off x="16708636" y="5715000"/>
            <a:ext cx="350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62</a:t>
            </a:r>
            <a:endParaRPr lang="en-US" sz="1800" dirty="0"/>
          </a:p>
        </p:txBody>
      </p:sp>
      <p:sp>
        <p:nvSpPr>
          <p:cNvPr id="39" name="Shape 37"/>
          <p:cNvSpPr/>
          <p:nvPr/>
        </p:nvSpPr>
        <p:spPr>
          <a:xfrm>
            <a:off x="11489234" y="6057900"/>
            <a:ext cx="5493841" cy="76200"/>
          </a:xfrm>
          <a:prstGeom prst="rect">
            <a:avLst/>
          </a:prstGeom>
          <a:solidFill>
            <a:srgbClr val="B8862B"/>
          </a:solidFill>
          <a:ln/>
        </p:spPr>
      </p:sp>
      <p:sp>
        <p:nvSpPr>
          <p:cNvPr id="40" name="Text 38"/>
          <p:cNvSpPr/>
          <p:nvPr/>
        </p:nvSpPr>
        <p:spPr>
          <a:xfrm>
            <a:off x="11489234" y="6381750"/>
            <a:ext cx="13419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7F1E6"/>
                </a:solidFill>
                <a:latin typeface="Arial" pitchFamily="34" charset="0"/>
                <a:ea typeface="Arial" pitchFamily="34" charset="-122"/>
                <a:cs typeface="Arial" pitchFamily="34" charset="-120"/>
              </a:rPr>
              <a:t>Butter Naan</a:t>
            </a:r>
            <a:endParaRPr lang="en-US" sz="1800" dirty="0"/>
          </a:p>
        </p:txBody>
      </p:sp>
      <p:sp>
        <p:nvSpPr>
          <p:cNvPr id="41" name="Text 39"/>
          <p:cNvSpPr/>
          <p:nvPr/>
        </p:nvSpPr>
        <p:spPr>
          <a:xfrm>
            <a:off x="16708636" y="6381750"/>
            <a:ext cx="350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54</a:t>
            </a:r>
            <a:endParaRPr lang="en-US" sz="1800" dirty="0"/>
          </a:p>
        </p:txBody>
      </p:sp>
      <p:sp>
        <p:nvSpPr>
          <p:cNvPr id="42" name="Shape 40"/>
          <p:cNvSpPr/>
          <p:nvPr/>
        </p:nvSpPr>
        <p:spPr>
          <a:xfrm>
            <a:off x="11489234" y="6724650"/>
            <a:ext cx="4724698" cy="76200"/>
          </a:xfrm>
          <a:prstGeom prst="rect">
            <a:avLst/>
          </a:prstGeom>
          <a:solidFill>
            <a:srgbClr val="3A2F24"/>
          </a:solidFill>
          <a:ln/>
        </p:spPr>
      </p:sp>
      <p:sp>
        <p:nvSpPr>
          <p:cNvPr id="43" name="Text 41"/>
          <p:cNvSpPr/>
          <p:nvPr/>
        </p:nvSpPr>
        <p:spPr>
          <a:xfrm>
            <a:off x="11489234" y="7048500"/>
            <a:ext cx="139776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7F1E6"/>
                </a:solidFill>
                <a:latin typeface="Arial" pitchFamily="34" charset="0"/>
                <a:ea typeface="Arial" pitchFamily="34" charset="-122"/>
                <a:cs typeface="Arial" pitchFamily="34" charset="-120"/>
              </a:rPr>
              <a:t>Dal Makhani</a:t>
            </a:r>
            <a:endParaRPr lang="en-US" sz="1800" dirty="0"/>
          </a:p>
        </p:txBody>
      </p:sp>
      <p:sp>
        <p:nvSpPr>
          <p:cNvPr id="44" name="Text 42"/>
          <p:cNvSpPr/>
          <p:nvPr/>
        </p:nvSpPr>
        <p:spPr>
          <a:xfrm>
            <a:off x="16708636" y="7048500"/>
            <a:ext cx="350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41</a:t>
            </a:r>
            <a:endParaRPr lang="en-US" sz="1800" dirty="0"/>
          </a:p>
        </p:txBody>
      </p:sp>
      <p:sp>
        <p:nvSpPr>
          <p:cNvPr id="45" name="Shape 43"/>
          <p:cNvSpPr/>
          <p:nvPr/>
        </p:nvSpPr>
        <p:spPr>
          <a:xfrm>
            <a:off x="11489234" y="7391400"/>
            <a:ext cx="3625900" cy="76200"/>
          </a:xfrm>
          <a:prstGeom prst="rect">
            <a:avLst/>
          </a:prstGeom>
          <a:solidFill>
            <a:srgbClr val="3A2F24"/>
          </a:solidFill>
          <a:ln/>
        </p:spPr>
      </p:sp>
      <p:sp>
        <p:nvSpPr>
          <p:cNvPr id="46" name="Text 44"/>
          <p:cNvSpPr/>
          <p:nvPr/>
        </p:nvSpPr>
        <p:spPr>
          <a:xfrm>
            <a:off x="11489234" y="7715250"/>
            <a:ext cx="14722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7F1E6"/>
                </a:solidFill>
                <a:latin typeface="Arial" pitchFamily="34" charset="0"/>
                <a:ea typeface="Arial" pitchFamily="34" charset="-122"/>
                <a:cs typeface="Arial" pitchFamily="34" charset="-120"/>
              </a:rPr>
              <a:t>Paneer Tikka</a:t>
            </a:r>
            <a:endParaRPr lang="en-US" sz="1800" dirty="0"/>
          </a:p>
        </p:txBody>
      </p:sp>
      <p:sp>
        <p:nvSpPr>
          <p:cNvPr id="47" name="Text 45"/>
          <p:cNvSpPr/>
          <p:nvPr/>
        </p:nvSpPr>
        <p:spPr>
          <a:xfrm>
            <a:off x="16708636" y="7715250"/>
            <a:ext cx="350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C7268"/>
                </a:solidFill>
                <a:latin typeface="Courier New" pitchFamily="34" charset="0"/>
                <a:ea typeface="Courier New" pitchFamily="34" charset="-122"/>
                <a:cs typeface="Courier New" pitchFamily="34" charset="-120"/>
              </a:rPr>
              <a:t>28</a:t>
            </a:r>
            <a:endParaRPr lang="en-US" sz="1800" dirty="0"/>
          </a:p>
        </p:txBody>
      </p:sp>
      <p:sp>
        <p:nvSpPr>
          <p:cNvPr id="48" name="Shape 46"/>
          <p:cNvSpPr/>
          <p:nvPr/>
        </p:nvSpPr>
        <p:spPr>
          <a:xfrm>
            <a:off x="11489234" y="8058150"/>
            <a:ext cx="2472184" cy="76200"/>
          </a:xfrm>
          <a:prstGeom prst="rect">
            <a:avLst/>
          </a:prstGeom>
          <a:solidFill>
            <a:srgbClr val="3A2F24"/>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REPORTS</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FOUR NUMBERS THAT RUN THE BUSINESS.</a:t>
            </a:r>
            <a:endParaRPr lang="en-US" sz="6300" dirty="0"/>
          </a:p>
        </p:txBody>
      </p:sp>
      <p:sp>
        <p:nvSpPr>
          <p:cNvPr id="4" name="Shape 2"/>
          <p:cNvSpPr/>
          <p:nvPr/>
        </p:nvSpPr>
        <p:spPr>
          <a:xfrm>
            <a:off x="952500" y="2686050"/>
            <a:ext cx="16383000" cy="6838950"/>
          </a:xfrm>
          <a:prstGeom prst="rect">
            <a:avLst/>
          </a:prstGeom>
          <a:solidFill>
            <a:srgbClr val="E0D6C6"/>
          </a:solidFill>
          <a:ln w="9525">
            <a:solidFill>
              <a:srgbClr val="E0D6C6"/>
            </a:solidFill>
            <a:prstDash val="solid"/>
          </a:ln>
        </p:spPr>
      </p:sp>
      <p:sp>
        <p:nvSpPr>
          <p:cNvPr id="5" name="Shape 3"/>
          <p:cNvSpPr/>
          <p:nvPr/>
        </p:nvSpPr>
        <p:spPr>
          <a:xfrm>
            <a:off x="962025" y="2695575"/>
            <a:ext cx="8172450" cy="3400425"/>
          </a:xfrm>
          <a:prstGeom prst="rect">
            <a:avLst/>
          </a:prstGeom>
          <a:solidFill>
            <a:srgbClr val="FFFFFF"/>
          </a:solidFill>
          <a:ln/>
        </p:spPr>
      </p:sp>
      <p:sp>
        <p:nvSpPr>
          <p:cNvPr id="6" name="Text 4"/>
          <p:cNvSpPr/>
          <p:nvPr/>
        </p:nvSpPr>
        <p:spPr>
          <a:xfrm>
            <a:off x="1400175" y="4314825"/>
            <a:ext cx="2760166"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SALES</a:t>
            </a:r>
            <a:endParaRPr lang="en-US" sz="1425" dirty="0"/>
          </a:p>
        </p:txBody>
      </p:sp>
      <p:sp>
        <p:nvSpPr>
          <p:cNvPr id="7" name="Text 5"/>
          <p:cNvSpPr/>
          <p:nvPr/>
        </p:nvSpPr>
        <p:spPr>
          <a:xfrm>
            <a:off x="1400175" y="4657725"/>
            <a:ext cx="2760166" cy="657225"/>
          </a:xfrm>
          <a:prstGeom prst="rect">
            <a:avLst/>
          </a:prstGeom>
          <a:noFill/>
          <a:ln/>
        </p:spPr>
        <p:txBody>
          <a:bodyPr wrap="square" lIns="25400" tIns="25400" rIns="25400" bIns="25400" rtlCol="0" anchor="t">
            <a:normAutofit/>
          </a:bodyPr>
          <a:lstStyle/>
          <a:p>
            <a:pPr algn="l" indent="0" marL="0">
              <a:buNone/>
            </a:pPr>
            <a:r>
              <a:rPr lang="en-US" sz="4200" b="1" spc="-105" kern="0" dirty="0">
                <a:solidFill>
                  <a:srgbClr val="191512"/>
                </a:solidFill>
                <a:latin typeface="Arial" pitchFamily="34" charset="0"/>
                <a:ea typeface="Arial" pitchFamily="34" charset="-122"/>
                <a:cs typeface="Arial" pitchFamily="34" charset="-120"/>
              </a:rPr>
              <a:t>₹18.4L</a:t>
            </a:r>
            <a:endParaRPr lang="en-US" sz="4200" dirty="0"/>
          </a:p>
        </p:txBody>
      </p:sp>
      <p:sp>
        <p:nvSpPr>
          <p:cNvPr id="8" name="Text 6"/>
          <p:cNvSpPr/>
          <p:nvPr/>
        </p:nvSpPr>
        <p:spPr>
          <a:xfrm>
            <a:off x="1400175" y="5410200"/>
            <a:ext cx="276016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This month · +9% vs last</a:t>
            </a:r>
            <a:endParaRPr lang="en-US" sz="1800" dirty="0"/>
          </a:p>
        </p:txBody>
      </p:sp>
      <p:sp>
        <p:nvSpPr>
          <p:cNvPr id="9" name="Shape 7"/>
          <p:cNvSpPr/>
          <p:nvPr/>
        </p:nvSpPr>
        <p:spPr>
          <a:xfrm>
            <a:off x="7353300" y="5219700"/>
            <a:ext cx="152400" cy="457200"/>
          </a:xfrm>
          <a:prstGeom prst="rect">
            <a:avLst/>
          </a:prstGeom>
          <a:solidFill>
            <a:srgbClr val="E2D8C6"/>
          </a:solidFill>
          <a:ln/>
        </p:spPr>
      </p:sp>
      <p:sp>
        <p:nvSpPr>
          <p:cNvPr id="10" name="Shape 8"/>
          <p:cNvSpPr/>
          <p:nvPr/>
        </p:nvSpPr>
        <p:spPr>
          <a:xfrm>
            <a:off x="7591425" y="5048250"/>
            <a:ext cx="152400" cy="628650"/>
          </a:xfrm>
          <a:prstGeom prst="rect">
            <a:avLst/>
          </a:prstGeom>
          <a:solidFill>
            <a:srgbClr val="E2D8C6"/>
          </a:solidFill>
          <a:ln/>
        </p:spPr>
      </p:sp>
      <p:sp>
        <p:nvSpPr>
          <p:cNvPr id="11" name="Shape 9"/>
          <p:cNvSpPr/>
          <p:nvPr/>
        </p:nvSpPr>
        <p:spPr>
          <a:xfrm>
            <a:off x="7829550" y="5128320"/>
            <a:ext cx="152400" cy="548580"/>
          </a:xfrm>
          <a:prstGeom prst="rect">
            <a:avLst/>
          </a:prstGeom>
          <a:solidFill>
            <a:srgbClr val="E2D8C6"/>
          </a:solidFill>
          <a:ln/>
        </p:spPr>
      </p:sp>
      <p:sp>
        <p:nvSpPr>
          <p:cNvPr id="12" name="Shape 10"/>
          <p:cNvSpPr/>
          <p:nvPr/>
        </p:nvSpPr>
        <p:spPr>
          <a:xfrm>
            <a:off x="8067675" y="4876800"/>
            <a:ext cx="152400" cy="800100"/>
          </a:xfrm>
          <a:prstGeom prst="rect">
            <a:avLst/>
          </a:prstGeom>
          <a:solidFill>
            <a:srgbClr val="E2D8C6"/>
          </a:solidFill>
          <a:ln/>
        </p:spPr>
      </p:sp>
      <p:sp>
        <p:nvSpPr>
          <p:cNvPr id="13" name="Shape 11"/>
          <p:cNvSpPr/>
          <p:nvPr/>
        </p:nvSpPr>
        <p:spPr>
          <a:xfrm>
            <a:off x="8305800" y="4968329"/>
            <a:ext cx="152400" cy="708571"/>
          </a:xfrm>
          <a:prstGeom prst="rect">
            <a:avLst/>
          </a:prstGeom>
          <a:solidFill>
            <a:srgbClr val="E2D8C6"/>
          </a:solidFill>
          <a:ln/>
        </p:spPr>
      </p:sp>
      <p:sp>
        <p:nvSpPr>
          <p:cNvPr id="14" name="Shape 12"/>
          <p:cNvSpPr/>
          <p:nvPr/>
        </p:nvSpPr>
        <p:spPr>
          <a:xfrm>
            <a:off x="8543925" y="4671120"/>
            <a:ext cx="152400" cy="1005780"/>
          </a:xfrm>
          <a:prstGeom prst="rect">
            <a:avLst/>
          </a:prstGeom>
          <a:solidFill>
            <a:srgbClr val="B8862B"/>
          </a:solidFill>
          <a:ln/>
        </p:spPr>
      </p:sp>
      <p:sp>
        <p:nvSpPr>
          <p:cNvPr id="15" name="Shape 13"/>
          <p:cNvSpPr/>
          <p:nvPr/>
        </p:nvSpPr>
        <p:spPr>
          <a:xfrm>
            <a:off x="9153525" y="2695575"/>
            <a:ext cx="8172450" cy="3400425"/>
          </a:xfrm>
          <a:prstGeom prst="rect">
            <a:avLst/>
          </a:prstGeom>
          <a:solidFill>
            <a:srgbClr val="FFFFFF"/>
          </a:solidFill>
          <a:ln/>
        </p:spPr>
      </p:sp>
      <p:sp>
        <p:nvSpPr>
          <p:cNvPr id="16" name="Text 14"/>
          <p:cNvSpPr/>
          <p:nvPr/>
        </p:nvSpPr>
        <p:spPr>
          <a:xfrm>
            <a:off x="9591675" y="4314825"/>
            <a:ext cx="3606061"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ITEM MIX</a:t>
            </a:r>
            <a:endParaRPr lang="en-US" sz="1425" dirty="0"/>
          </a:p>
        </p:txBody>
      </p:sp>
      <p:sp>
        <p:nvSpPr>
          <p:cNvPr id="17" name="Text 15"/>
          <p:cNvSpPr/>
          <p:nvPr/>
        </p:nvSpPr>
        <p:spPr>
          <a:xfrm>
            <a:off x="9591675" y="4657725"/>
            <a:ext cx="3606061" cy="657225"/>
          </a:xfrm>
          <a:prstGeom prst="rect">
            <a:avLst/>
          </a:prstGeom>
          <a:noFill/>
          <a:ln/>
        </p:spPr>
        <p:txBody>
          <a:bodyPr wrap="square" lIns="25400" tIns="25400" rIns="25400" bIns="25400" rtlCol="0" anchor="t">
            <a:normAutofit/>
          </a:bodyPr>
          <a:lstStyle/>
          <a:p>
            <a:pPr algn="l" indent="0" marL="0">
              <a:buNone/>
            </a:pPr>
            <a:r>
              <a:rPr lang="en-US" sz="4200" b="1" spc="-105" kern="0" dirty="0">
                <a:solidFill>
                  <a:srgbClr val="191512"/>
                </a:solidFill>
                <a:latin typeface="Arial" pitchFamily="34" charset="0"/>
                <a:ea typeface="Arial" pitchFamily="34" charset="-122"/>
                <a:cs typeface="Arial" pitchFamily="34" charset="-120"/>
              </a:rPr>
              <a:t>Mains 46%</a:t>
            </a:r>
            <a:endParaRPr lang="en-US" sz="4200" dirty="0"/>
          </a:p>
        </p:txBody>
      </p:sp>
      <p:sp>
        <p:nvSpPr>
          <p:cNvPr id="18" name="Text 16"/>
          <p:cNvSpPr/>
          <p:nvPr/>
        </p:nvSpPr>
        <p:spPr>
          <a:xfrm>
            <a:off x="9591675" y="5410200"/>
            <a:ext cx="360606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Breads 22 · Starters 18 · Bev 14</a:t>
            </a:r>
            <a:endParaRPr lang="en-US" sz="1800" dirty="0"/>
          </a:p>
        </p:txBody>
      </p:sp>
      <p:sp>
        <p:nvSpPr>
          <p:cNvPr id="19" name="Shape 17"/>
          <p:cNvSpPr/>
          <p:nvPr/>
        </p:nvSpPr>
        <p:spPr>
          <a:xfrm>
            <a:off x="14792325" y="5429250"/>
            <a:ext cx="963811" cy="247650"/>
          </a:xfrm>
          <a:prstGeom prst="rect">
            <a:avLst/>
          </a:prstGeom>
          <a:solidFill>
            <a:srgbClr val="B8862B"/>
          </a:solidFill>
          <a:ln/>
        </p:spPr>
      </p:sp>
      <p:sp>
        <p:nvSpPr>
          <p:cNvPr id="20" name="Shape 18"/>
          <p:cNvSpPr/>
          <p:nvPr/>
        </p:nvSpPr>
        <p:spPr>
          <a:xfrm>
            <a:off x="15756136" y="5429250"/>
            <a:ext cx="460921" cy="247650"/>
          </a:xfrm>
          <a:prstGeom prst="rect">
            <a:avLst/>
          </a:prstGeom>
          <a:solidFill>
            <a:srgbClr val="D4C4A8"/>
          </a:solidFill>
          <a:ln/>
        </p:spPr>
      </p:sp>
      <p:sp>
        <p:nvSpPr>
          <p:cNvPr id="21" name="Shape 19"/>
          <p:cNvSpPr/>
          <p:nvPr/>
        </p:nvSpPr>
        <p:spPr>
          <a:xfrm>
            <a:off x="16217057" y="5429250"/>
            <a:ext cx="377130" cy="247650"/>
          </a:xfrm>
          <a:prstGeom prst="rect">
            <a:avLst/>
          </a:prstGeom>
          <a:solidFill>
            <a:srgbClr val="E2D8C6"/>
          </a:solidFill>
          <a:ln/>
        </p:spPr>
      </p:sp>
      <p:sp>
        <p:nvSpPr>
          <p:cNvPr id="22" name="Shape 20"/>
          <p:cNvSpPr/>
          <p:nvPr/>
        </p:nvSpPr>
        <p:spPr>
          <a:xfrm>
            <a:off x="16594187" y="5429250"/>
            <a:ext cx="293340" cy="247650"/>
          </a:xfrm>
          <a:prstGeom prst="rect">
            <a:avLst/>
          </a:prstGeom>
          <a:solidFill>
            <a:srgbClr val="EFE8DC"/>
          </a:solidFill>
          <a:ln/>
        </p:spPr>
      </p:sp>
      <p:sp>
        <p:nvSpPr>
          <p:cNvPr id="23" name="Shape 21"/>
          <p:cNvSpPr/>
          <p:nvPr/>
        </p:nvSpPr>
        <p:spPr>
          <a:xfrm>
            <a:off x="962025" y="6115050"/>
            <a:ext cx="8172450" cy="3400425"/>
          </a:xfrm>
          <a:prstGeom prst="rect">
            <a:avLst/>
          </a:prstGeom>
          <a:solidFill>
            <a:srgbClr val="FFFFFF"/>
          </a:solidFill>
          <a:ln/>
        </p:spPr>
      </p:sp>
      <p:sp>
        <p:nvSpPr>
          <p:cNvPr id="24" name="Text 22"/>
          <p:cNvSpPr/>
          <p:nvPr/>
        </p:nvSpPr>
        <p:spPr>
          <a:xfrm>
            <a:off x="1400175" y="7734300"/>
            <a:ext cx="3434492"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TABLE TURNOVER</a:t>
            </a:r>
            <a:endParaRPr lang="en-US" sz="1425" dirty="0"/>
          </a:p>
        </p:txBody>
      </p:sp>
      <p:sp>
        <p:nvSpPr>
          <p:cNvPr id="25" name="Text 23"/>
          <p:cNvSpPr/>
          <p:nvPr/>
        </p:nvSpPr>
        <p:spPr>
          <a:xfrm>
            <a:off x="1400175" y="8077200"/>
            <a:ext cx="3434492" cy="657225"/>
          </a:xfrm>
          <a:prstGeom prst="rect">
            <a:avLst/>
          </a:prstGeom>
          <a:noFill/>
          <a:ln/>
        </p:spPr>
        <p:txBody>
          <a:bodyPr wrap="square" lIns="25400" tIns="25400" rIns="25400" bIns="25400" rtlCol="0" anchor="t">
            <a:normAutofit/>
          </a:bodyPr>
          <a:lstStyle/>
          <a:p>
            <a:pPr algn="l" indent="0" marL="0">
              <a:buNone/>
            </a:pPr>
            <a:r>
              <a:rPr lang="en-US" sz="4200" b="1" spc="-105" kern="0" dirty="0">
                <a:solidFill>
                  <a:srgbClr val="191512"/>
                </a:solidFill>
                <a:latin typeface="Arial" pitchFamily="34" charset="0"/>
                <a:ea typeface="Arial" pitchFamily="34" charset="-122"/>
                <a:cs typeface="Arial" pitchFamily="34" charset="-120"/>
              </a:rPr>
              <a:t>3.2×</a:t>
            </a:r>
            <a:endParaRPr lang="en-US" sz="4200" dirty="0"/>
          </a:p>
        </p:txBody>
      </p:sp>
      <p:sp>
        <p:nvSpPr>
          <p:cNvPr id="26" name="Text 24"/>
          <p:cNvSpPr/>
          <p:nvPr/>
        </p:nvSpPr>
        <p:spPr>
          <a:xfrm>
            <a:off x="1400175" y="8829675"/>
            <a:ext cx="343449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Average per table, per evening</a:t>
            </a:r>
            <a:endParaRPr lang="en-US" sz="1800" dirty="0"/>
          </a:p>
        </p:txBody>
      </p:sp>
      <p:sp>
        <p:nvSpPr>
          <p:cNvPr id="27" name="Shape 25"/>
          <p:cNvSpPr/>
          <p:nvPr/>
        </p:nvSpPr>
        <p:spPr>
          <a:xfrm>
            <a:off x="7353300" y="8433495"/>
            <a:ext cx="152400" cy="662880"/>
          </a:xfrm>
          <a:prstGeom prst="rect">
            <a:avLst/>
          </a:prstGeom>
          <a:solidFill>
            <a:srgbClr val="E2D8C6"/>
          </a:solidFill>
          <a:ln/>
        </p:spPr>
      </p:sp>
      <p:sp>
        <p:nvSpPr>
          <p:cNvPr id="28" name="Shape 26"/>
          <p:cNvSpPr/>
          <p:nvPr/>
        </p:nvSpPr>
        <p:spPr>
          <a:xfrm>
            <a:off x="7591425" y="8364885"/>
            <a:ext cx="152400" cy="731490"/>
          </a:xfrm>
          <a:prstGeom prst="rect">
            <a:avLst/>
          </a:prstGeom>
          <a:solidFill>
            <a:srgbClr val="E2D8C6"/>
          </a:solidFill>
          <a:ln/>
        </p:spPr>
      </p:sp>
      <p:sp>
        <p:nvSpPr>
          <p:cNvPr id="29" name="Shape 27"/>
          <p:cNvSpPr/>
          <p:nvPr/>
        </p:nvSpPr>
        <p:spPr>
          <a:xfrm>
            <a:off x="7829550" y="8502104"/>
            <a:ext cx="152400" cy="594271"/>
          </a:xfrm>
          <a:prstGeom prst="rect">
            <a:avLst/>
          </a:prstGeom>
          <a:solidFill>
            <a:srgbClr val="E2D8C6"/>
          </a:solidFill>
          <a:ln/>
        </p:spPr>
      </p:sp>
      <p:sp>
        <p:nvSpPr>
          <p:cNvPr id="30" name="Shape 28"/>
          <p:cNvSpPr/>
          <p:nvPr/>
        </p:nvSpPr>
        <p:spPr>
          <a:xfrm>
            <a:off x="8067675" y="8181975"/>
            <a:ext cx="152400" cy="914400"/>
          </a:xfrm>
          <a:prstGeom prst="rect">
            <a:avLst/>
          </a:prstGeom>
          <a:solidFill>
            <a:srgbClr val="B8862B"/>
          </a:solidFill>
          <a:ln/>
        </p:spPr>
      </p:sp>
      <p:sp>
        <p:nvSpPr>
          <p:cNvPr id="31" name="Shape 29"/>
          <p:cNvSpPr/>
          <p:nvPr/>
        </p:nvSpPr>
        <p:spPr>
          <a:xfrm>
            <a:off x="8305800" y="8273504"/>
            <a:ext cx="152400" cy="822871"/>
          </a:xfrm>
          <a:prstGeom prst="rect">
            <a:avLst/>
          </a:prstGeom>
          <a:solidFill>
            <a:srgbClr val="E2D8C6"/>
          </a:solidFill>
          <a:ln/>
        </p:spPr>
      </p:sp>
      <p:sp>
        <p:nvSpPr>
          <p:cNvPr id="32" name="Shape 30"/>
          <p:cNvSpPr/>
          <p:nvPr/>
        </p:nvSpPr>
        <p:spPr>
          <a:xfrm>
            <a:off x="8543925" y="8342114"/>
            <a:ext cx="152400" cy="754261"/>
          </a:xfrm>
          <a:prstGeom prst="rect">
            <a:avLst/>
          </a:prstGeom>
          <a:solidFill>
            <a:srgbClr val="E2D8C6"/>
          </a:solidFill>
          <a:ln/>
        </p:spPr>
      </p:sp>
      <p:sp>
        <p:nvSpPr>
          <p:cNvPr id="33" name="Shape 31"/>
          <p:cNvSpPr/>
          <p:nvPr/>
        </p:nvSpPr>
        <p:spPr>
          <a:xfrm>
            <a:off x="9153525" y="6115050"/>
            <a:ext cx="8172450" cy="3400425"/>
          </a:xfrm>
          <a:prstGeom prst="rect">
            <a:avLst/>
          </a:prstGeom>
          <a:solidFill>
            <a:srgbClr val="FFFFFF"/>
          </a:solidFill>
          <a:ln/>
        </p:spPr>
      </p:sp>
      <p:sp>
        <p:nvSpPr>
          <p:cNvPr id="34" name="Text 32"/>
          <p:cNvSpPr/>
          <p:nvPr/>
        </p:nvSpPr>
        <p:spPr>
          <a:xfrm>
            <a:off x="9591675" y="7734300"/>
            <a:ext cx="2501994"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SERVICE SPEED</a:t>
            </a:r>
            <a:endParaRPr lang="en-US" sz="1425" dirty="0"/>
          </a:p>
        </p:txBody>
      </p:sp>
      <p:sp>
        <p:nvSpPr>
          <p:cNvPr id="35" name="Text 33"/>
          <p:cNvSpPr/>
          <p:nvPr/>
        </p:nvSpPr>
        <p:spPr>
          <a:xfrm>
            <a:off x="9591675" y="8077200"/>
            <a:ext cx="2501994" cy="657225"/>
          </a:xfrm>
          <a:prstGeom prst="rect">
            <a:avLst/>
          </a:prstGeom>
          <a:noFill/>
          <a:ln/>
        </p:spPr>
        <p:txBody>
          <a:bodyPr wrap="square" lIns="25400" tIns="25400" rIns="25400" bIns="25400" rtlCol="0" anchor="t">
            <a:normAutofit/>
          </a:bodyPr>
          <a:lstStyle/>
          <a:p>
            <a:pPr algn="l" indent="0" marL="0">
              <a:buNone/>
            </a:pPr>
            <a:r>
              <a:rPr lang="en-US" sz="4200" b="1" spc="-105" kern="0" dirty="0">
                <a:solidFill>
                  <a:srgbClr val="191512"/>
                </a:solidFill>
                <a:latin typeface="Arial" pitchFamily="34" charset="0"/>
                <a:ea typeface="Arial" pitchFamily="34" charset="-122"/>
                <a:cs typeface="Arial" pitchFamily="34" charset="-120"/>
              </a:rPr>
              <a:t>11:20</a:t>
            </a:r>
            <a:endParaRPr lang="en-US" sz="4200" dirty="0"/>
          </a:p>
        </p:txBody>
      </p:sp>
      <p:sp>
        <p:nvSpPr>
          <p:cNvPr id="36" name="Text 34"/>
          <p:cNvSpPr/>
          <p:nvPr/>
        </p:nvSpPr>
        <p:spPr>
          <a:xfrm>
            <a:off x="9591675" y="8829675"/>
            <a:ext cx="250199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Order to table, median</a:t>
            </a:r>
            <a:endParaRPr lang="en-US" sz="1800" dirty="0"/>
          </a:p>
        </p:txBody>
      </p:sp>
      <p:sp>
        <p:nvSpPr>
          <p:cNvPr id="37" name="Shape 35"/>
          <p:cNvSpPr/>
          <p:nvPr/>
        </p:nvSpPr>
        <p:spPr>
          <a:xfrm>
            <a:off x="15544800" y="8159204"/>
            <a:ext cx="152400" cy="937171"/>
          </a:xfrm>
          <a:prstGeom prst="rect">
            <a:avLst/>
          </a:prstGeom>
          <a:solidFill>
            <a:srgbClr val="E2D8C6"/>
          </a:solidFill>
          <a:ln/>
        </p:spPr>
      </p:sp>
      <p:sp>
        <p:nvSpPr>
          <p:cNvPr id="38" name="Shape 36"/>
          <p:cNvSpPr/>
          <p:nvPr/>
        </p:nvSpPr>
        <p:spPr>
          <a:xfrm>
            <a:off x="15782925" y="8250585"/>
            <a:ext cx="152400" cy="845790"/>
          </a:xfrm>
          <a:prstGeom prst="rect">
            <a:avLst/>
          </a:prstGeom>
          <a:solidFill>
            <a:srgbClr val="E2D8C6"/>
          </a:solidFill>
          <a:ln/>
        </p:spPr>
      </p:sp>
      <p:sp>
        <p:nvSpPr>
          <p:cNvPr id="39" name="Shape 37"/>
          <p:cNvSpPr/>
          <p:nvPr/>
        </p:nvSpPr>
        <p:spPr>
          <a:xfrm>
            <a:off x="16021050" y="8342114"/>
            <a:ext cx="152400" cy="754261"/>
          </a:xfrm>
          <a:prstGeom prst="rect">
            <a:avLst/>
          </a:prstGeom>
          <a:solidFill>
            <a:srgbClr val="E2D8C6"/>
          </a:solidFill>
          <a:ln/>
        </p:spPr>
      </p:sp>
      <p:sp>
        <p:nvSpPr>
          <p:cNvPr id="40" name="Shape 38"/>
          <p:cNvSpPr/>
          <p:nvPr/>
        </p:nvSpPr>
        <p:spPr>
          <a:xfrm>
            <a:off x="16259175" y="8433495"/>
            <a:ext cx="152400" cy="662880"/>
          </a:xfrm>
          <a:prstGeom prst="rect">
            <a:avLst/>
          </a:prstGeom>
          <a:solidFill>
            <a:srgbClr val="E2D8C6"/>
          </a:solidFill>
          <a:ln/>
        </p:spPr>
      </p:sp>
      <p:sp>
        <p:nvSpPr>
          <p:cNvPr id="41" name="Shape 39"/>
          <p:cNvSpPr/>
          <p:nvPr/>
        </p:nvSpPr>
        <p:spPr>
          <a:xfrm>
            <a:off x="16497300" y="8524875"/>
            <a:ext cx="152400" cy="571500"/>
          </a:xfrm>
          <a:prstGeom prst="rect">
            <a:avLst/>
          </a:prstGeom>
          <a:solidFill>
            <a:srgbClr val="B8862B"/>
          </a:solidFill>
          <a:ln/>
        </p:spPr>
      </p:sp>
      <p:sp>
        <p:nvSpPr>
          <p:cNvPr id="42" name="Shape 40"/>
          <p:cNvSpPr/>
          <p:nvPr/>
        </p:nvSpPr>
        <p:spPr>
          <a:xfrm>
            <a:off x="16735425" y="8593485"/>
            <a:ext cx="152400" cy="502890"/>
          </a:xfrm>
          <a:prstGeom prst="rect">
            <a:avLst/>
          </a:prstGeom>
          <a:solidFill>
            <a:srgbClr val="B8862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AE0"/>
        </a:solidFill>
      </p:bgPr>
    </p:bg>
    <p:spTree>
      <p:nvGrpSpPr>
        <p:cNvPr id="1" name=""/>
        <p:cNvGrpSpPr/>
        <p:nvPr/>
      </p:nvGrpSpPr>
      <p:grpSpPr>
        <a:xfrm>
          <a:off x="0" y="0"/>
          <a:ext cx="0" cy="0"/>
          <a:chOff x="0" y="0"/>
          <a:chExt cx="0" cy="0"/>
        </a:xfrm>
      </p:grpSpPr>
      <p:sp>
        <p:nvSpPr>
          <p:cNvPr id="2" name="Text 0"/>
          <p:cNvSpPr/>
          <p:nvPr/>
        </p:nvSpPr>
        <p:spPr>
          <a:xfrm>
            <a:off x="952500" y="876300"/>
            <a:ext cx="8581073"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ACCOUNTABILITY</a:t>
            </a:r>
            <a:endParaRPr lang="en-US" sz="1425" dirty="0"/>
          </a:p>
        </p:txBody>
      </p:sp>
      <p:sp>
        <p:nvSpPr>
          <p:cNvPr id="3" name="Text 1"/>
          <p:cNvSpPr/>
          <p:nvPr/>
        </p:nvSpPr>
        <p:spPr>
          <a:xfrm>
            <a:off x="952500" y="1333500"/>
            <a:ext cx="8035004" cy="1485900"/>
          </a:xfrm>
          <a:prstGeom prst="rect">
            <a:avLst/>
          </a:prstGeom>
          <a:noFill/>
          <a:ln/>
        </p:spPr>
        <p:txBody>
          <a:bodyPr wrap="square" lIns="25400" tIns="25400" rIns="25400" bIns="25400" rtlCol="0" anchor="t">
            <a:normAutofit/>
          </a:bodyPr>
          <a:lstStyle/>
          <a:p>
            <a:pPr algn="l" indent="0" marL="0">
              <a:lnSpc>
                <a:spcPct val="87356"/>
              </a:lnSpc>
              <a:buNone/>
            </a:pPr>
            <a:r>
              <a:rPr lang="en-US" sz="5700" b="1" spc="-171" kern="0" dirty="0">
                <a:solidFill>
                  <a:srgbClr val="191512"/>
                </a:solidFill>
                <a:latin typeface="Arial" pitchFamily="34" charset="0"/>
                <a:ea typeface="Arial" pitchFamily="34" charset="-122"/>
                <a:cs typeface="Arial" pitchFamily="34" charset="-120"/>
              </a:rPr>
              <a:t>EVERY EXCEPTION HAS A STORY.</a:t>
            </a:r>
            <a:endParaRPr lang="en-US" sz="5700" dirty="0"/>
          </a:p>
        </p:txBody>
      </p:sp>
      <p:sp>
        <p:nvSpPr>
          <p:cNvPr id="4" name="Text 2"/>
          <p:cNvSpPr/>
          <p:nvPr/>
        </p:nvSpPr>
        <p:spPr>
          <a:xfrm>
            <a:off x="952500" y="4262438"/>
            <a:ext cx="8581073" cy="2571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9A8F82"/>
                </a:solidFill>
                <a:latin typeface="Courier New" pitchFamily="34" charset="0"/>
                <a:ea typeface="Courier New" pitchFamily="34" charset="-122"/>
                <a:cs typeface="Courier New" pitchFamily="34" charset="-120"/>
              </a:rPr>
              <a:t>FOR EXAMPLE</a:t>
            </a:r>
            <a:endParaRPr lang="en-US" sz="1500" dirty="0"/>
          </a:p>
        </p:txBody>
      </p:sp>
      <p:sp>
        <p:nvSpPr>
          <p:cNvPr id="5" name="Text 3"/>
          <p:cNvSpPr/>
          <p:nvPr/>
        </p:nvSpPr>
        <p:spPr>
          <a:xfrm>
            <a:off x="952500" y="4633913"/>
            <a:ext cx="8581073" cy="1238250"/>
          </a:xfrm>
          <a:prstGeom prst="rect">
            <a:avLst/>
          </a:prstGeom>
          <a:noFill/>
          <a:ln/>
        </p:spPr>
        <p:txBody>
          <a:bodyPr wrap="square" lIns="25400" tIns="25400" rIns="25400" bIns="25400" rtlCol="0" anchor="t">
            <a:normAutofit/>
          </a:bodyPr>
          <a:lstStyle/>
          <a:p>
            <a:pPr algn="l" indent="0" marL="0">
              <a:lnSpc>
                <a:spcPct val="77778"/>
              </a:lnSpc>
              <a:buNone/>
            </a:pPr>
            <a:r>
              <a:rPr lang="en-US" sz="10500" b="1" spc="-420" kern="0" dirty="0">
                <a:solidFill>
                  <a:srgbClr val="B8862B"/>
                </a:solidFill>
                <a:latin typeface="Arial" pitchFamily="34" charset="0"/>
                <a:ea typeface="Arial" pitchFamily="34" charset="-122"/>
                <a:cs typeface="Arial" pitchFamily="34" charset="-120"/>
              </a:rPr>
              <a:t>₹500</a:t>
            </a:r>
            <a:endParaRPr lang="en-US" sz="10500" dirty="0"/>
          </a:p>
        </p:txBody>
      </p:sp>
      <p:sp>
        <p:nvSpPr>
          <p:cNvPr id="6" name="Text 4"/>
          <p:cNvSpPr/>
          <p:nvPr/>
        </p:nvSpPr>
        <p:spPr>
          <a:xfrm>
            <a:off x="952500" y="5986463"/>
            <a:ext cx="8581073" cy="571500"/>
          </a:xfrm>
          <a:prstGeom prst="rect">
            <a:avLst/>
          </a:prstGeom>
          <a:noFill/>
          <a:ln/>
        </p:spPr>
        <p:txBody>
          <a:bodyPr wrap="square" lIns="25400" tIns="25400" rIns="25400" bIns="25400" rtlCol="0" anchor="t">
            <a:normAutofit/>
          </a:bodyPr>
          <a:lstStyle/>
          <a:p>
            <a:pPr algn="l" indent="0" marL="0">
              <a:lnSpc>
                <a:spcPct val="86154"/>
              </a:lnSpc>
              <a:buNone/>
            </a:pPr>
            <a:r>
              <a:rPr lang="en-US" sz="4200" b="1" spc="-84" kern="0" dirty="0">
                <a:solidFill>
                  <a:srgbClr val="191512"/>
                </a:solidFill>
                <a:latin typeface="Arial" pitchFamily="34" charset="0"/>
                <a:ea typeface="Arial" pitchFamily="34" charset="-122"/>
                <a:cs typeface="Arial" pitchFamily="34" charset="-120"/>
              </a:rPr>
              <a:t>DISCOUNT</a:t>
            </a:r>
            <a:endParaRPr lang="en-US" sz="4200" dirty="0"/>
          </a:p>
        </p:txBody>
      </p:sp>
      <p:sp>
        <p:nvSpPr>
          <p:cNvPr id="7" name="Text 5"/>
          <p:cNvSpPr/>
          <p:nvPr/>
        </p:nvSpPr>
        <p:spPr>
          <a:xfrm>
            <a:off x="952500" y="8001000"/>
            <a:ext cx="5494020" cy="156210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6F6455"/>
                </a:solidFill>
                <a:latin typeface="Arial" pitchFamily="34" charset="0"/>
                <a:ea typeface="Arial" pitchFamily="34" charset="-122"/>
                <a:cs typeface="Arial" pitchFamily="34" charset="-120"/>
              </a:rPr>
              <a:t>Discounts, cancellations and reprints are normal parts of service. They only become a problem when nobody can explain them the next morning.</a:t>
            </a:r>
            <a:endParaRPr lang="en-US" sz="2100" dirty="0"/>
          </a:p>
        </p:txBody>
      </p:sp>
      <p:sp>
        <p:nvSpPr>
          <p:cNvPr id="8" name="Shape 6"/>
          <p:cNvSpPr/>
          <p:nvPr/>
        </p:nvSpPr>
        <p:spPr>
          <a:xfrm>
            <a:off x="9515475" y="876300"/>
            <a:ext cx="7820025" cy="8648700"/>
          </a:xfrm>
          <a:prstGeom prst="rect">
            <a:avLst/>
          </a:prstGeom>
          <a:solidFill>
            <a:srgbClr val="FFFFFF"/>
          </a:solidFill>
          <a:ln w="9525">
            <a:solidFill>
              <a:srgbClr val="E0D6C6"/>
            </a:solidFill>
            <a:prstDash val="solid"/>
          </a:ln>
        </p:spPr>
      </p:sp>
      <p:sp>
        <p:nvSpPr>
          <p:cNvPr id="9" name="Shape 7"/>
          <p:cNvSpPr/>
          <p:nvPr/>
        </p:nvSpPr>
        <p:spPr>
          <a:xfrm>
            <a:off x="9525000" y="1781175"/>
            <a:ext cx="7800975" cy="9525"/>
          </a:xfrm>
          <a:prstGeom prst="rect">
            <a:avLst/>
          </a:prstGeom>
          <a:solidFill>
            <a:srgbClr val="EDE5D9"/>
          </a:solidFill>
          <a:ln/>
        </p:spPr>
      </p:sp>
      <p:sp>
        <p:nvSpPr>
          <p:cNvPr id="10" name="Text 8"/>
          <p:cNvSpPr/>
          <p:nvPr/>
        </p:nvSpPr>
        <p:spPr>
          <a:xfrm>
            <a:off x="9906000" y="1171575"/>
            <a:ext cx="3022759"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91512"/>
                </a:solidFill>
                <a:latin typeface="Arial" pitchFamily="34" charset="0"/>
                <a:ea typeface="Arial" pitchFamily="34" charset="-122"/>
                <a:cs typeface="Arial" pitchFamily="34" charset="-120"/>
              </a:rPr>
              <a:t>Bill #4796 — activity</a:t>
            </a:r>
            <a:endParaRPr lang="en-US" sz="2250" dirty="0"/>
          </a:p>
        </p:txBody>
      </p:sp>
      <p:sp>
        <p:nvSpPr>
          <p:cNvPr id="11" name="Text 9"/>
          <p:cNvSpPr/>
          <p:nvPr/>
        </p:nvSpPr>
        <p:spPr>
          <a:xfrm>
            <a:off x="16076116" y="1228725"/>
            <a:ext cx="945059" cy="247650"/>
          </a:xfrm>
          <a:prstGeom prst="rect">
            <a:avLst/>
          </a:prstGeom>
          <a:noFill/>
          <a:ln/>
        </p:spPr>
        <p:txBody>
          <a:bodyPr wrap="square" lIns="25400" tIns="25400" rIns="25400" bIns="25400" rtlCol="0" anchor="t">
            <a:normAutofit/>
          </a:bodyPr>
          <a:lstStyle/>
          <a:p>
            <a:pPr algn="l" indent="0" marL="0">
              <a:buNone/>
            </a:pPr>
            <a:r>
              <a:rPr lang="en-US" sz="1425" dirty="0">
                <a:solidFill>
                  <a:srgbClr val="9A8F82"/>
                </a:solidFill>
                <a:latin typeface="Courier New" pitchFamily="34" charset="0"/>
                <a:ea typeface="Courier New" pitchFamily="34" charset="-122"/>
                <a:cs typeface="Courier New" pitchFamily="34" charset="-120"/>
              </a:rPr>
              <a:t>Table 09</a:t>
            </a:r>
            <a:endParaRPr lang="en-US" sz="1425" dirty="0"/>
          </a:p>
        </p:txBody>
      </p:sp>
      <p:sp>
        <p:nvSpPr>
          <p:cNvPr id="12" name="Shape 10"/>
          <p:cNvSpPr/>
          <p:nvPr/>
        </p:nvSpPr>
        <p:spPr>
          <a:xfrm>
            <a:off x="9525000" y="3895725"/>
            <a:ext cx="7800975" cy="9525"/>
          </a:xfrm>
          <a:prstGeom prst="rect">
            <a:avLst/>
          </a:prstGeom>
          <a:solidFill>
            <a:srgbClr val="EDE5D9"/>
          </a:solidFill>
          <a:ln/>
        </p:spPr>
      </p:sp>
      <p:sp>
        <p:nvSpPr>
          <p:cNvPr id="13" name="Text 11"/>
          <p:cNvSpPr/>
          <p:nvPr/>
        </p:nvSpPr>
        <p:spPr>
          <a:xfrm>
            <a:off x="9906000" y="2209800"/>
            <a:ext cx="7742873"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WHO</a:t>
            </a:r>
            <a:endParaRPr lang="en-US" sz="1425" dirty="0"/>
          </a:p>
        </p:txBody>
      </p:sp>
      <p:sp>
        <p:nvSpPr>
          <p:cNvPr id="14" name="Text 12"/>
          <p:cNvSpPr/>
          <p:nvPr/>
        </p:nvSpPr>
        <p:spPr>
          <a:xfrm>
            <a:off x="9906000" y="2552700"/>
            <a:ext cx="7742873"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191512"/>
                </a:solidFill>
                <a:latin typeface="Arial" pitchFamily="34" charset="0"/>
                <a:ea typeface="Arial" pitchFamily="34" charset="-122"/>
                <a:cs typeface="Arial" pitchFamily="34" charset="-120"/>
              </a:rPr>
              <a:t>Manager — Sunil K.</a:t>
            </a:r>
            <a:endParaRPr lang="en-US" sz="3600" dirty="0"/>
          </a:p>
        </p:txBody>
      </p:sp>
      <p:sp>
        <p:nvSpPr>
          <p:cNvPr id="15" name="Text 13"/>
          <p:cNvSpPr/>
          <p:nvPr/>
        </p:nvSpPr>
        <p:spPr>
          <a:xfrm>
            <a:off x="9906000" y="3209925"/>
            <a:ext cx="774287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Approved with discount permission</a:t>
            </a:r>
            <a:endParaRPr lang="en-US" sz="1800" dirty="0"/>
          </a:p>
        </p:txBody>
      </p:sp>
      <p:sp>
        <p:nvSpPr>
          <p:cNvPr id="16" name="Shape 14"/>
          <p:cNvSpPr/>
          <p:nvPr/>
        </p:nvSpPr>
        <p:spPr>
          <a:xfrm>
            <a:off x="9525000" y="6010275"/>
            <a:ext cx="7800975" cy="9525"/>
          </a:xfrm>
          <a:prstGeom prst="rect">
            <a:avLst/>
          </a:prstGeom>
          <a:solidFill>
            <a:srgbClr val="EDE5D9"/>
          </a:solidFill>
          <a:ln/>
        </p:spPr>
      </p:sp>
      <p:sp>
        <p:nvSpPr>
          <p:cNvPr id="17" name="Text 15"/>
          <p:cNvSpPr/>
          <p:nvPr/>
        </p:nvSpPr>
        <p:spPr>
          <a:xfrm>
            <a:off x="9906000" y="4324350"/>
            <a:ext cx="7742873"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WHEN</a:t>
            </a:r>
            <a:endParaRPr lang="en-US" sz="1425" dirty="0"/>
          </a:p>
        </p:txBody>
      </p:sp>
      <p:sp>
        <p:nvSpPr>
          <p:cNvPr id="18" name="Text 16"/>
          <p:cNvSpPr/>
          <p:nvPr/>
        </p:nvSpPr>
        <p:spPr>
          <a:xfrm>
            <a:off x="9906000" y="4667250"/>
            <a:ext cx="7742873"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191512"/>
                </a:solidFill>
                <a:latin typeface="Arial" pitchFamily="34" charset="0"/>
                <a:ea typeface="Arial" pitchFamily="34" charset="-122"/>
                <a:cs typeface="Arial" pitchFamily="34" charset="-120"/>
              </a:rPr>
              <a:t>2 Sep · 21:14</a:t>
            </a:r>
            <a:endParaRPr lang="en-US" sz="3600" dirty="0"/>
          </a:p>
        </p:txBody>
      </p:sp>
      <p:sp>
        <p:nvSpPr>
          <p:cNvPr id="19" name="Text 17"/>
          <p:cNvSpPr/>
          <p:nvPr/>
        </p:nvSpPr>
        <p:spPr>
          <a:xfrm>
            <a:off x="9906000" y="5324475"/>
            <a:ext cx="774287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Before settlement, after the bill was raised</a:t>
            </a:r>
            <a:endParaRPr lang="en-US" sz="1800" dirty="0"/>
          </a:p>
        </p:txBody>
      </p:sp>
      <p:sp>
        <p:nvSpPr>
          <p:cNvPr id="20" name="Text 18"/>
          <p:cNvSpPr/>
          <p:nvPr/>
        </p:nvSpPr>
        <p:spPr>
          <a:xfrm>
            <a:off x="9906000" y="6438900"/>
            <a:ext cx="7742873" cy="247650"/>
          </a:xfrm>
          <a:prstGeom prst="rect">
            <a:avLst/>
          </a:prstGeom>
          <a:noFill/>
          <a:ln/>
        </p:spPr>
        <p:txBody>
          <a:bodyPr wrap="square" lIns="25400" tIns="25400" rIns="25400" bIns="25400" rtlCol="0" anchor="t">
            <a:normAutofit/>
          </a:bodyPr>
          <a:lstStyle/>
          <a:p>
            <a:pPr algn="l" indent="0" marL="0">
              <a:buNone/>
            </a:pPr>
            <a:r>
              <a:rPr lang="en-US" sz="1425" spc="228" kern="0" dirty="0">
                <a:solidFill>
                  <a:srgbClr val="B8862B"/>
                </a:solidFill>
                <a:latin typeface="Courier New" pitchFamily="34" charset="0"/>
                <a:ea typeface="Courier New" pitchFamily="34" charset="-122"/>
                <a:cs typeface="Courier New" pitchFamily="34" charset="-120"/>
              </a:rPr>
              <a:t>WHAT</a:t>
            </a:r>
            <a:endParaRPr lang="en-US" sz="1425" dirty="0"/>
          </a:p>
        </p:txBody>
      </p:sp>
      <p:sp>
        <p:nvSpPr>
          <p:cNvPr id="21" name="Text 19"/>
          <p:cNvSpPr/>
          <p:nvPr/>
        </p:nvSpPr>
        <p:spPr>
          <a:xfrm>
            <a:off x="9906000" y="6781800"/>
            <a:ext cx="7742873"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191512"/>
                </a:solidFill>
                <a:latin typeface="Arial" pitchFamily="34" charset="0"/>
                <a:ea typeface="Arial" pitchFamily="34" charset="-122"/>
                <a:cs typeface="Arial" pitchFamily="34" charset="-120"/>
              </a:rPr>
              <a:t>₹500 goodwill discount</a:t>
            </a:r>
            <a:endParaRPr lang="en-US" sz="3600" dirty="0"/>
          </a:p>
        </p:txBody>
      </p:sp>
      <p:sp>
        <p:nvSpPr>
          <p:cNvPr id="22" name="Text 20"/>
          <p:cNvSpPr/>
          <p:nvPr/>
        </p:nvSpPr>
        <p:spPr>
          <a:xfrm>
            <a:off x="9906000" y="7439025"/>
            <a:ext cx="774287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A7F71"/>
                </a:solidFill>
                <a:latin typeface="Arial" pitchFamily="34" charset="0"/>
                <a:ea typeface="Arial" pitchFamily="34" charset="-122"/>
                <a:cs typeface="Arial" pitchFamily="34" charset="-120"/>
              </a:rPr>
              <a:t>Reason: delayed main course, regular guest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ROLES</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EACH PERSON SEES ONE SCREEN.</a:t>
            </a:r>
            <a:endParaRPr lang="en-US" sz="6300" dirty="0"/>
          </a:p>
        </p:txBody>
      </p:sp>
      <p:sp>
        <p:nvSpPr>
          <p:cNvPr id="4" name="Shape 2"/>
          <p:cNvSpPr/>
          <p:nvPr/>
        </p:nvSpPr>
        <p:spPr>
          <a:xfrm>
            <a:off x="952500" y="2667000"/>
            <a:ext cx="3867150" cy="5791200"/>
          </a:xfrm>
          <a:prstGeom prst="rect">
            <a:avLst/>
          </a:prstGeom>
          <a:solidFill>
            <a:srgbClr val="FFFFFF"/>
          </a:solidFill>
          <a:ln w="9525">
            <a:solidFill>
              <a:srgbClr val="E0D6C6"/>
            </a:solidFill>
            <a:prstDash val="solid"/>
          </a:ln>
        </p:spPr>
      </p:sp>
      <p:sp>
        <p:nvSpPr>
          <p:cNvPr id="5" name="Text 3"/>
          <p:cNvSpPr/>
          <p:nvPr/>
        </p:nvSpPr>
        <p:spPr>
          <a:xfrm>
            <a:off x="1190625" y="2905125"/>
            <a:ext cx="372999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9A8F82"/>
                </a:solidFill>
                <a:latin typeface="Courier New" pitchFamily="34" charset="0"/>
                <a:ea typeface="Courier New" pitchFamily="34" charset="-122"/>
                <a:cs typeface="Courier New" pitchFamily="34" charset="-120"/>
              </a:rPr>
              <a:t>FLOOR</a:t>
            </a:r>
            <a:endParaRPr lang="en-US" sz="1200" dirty="0"/>
          </a:p>
        </p:txBody>
      </p:sp>
      <p:sp>
        <p:nvSpPr>
          <p:cNvPr id="6" name="Shape 4"/>
          <p:cNvSpPr/>
          <p:nvPr/>
        </p:nvSpPr>
        <p:spPr>
          <a:xfrm>
            <a:off x="1190625" y="3190875"/>
            <a:ext cx="3390900" cy="514350"/>
          </a:xfrm>
          <a:prstGeom prst="rect">
            <a:avLst/>
          </a:prstGeom>
          <a:ln w="9525">
            <a:solidFill>
              <a:srgbClr val="E0D6C6"/>
            </a:solidFill>
            <a:prstDash val="solid"/>
          </a:ln>
        </p:spPr>
      </p:sp>
      <p:sp>
        <p:nvSpPr>
          <p:cNvPr id="7" name="Shape 5"/>
          <p:cNvSpPr/>
          <p:nvPr/>
        </p:nvSpPr>
        <p:spPr>
          <a:xfrm>
            <a:off x="1190625" y="3800475"/>
            <a:ext cx="3390900" cy="495300"/>
          </a:xfrm>
          <a:prstGeom prst="rect">
            <a:avLst/>
          </a:prstGeom>
          <a:solidFill>
            <a:srgbClr val="241D17"/>
          </a:solidFill>
          <a:ln/>
        </p:spPr>
      </p:sp>
      <p:sp>
        <p:nvSpPr>
          <p:cNvPr id="8" name="Shape 6"/>
          <p:cNvSpPr/>
          <p:nvPr/>
        </p:nvSpPr>
        <p:spPr>
          <a:xfrm>
            <a:off x="1190625" y="4391025"/>
            <a:ext cx="3390900" cy="514350"/>
          </a:xfrm>
          <a:prstGeom prst="rect">
            <a:avLst/>
          </a:prstGeom>
          <a:ln w="9525">
            <a:solidFill>
              <a:srgbClr val="E0D6C6"/>
            </a:solidFill>
            <a:prstDash val="solid"/>
          </a:ln>
        </p:spPr>
      </p:sp>
      <p:sp>
        <p:nvSpPr>
          <p:cNvPr id="9" name="Shape 7"/>
          <p:cNvSpPr/>
          <p:nvPr/>
        </p:nvSpPr>
        <p:spPr>
          <a:xfrm>
            <a:off x="1190625" y="5000625"/>
            <a:ext cx="3390900" cy="495300"/>
          </a:xfrm>
          <a:prstGeom prst="rect">
            <a:avLst/>
          </a:prstGeom>
          <a:solidFill>
            <a:srgbClr val="241D17"/>
          </a:solidFill>
          <a:ln/>
        </p:spPr>
      </p:sp>
      <p:sp>
        <p:nvSpPr>
          <p:cNvPr id="10" name="Shape 8"/>
          <p:cNvSpPr/>
          <p:nvPr/>
        </p:nvSpPr>
        <p:spPr>
          <a:xfrm>
            <a:off x="1190625" y="5591175"/>
            <a:ext cx="3390900" cy="533400"/>
          </a:xfrm>
          <a:prstGeom prst="rect">
            <a:avLst/>
          </a:prstGeom>
          <a:ln w="19050">
            <a:solidFill>
              <a:srgbClr val="B8862B"/>
            </a:solidFill>
            <a:prstDash val="solid"/>
          </a:ln>
        </p:spPr>
      </p:sp>
      <p:sp>
        <p:nvSpPr>
          <p:cNvPr id="11" name="Text 9"/>
          <p:cNvSpPr/>
          <p:nvPr/>
        </p:nvSpPr>
        <p:spPr>
          <a:xfrm>
            <a:off x="952500" y="8686800"/>
            <a:ext cx="4253865" cy="466725"/>
          </a:xfrm>
          <a:prstGeom prst="rect">
            <a:avLst/>
          </a:prstGeom>
          <a:noFill/>
          <a:ln/>
        </p:spPr>
        <p:txBody>
          <a:bodyPr wrap="square" lIns="25400" tIns="25400" rIns="25400" bIns="25400" rtlCol="0" anchor="t">
            <a:normAutofit/>
          </a:bodyPr>
          <a:lstStyle/>
          <a:p>
            <a:pPr algn="l" indent="0" marL="0">
              <a:buNone/>
            </a:pPr>
            <a:r>
              <a:rPr lang="en-US" sz="3000" b="1" spc="-45" kern="0" dirty="0">
                <a:solidFill>
                  <a:srgbClr val="191512"/>
                </a:solidFill>
                <a:latin typeface="Arial" pitchFamily="34" charset="0"/>
                <a:ea typeface="Arial" pitchFamily="34" charset="-122"/>
                <a:cs typeface="Arial" pitchFamily="34" charset="-120"/>
              </a:rPr>
              <a:t>WAITER</a:t>
            </a:r>
            <a:endParaRPr lang="en-US" sz="3000" dirty="0"/>
          </a:p>
        </p:txBody>
      </p:sp>
      <p:sp>
        <p:nvSpPr>
          <p:cNvPr id="12" name="Text 10"/>
          <p:cNvSpPr/>
          <p:nvPr/>
        </p:nvSpPr>
        <p:spPr>
          <a:xfrm>
            <a:off x="952500" y="9210675"/>
            <a:ext cx="425386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Tables and orders in his section</a:t>
            </a:r>
            <a:endParaRPr lang="en-US" sz="1800" dirty="0"/>
          </a:p>
        </p:txBody>
      </p:sp>
      <p:sp>
        <p:nvSpPr>
          <p:cNvPr id="13" name="Shape 11"/>
          <p:cNvSpPr/>
          <p:nvPr/>
        </p:nvSpPr>
        <p:spPr>
          <a:xfrm>
            <a:off x="5124450" y="2667000"/>
            <a:ext cx="3867150" cy="5791200"/>
          </a:xfrm>
          <a:prstGeom prst="rect">
            <a:avLst/>
          </a:prstGeom>
          <a:solidFill>
            <a:srgbClr val="14100D"/>
          </a:solidFill>
          <a:ln/>
        </p:spPr>
      </p:sp>
      <p:sp>
        <p:nvSpPr>
          <p:cNvPr id="14" name="Text 12"/>
          <p:cNvSpPr/>
          <p:nvPr/>
        </p:nvSpPr>
        <p:spPr>
          <a:xfrm>
            <a:off x="5353050" y="2895600"/>
            <a:ext cx="3750945"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7C7268"/>
                </a:solidFill>
                <a:latin typeface="Courier New" pitchFamily="34" charset="0"/>
                <a:ea typeface="Courier New" pitchFamily="34" charset="-122"/>
                <a:cs typeface="Courier New" pitchFamily="34" charset="-120"/>
              </a:rPr>
              <a:t>QUEUE</a:t>
            </a:r>
            <a:endParaRPr lang="en-US" sz="1200" dirty="0"/>
          </a:p>
        </p:txBody>
      </p:sp>
      <p:sp>
        <p:nvSpPr>
          <p:cNvPr id="15" name="Shape 13"/>
          <p:cNvSpPr/>
          <p:nvPr/>
        </p:nvSpPr>
        <p:spPr>
          <a:xfrm>
            <a:off x="5353050" y="3181350"/>
            <a:ext cx="1085850" cy="2486025"/>
          </a:xfrm>
          <a:prstGeom prst="rect">
            <a:avLst/>
          </a:prstGeom>
          <a:solidFill>
            <a:srgbClr val="1C1712"/>
          </a:solidFill>
          <a:ln/>
        </p:spPr>
      </p:sp>
      <p:sp>
        <p:nvSpPr>
          <p:cNvPr id="16" name="Shape 14"/>
          <p:cNvSpPr/>
          <p:nvPr/>
        </p:nvSpPr>
        <p:spPr>
          <a:xfrm>
            <a:off x="6515100" y="3181350"/>
            <a:ext cx="1085850" cy="2486025"/>
          </a:xfrm>
          <a:prstGeom prst="rect">
            <a:avLst/>
          </a:prstGeom>
          <a:solidFill>
            <a:srgbClr val="B8862B">
              <a:alpha val="25000"/>
            </a:srgbClr>
          </a:solidFill>
          <a:ln/>
        </p:spPr>
      </p:sp>
      <p:sp>
        <p:nvSpPr>
          <p:cNvPr id="17" name="Shape 15"/>
          <p:cNvSpPr/>
          <p:nvPr/>
        </p:nvSpPr>
        <p:spPr>
          <a:xfrm>
            <a:off x="7677150" y="3181350"/>
            <a:ext cx="1085850" cy="2486025"/>
          </a:xfrm>
          <a:prstGeom prst="rect">
            <a:avLst/>
          </a:prstGeom>
          <a:solidFill>
            <a:srgbClr val="241D17"/>
          </a:solidFill>
          <a:ln/>
        </p:spPr>
      </p:sp>
      <p:sp>
        <p:nvSpPr>
          <p:cNvPr id="18" name="Shape 16"/>
          <p:cNvSpPr/>
          <p:nvPr/>
        </p:nvSpPr>
        <p:spPr>
          <a:xfrm>
            <a:off x="5353050" y="5743575"/>
            <a:ext cx="1085850" cy="2486025"/>
          </a:xfrm>
          <a:prstGeom prst="rect">
            <a:avLst/>
          </a:prstGeom>
          <a:solidFill>
            <a:srgbClr val="1C1712"/>
          </a:solidFill>
          <a:ln/>
        </p:spPr>
      </p:sp>
      <p:sp>
        <p:nvSpPr>
          <p:cNvPr id="19" name="Shape 17"/>
          <p:cNvSpPr/>
          <p:nvPr/>
        </p:nvSpPr>
        <p:spPr>
          <a:xfrm>
            <a:off x="6515100" y="5743575"/>
            <a:ext cx="1085850" cy="2486025"/>
          </a:xfrm>
          <a:prstGeom prst="rect">
            <a:avLst/>
          </a:prstGeom>
          <a:solidFill>
            <a:srgbClr val="1C1712"/>
          </a:solidFill>
          <a:ln/>
        </p:spPr>
      </p:sp>
      <p:sp>
        <p:nvSpPr>
          <p:cNvPr id="20" name="Shape 18"/>
          <p:cNvSpPr/>
          <p:nvPr/>
        </p:nvSpPr>
        <p:spPr>
          <a:xfrm>
            <a:off x="7677150" y="5743575"/>
            <a:ext cx="1085850" cy="2486025"/>
          </a:xfrm>
          <a:prstGeom prst="rect">
            <a:avLst/>
          </a:prstGeom>
          <a:solidFill>
            <a:srgbClr val="241D17"/>
          </a:solidFill>
          <a:ln/>
        </p:spPr>
      </p:sp>
      <p:sp>
        <p:nvSpPr>
          <p:cNvPr id="21" name="Text 19"/>
          <p:cNvSpPr/>
          <p:nvPr/>
        </p:nvSpPr>
        <p:spPr>
          <a:xfrm>
            <a:off x="5124450" y="8686800"/>
            <a:ext cx="4253865" cy="466725"/>
          </a:xfrm>
          <a:prstGeom prst="rect">
            <a:avLst/>
          </a:prstGeom>
          <a:noFill/>
          <a:ln/>
        </p:spPr>
        <p:txBody>
          <a:bodyPr wrap="square" lIns="25400" tIns="25400" rIns="25400" bIns="25400" rtlCol="0" anchor="t">
            <a:normAutofit/>
          </a:bodyPr>
          <a:lstStyle/>
          <a:p>
            <a:pPr algn="l" indent="0" marL="0">
              <a:buNone/>
            </a:pPr>
            <a:r>
              <a:rPr lang="en-US" sz="3000" b="1" spc="-45" kern="0" dirty="0">
                <a:solidFill>
                  <a:srgbClr val="191512"/>
                </a:solidFill>
                <a:latin typeface="Arial" pitchFamily="34" charset="0"/>
                <a:ea typeface="Arial" pitchFamily="34" charset="-122"/>
                <a:cs typeface="Arial" pitchFamily="34" charset="-120"/>
              </a:rPr>
              <a:t>COOK</a:t>
            </a:r>
            <a:endParaRPr lang="en-US" sz="3000" dirty="0"/>
          </a:p>
        </p:txBody>
      </p:sp>
      <p:sp>
        <p:nvSpPr>
          <p:cNvPr id="22" name="Text 20"/>
          <p:cNvSpPr/>
          <p:nvPr/>
        </p:nvSpPr>
        <p:spPr>
          <a:xfrm>
            <a:off x="5124450" y="9210675"/>
            <a:ext cx="425386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Only what has to be cooked next</a:t>
            </a:r>
            <a:endParaRPr lang="en-US" sz="1800" dirty="0"/>
          </a:p>
        </p:txBody>
      </p:sp>
      <p:sp>
        <p:nvSpPr>
          <p:cNvPr id="23" name="Shape 21"/>
          <p:cNvSpPr/>
          <p:nvPr/>
        </p:nvSpPr>
        <p:spPr>
          <a:xfrm>
            <a:off x="9296400" y="2667000"/>
            <a:ext cx="3867150" cy="5791200"/>
          </a:xfrm>
          <a:prstGeom prst="rect">
            <a:avLst/>
          </a:prstGeom>
          <a:solidFill>
            <a:srgbClr val="FFFFFF"/>
          </a:solidFill>
          <a:ln w="9525">
            <a:solidFill>
              <a:srgbClr val="E0D6C6"/>
            </a:solidFill>
            <a:prstDash val="solid"/>
          </a:ln>
        </p:spPr>
      </p:sp>
      <p:sp>
        <p:nvSpPr>
          <p:cNvPr id="24" name="Text 22"/>
          <p:cNvSpPr/>
          <p:nvPr/>
        </p:nvSpPr>
        <p:spPr>
          <a:xfrm>
            <a:off x="9534525" y="2905125"/>
            <a:ext cx="372999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9A8F82"/>
                </a:solidFill>
                <a:latin typeface="Courier New" pitchFamily="34" charset="0"/>
                <a:ea typeface="Courier New" pitchFamily="34" charset="-122"/>
                <a:cs typeface="Courier New" pitchFamily="34" charset="-120"/>
              </a:rPr>
              <a:t>BILL</a:t>
            </a:r>
            <a:endParaRPr lang="en-US" sz="1200" dirty="0"/>
          </a:p>
        </p:txBody>
      </p:sp>
      <p:sp>
        <p:nvSpPr>
          <p:cNvPr id="25" name="Shape 23"/>
          <p:cNvSpPr/>
          <p:nvPr/>
        </p:nvSpPr>
        <p:spPr>
          <a:xfrm>
            <a:off x="9534525" y="6467475"/>
            <a:ext cx="3390900" cy="114300"/>
          </a:xfrm>
          <a:prstGeom prst="rect">
            <a:avLst/>
          </a:prstGeom>
          <a:solidFill>
            <a:srgbClr val="EDE5D9"/>
          </a:solidFill>
          <a:ln/>
        </p:spPr>
      </p:sp>
      <p:sp>
        <p:nvSpPr>
          <p:cNvPr id="26" name="Shape 24"/>
          <p:cNvSpPr/>
          <p:nvPr/>
        </p:nvSpPr>
        <p:spPr>
          <a:xfrm>
            <a:off x="9534525" y="6696075"/>
            <a:ext cx="2712690" cy="114300"/>
          </a:xfrm>
          <a:prstGeom prst="rect">
            <a:avLst/>
          </a:prstGeom>
          <a:solidFill>
            <a:srgbClr val="EDE5D9"/>
          </a:solidFill>
          <a:ln/>
        </p:spPr>
      </p:sp>
      <p:sp>
        <p:nvSpPr>
          <p:cNvPr id="27" name="Shape 25"/>
          <p:cNvSpPr/>
          <p:nvPr/>
        </p:nvSpPr>
        <p:spPr>
          <a:xfrm>
            <a:off x="9534525" y="6924675"/>
            <a:ext cx="2170063" cy="114300"/>
          </a:xfrm>
          <a:prstGeom prst="rect">
            <a:avLst/>
          </a:prstGeom>
          <a:solidFill>
            <a:srgbClr val="EDE5D9"/>
          </a:solidFill>
          <a:ln/>
        </p:spPr>
      </p:sp>
      <p:sp>
        <p:nvSpPr>
          <p:cNvPr id="28" name="Shape 26"/>
          <p:cNvSpPr/>
          <p:nvPr/>
        </p:nvSpPr>
        <p:spPr>
          <a:xfrm>
            <a:off x="9534525" y="7267575"/>
            <a:ext cx="3390900" cy="419100"/>
          </a:xfrm>
          <a:prstGeom prst="rect">
            <a:avLst/>
          </a:prstGeom>
          <a:solidFill>
            <a:srgbClr val="241D17"/>
          </a:solidFill>
          <a:ln/>
        </p:spPr>
      </p:sp>
      <p:sp>
        <p:nvSpPr>
          <p:cNvPr id="29" name="Shape 27"/>
          <p:cNvSpPr/>
          <p:nvPr/>
        </p:nvSpPr>
        <p:spPr>
          <a:xfrm>
            <a:off x="9534525" y="7800975"/>
            <a:ext cx="3390900" cy="419100"/>
          </a:xfrm>
          <a:prstGeom prst="rect">
            <a:avLst/>
          </a:prstGeom>
          <a:solidFill>
            <a:srgbClr val="B8862B"/>
          </a:solidFill>
          <a:ln/>
        </p:spPr>
      </p:sp>
      <p:sp>
        <p:nvSpPr>
          <p:cNvPr id="30" name="Text 28"/>
          <p:cNvSpPr/>
          <p:nvPr/>
        </p:nvSpPr>
        <p:spPr>
          <a:xfrm>
            <a:off x="9296400" y="8686800"/>
            <a:ext cx="4253865" cy="466725"/>
          </a:xfrm>
          <a:prstGeom prst="rect">
            <a:avLst/>
          </a:prstGeom>
          <a:noFill/>
          <a:ln/>
        </p:spPr>
        <p:txBody>
          <a:bodyPr wrap="square" lIns="25400" tIns="25400" rIns="25400" bIns="25400" rtlCol="0" anchor="t">
            <a:normAutofit/>
          </a:bodyPr>
          <a:lstStyle/>
          <a:p>
            <a:pPr algn="l" indent="0" marL="0">
              <a:buNone/>
            </a:pPr>
            <a:r>
              <a:rPr lang="en-US" sz="3000" b="1" spc="-45" kern="0" dirty="0">
                <a:solidFill>
                  <a:srgbClr val="191512"/>
                </a:solidFill>
                <a:latin typeface="Arial" pitchFamily="34" charset="0"/>
                <a:ea typeface="Arial" pitchFamily="34" charset="-122"/>
                <a:cs typeface="Arial" pitchFamily="34" charset="-120"/>
              </a:rPr>
              <a:t>CASHIER</a:t>
            </a:r>
            <a:endParaRPr lang="en-US" sz="3000" dirty="0"/>
          </a:p>
        </p:txBody>
      </p:sp>
      <p:sp>
        <p:nvSpPr>
          <p:cNvPr id="31" name="Text 29"/>
          <p:cNvSpPr/>
          <p:nvPr/>
        </p:nvSpPr>
        <p:spPr>
          <a:xfrm>
            <a:off x="9296400" y="9210675"/>
            <a:ext cx="425386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Bills, payment and settlement</a:t>
            </a:r>
            <a:endParaRPr lang="en-US" sz="1800" dirty="0"/>
          </a:p>
        </p:txBody>
      </p:sp>
      <p:sp>
        <p:nvSpPr>
          <p:cNvPr id="32" name="Shape 30"/>
          <p:cNvSpPr/>
          <p:nvPr/>
        </p:nvSpPr>
        <p:spPr>
          <a:xfrm>
            <a:off x="13468350" y="2667000"/>
            <a:ext cx="3867150" cy="5791200"/>
          </a:xfrm>
          <a:prstGeom prst="rect">
            <a:avLst/>
          </a:prstGeom>
          <a:solidFill>
            <a:srgbClr val="14100D"/>
          </a:solidFill>
          <a:ln/>
        </p:spPr>
      </p:sp>
      <p:sp>
        <p:nvSpPr>
          <p:cNvPr id="33" name="Text 31"/>
          <p:cNvSpPr/>
          <p:nvPr/>
        </p:nvSpPr>
        <p:spPr>
          <a:xfrm>
            <a:off x="13696950" y="2895600"/>
            <a:ext cx="3750945"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7C7268"/>
                </a:solidFill>
                <a:latin typeface="Courier New" pitchFamily="34" charset="0"/>
                <a:ea typeface="Courier New" pitchFamily="34" charset="-122"/>
                <a:cs typeface="Courier New" pitchFamily="34" charset="-120"/>
              </a:rPr>
              <a:t>OVERVIEW</a:t>
            </a:r>
            <a:endParaRPr lang="en-US" sz="1200" dirty="0"/>
          </a:p>
        </p:txBody>
      </p:sp>
      <p:sp>
        <p:nvSpPr>
          <p:cNvPr id="34" name="Text 32"/>
          <p:cNvSpPr/>
          <p:nvPr/>
        </p:nvSpPr>
        <p:spPr>
          <a:xfrm>
            <a:off x="13696950" y="6848475"/>
            <a:ext cx="3750945"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D8A94A"/>
                </a:solidFill>
                <a:latin typeface="Arial" pitchFamily="34" charset="0"/>
                <a:ea typeface="Arial" pitchFamily="34" charset="-122"/>
                <a:cs typeface="Arial" pitchFamily="34" charset="-120"/>
              </a:rPr>
              <a:t>₹84,260</a:t>
            </a:r>
            <a:endParaRPr lang="en-US" sz="2850" dirty="0"/>
          </a:p>
        </p:txBody>
      </p:sp>
      <p:sp>
        <p:nvSpPr>
          <p:cNvPr id="35" name="Shape 33"/>
          <p:cNvSpPr/>
          <p:nvPr/>
        </p:nvSpPr>
        <p:spPr>
          <a:xfrm>
            <a:off x="13696950" y="7929563"/>
            <a:ext cx="636240" cy="300038"/>
          </a:xfrm>
          <a:prstGeom prst="rect">
            <a:avLst/>
          </a:prstGeom>
          <a:solidFill>
            <a:srgbClr val="3A2F24"/>
          </a:solidFill>
          <a:ln/>
        </p:spPr>
      </p:sp>
      <p:sp>
        <p:nvSpPr>
          <p:cNvPr id="36" name="Shape 34"/>
          <p:cNvSpPr/>
          <p:nvPr/>
        </p:nvSpPr>
        <p:spPr>
          <a:xfrm>
            <a:off x="14390340" y="7758113"/>
            <a:ext cx="636240" cy="471488"/>
          </a:xfrm>
          <a:prstGeom prst="rect">
            <a:avLst/>
          </a:prstGeom>
          <a:solidFill>
            <a:srgbClr val="3A2F24"/>
          </a:solidFill>
          <a:ln/>
        </p:spPr>
      </p:sp>
      <p:sp>
        <p:nvSpPr>
          <p:cNvPr id="37" name="Shape 35"/>
          <p:cNvSpPr/>
          <p:nvPr/>
        </p:nvSpPr>
        <p:spPr>
          <a:xfrm>
            <a:off x="15083730" y="7869585"/>
            <a:ext cx="636240" cy="360015"/>
          </a:xfrm>
          <a:prstGeom prst="rect">
            <a:avLst/>
          </a:prstGeom>
          <a:solidFill>
            <a:srgbClr val="3A2F24"/>
          </a:solidFill>
          <a:ln/>
        </p:spPr>
      </p:sp>
      <p:sp>
        <p:nvSpPr>
          <p:cNvPr id="38" name="Shape 36"/>
          <p:cNvSpPr/>
          <p:nvPr/>
        </p:nvSpPr>
        <p:spPr>
          <a:xfrm>
            <a:off x="15777121" y="7561064"/>
            <a:ext cx="636240" cy="668536"/>
          </a:xfrm>
          <a:prstGeom prst="rect">
            <a:avLst/>
          </a:prstGeom>
          <a:solidFill>
            <a:srgbClr val="B8862B"/>
          </a:solidFill>
          <a:ln/>
        </p:spPr>
      </p:sp>
      <p:sp>
        <p:nvSpPr>
          <p:cNvPr id="39" name="Shape 37"/>
          <p:cNvSpPr/>
          <p:nvPr/>
        </p:nvSpPr>
        <p:spPr>
          <a:xfrm>
            <a:off x="16470511" y="7681020"/>
            <a:ext cx="636240" cy="548580"/>
          </a:xfrm>
          <a:prstGeom prst="rect">
            <a:avLst/>
          </a:prstGeom>
          <a:solidFill>
            <a:srgbClr val="3A2F24"/>
          </a:solidFill>
          <a:ln/>
        </p:spPr>
      </p:sp>
      <p:sp>
        <p:nvSpPr>
          <p:cNvPr id="40" name="Text 38"/>
          <p:cNvSpPr/>
          <p:nvPr/>
        </p:nvSpPr>
        <p:spPr>
          <a:xfrm>
            <a:off x="13468350" y="8686800"/>
            <a:ext cx="4253865" cy="466725"/>
          </a:xfrm>
          <a:prstGeom prst="rect">
            <a:avLst/>
          </a:prstGeom>
          <a:noFill/>
          <a:ln/>
        </p:spPr>
        <p:txBody>
          <a:bodyPr wrap="square" lIns="25400" tIns="25400" rIns="25400" bIns="25400" rtlCol="0" anchor="t">
            <a:normAutofit/>
          </a:bodyPr>
          <a:lstStyle/>
          <a:p>
            <a:pPr algn="l" indent="0" marL="0">
              <a:buNone/>
            </a:pPr>
            <a:r>
              <a:rPr lang="en-US" sz="3000" b="1" spc="-45" kern="0" dirty="0">
                <a:solidFill>
                  <a:srgbClr val="191512"/>
                </a:solidFill>
                <a:latin typeface="Arial" pitchFamily="34" charset="0"/>
                <a:ea typeface="Arial" pitchFamily="34" charset="-122"/>
                <a:cs typeface="Arial" pitchFamily="34" charset="-120"/>
              </a:rPr>
              <a:t>MANAGER</a:t>
            </a:r>
            <a:endParaRPr lang="en-US" sz="3000" dirty="0"/>
          </a:p>
        </p:txBody>
      </p:sp>
      <p:sp>
        <p:nvSpPr>
          <p:cNvPr id="41" name="Text 39"/>
          <p:cNvSpPr/>
          <p:nvPr/>
        </p:nvSpPr>
        <p:spPr>
          <a:xfrm>
            <a:off x="13468350" y="9210675"/>
            <a:ext cx="4253865" cy="35242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Approvals, staff and the full picture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RELIABILITY</a:t>
            </a:r>
            <a:endParaRPr lang="en-US" sz="1425" dirty="0"/>
          </a:p>
        </p:txBody>
      </p:sp>
      <p:sp>
        <p:nvSpPr>
          <p:cNvPr id="3" name="Text 1"/>
          <p:cNvSpPr/>
          <p:nvPr/>
        </p:nvSpPr>
        <p:spPr>
          <a:xfrm>
            <a:off x="952500" y="1333500"/>
            <a:ext cx="18021300" cy="952500"/>
          </a:xfrm>
          <a:prstGeom prst="rect">
            <a:avLst/>
          </a:prstGeom>
          <a:noFill/>
          <a:ln/>
        </p:spPr>
        <p:txBody>
          <a:bodyPr wrap="square" lIns="25400" tIns="25400" rIns="25400" bIns="25400" rtlCol="0" anchor="t">
            <a:normAutofit/>
          </a:bodyPr>
          <a:lstStyle/>
          <a:p>
            <a:pPr algn="l" indent="0" marL="0">
              <a:lnSpc>
                <a:spcPct val="87273"/>
              </a:lnSpc>
              <a:buNone/>
            </a:pPr>
            <a:r>
              <a:rPr lang="en-US" sz="7200" b="1" spc="-216" kern="0" dirty="0">
                <a:solidFill>
                  <a:srgbClr val="191512"/>
                </a:solidFill>
                <a:latin typeface="Arial" pitchFamily="34" charset="0"/>
                <a:ea typeface="Arial" pitchFamily="34" charset="-122"/>
                <a:cs typeface="Arial" pitchFamily="34" charset="-120"/>
              </a:rPr>
              <a:t>BUILT FOR THE REAL WORLD.</a:t>
            </a:r>
            <a:endParaRPr lang="en-US" sz="7200" dirty="0"/>
          </a:p>
        </p:txBody>
      </p:sp>
      <p:sp>
        <p:nvSpPr>
          <p:cNvPr id="4" name="Shape 2"/>
          <p:cNvSpPr/>
          <p:nvPr/>
        </p:nvSpPr>
        <p:spPr>
          <a:xfrm>
            <a:off x="952500" y="5429250"/>
            <a:ext cx="16383000" cy="4095750"/>
          </a:xfrm>
          <a:prstGeom prst="rect">
            <a:avLst/>
          </a:prstGeom>
          <a:solidFill>
            <a:srgbClr val="E0D6C6"/>
          </a:solidFill>
          <a:ln w="9525">
            <a:solidFill>
              <a:srgbClr val="E0D6C6"/>
            </a:solidFill>
            <a:prstDash val="solid"/>
          </a:ln>
        </p:spPr>
      </p:sp>
      <p:sp>
        <p:nvSpPr>
          <p:cNvPr id="5" name="Shape 3"/>
          <p:cNvSpPr/>
          <p:nvPr/>
        </p:nvSpPr>
        <p:spPr>
          <a:xfrm>
            <a:off x="962025" y="5438775"/>
            <a:ext cx="3257550" cy="4076700"/>
          </a:xfrm>
          <a:prstGeom prst="rect">
            <a:avLst/>
          </a:prstGeom>
          <a:solidFill>
            <a:srgbClr val="FFFFFF"/>
          </a:solidFill>
          <a:ln/>
        </p:spPr>
      </p:sp>
      <p:sp>
        <p:nvSpPr>
          <p:cNvPr id="6" name="Shape 4"/>
          <p:cNvSpPr/>
          <p:nvPr/>
        </p:nvSpPr>
        <p:spPr>
          <a:xfrm>
            <a:off x="1285875" y="6084689"/>
            <a:ext cx="66675" cy="97036"/>
          </a:xfrm>
          <a:prstGeom prst="rect">
            <a:avLst/>
          </a:prstGeom>
          <a:solidFill>
            <a:srgbClr val="241D17"/>
          </a:solidFill>
          <a:ln/>
        </p:spPr>
      </p:sp>
      <p:sp>
        <p:nvSpPr>
          <p:cNvPr id="7" name="Shape 5"/>
          <p:cNvSpPr/>
          <p:nvPr/>
        </p:nvSpPr>
        <p:spPr>
          <a:xfrm>
            <a:off x="1400175" y="5987504"/>
            <a:ext cx="66675" cy="194221"/>
          </a:xfrm>
          <a:prstGeom prst="rect">
            <a:avLst/>
          </a:prstGeom>
          <a:solidFill>
            <a:srgbClr val="241D17"/>
          </a:solidFill>
          <a:ln/>
        </p:spPr>
      </p:sp>
      <p:sp>
        <p:nvSpPr>
          <p:cNvPr id="8" name="Shape 6"/>
          <p:cNvSpPr/>
          <p:nvPr/>
        </p:nvSpPr>
        <p:spPr>
          <a:xfrm>
            <a:off x="1514475" y="5857875"/>
            <a:ext cx="66675" cy="323850"/>
          </a:xfrm>
          <a:prstGeom prst="rect">
            <a:avLst/>
          </a:prstGeom>
          <a:solidFill>
            <a:srgbClr val="E2D8C6"/>
          </a:solidFill>
          <a:ln/>
        </p:spPr>
      </p:sp>
      <p:sp>
        <p:nvSpPr>
          <p:cNvPr id="9" name="Text 7"/>
          <p:cNvSpPr/>
          <p:nvPr/>
        </p:nvSpPr>
        <p:spPr>
          <a:xfrm>
            <a:off x="1285875" y="6448425"/>
            <a:ext cx="2870835"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Weak signal</a:t>
            </a:r>
            <a:endParaRPr lang="en-US" sz="2550" dirty="0"/>
          </a:p>
        </p:txBody>
      </p:sp>
      <p:sp>
        <p:nvSpPr>
          <p:cNvPr id="10" name="Text 8"/>
          <p:cNvSpPr/>
          <p:nvPr/>
        </p:nvSpPr>
        <p:spPr>
          <a:xfrm>
            <a:off x="1285875" y="6972300"/>
            <a:ext cx="2688145" cy="129540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Orders are held on the device and sync the moment the connection returns.</a:t>
            </a:r>
            <a:endParaRPr lang="en-US" sz="1800" dirty="0"/>
          </a:p>
        </p:txBody>
      </p:sp>
      <p:sp>
        <p:nvSpPr>
          <p:cNvPr id="11" name="Shape 9"/>
          <p:cNvSpPr/>
          <p:nvPr/>
        </p:nvSpPr>
        <p:spPr>
          <a:xfrm>
            <a:off x="4238625" y="5438775"/>
            <a:ext cx="3257550" cy="4076700"/>
          </a:xfrm>
          <a:prstGeom prst="rect">
            <a:avLst/>
          </a:prstGeom>
          <a:solidFill>
            <a:srgbClr val="FFFFFF"/>
          </a:solidFill>
          <a:ln/>
        </p:spPr>
      </p:sp>
      <p:sp>
        <p:nvSpPr>
          <p:cNvPr id="12" name="Shape 10"/>
          <p:cNvSpPr/>
          <p:nvPr/>
        </p:nvSpPr>
        <p:spPr>
          <a:xfrm>
            <a:off x="4562475" y="5915025"/>
            <a:ext cx="209550" cy="209550"/>
          </a:xfrm>
          <a:prstGeom prst="ellipse">
            <a:avLst/>
          </a:prstGeom>
          <a:solidFill>
            <a:srgbClr val="241D17"/>
          </a:solidFill>
          <a:ln/>
        </p:spPr>
      </p:sp>
      <p:sp>
        <p:nvSpPr>
          <p:cNvPr id="13" name="Shape 11"/>
          <p:cNvSpPr/>
          <p:nvPr/>
        </p:nvSpPr>
        <p:spPr>
          <a:xfrm>
            <a:off x="4848225" y="5915025"/>
            <a:ext cx="209550" cy="209550"/>
          </a:xfrm>
          <a:prstGeom prst="ellipse">
            <a:avLst/>
          </a:prstGeom>
          <a:solidFill>
            <a:srgbClr val="B8862B"/>
          </a:solidFill>
          <a:ln/>
        </p:spPr>
      </p:sp>
      <p:sp>
        <p:nvSpPr>
          <p:cNvPr id="14" name="Shape 12"/>
          <p:cNvSpPr/>
          <p:nvPr/>
        </p:nvSpPr>
        <p:spPr>
          <a:xfrm>
            <a:off x="5133975" y="5915025"/>
            <a:ext cx="209550" cy="209550"/>
          </a:xfrm>
          <a:prstGeom prst="ellipse">
            <a:avLst/>
          </a:prstGeom>
          <a:solidFill>
            <a:srgbClr val="E2D8C6"/>
          </a:solidFill>
          <a:ln/>
        </p:spPr>
      </p:sp>
      <p:sp>
        <p:nvSpPr>
          <p:cNvPr id="15" name="Text 13"/>
          <p:cNvSpPr/>
          <p:nvPr/>
        </p:nvSpPr>
        <p:spPr>
          <a:xfrm>
            <a:off x="4562475" y="6448425"/>
            <a:ext cx="2870835"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Many hands</a:t>
            </a:r>
            <a:endParaRPr lang="en-US" sz="2550" dirty="0"/>
          </a:p>
        </p:txBody>
      </p:sp>
      <p:sp>
        <p:nvSpPr>
          <p:cNvPr id="16" name="Text 14"/>
          <p:cNvSpPr/>
          <p:nvPr/>
        </p:nvSpPr>
        <p:spPr>
          <a:xfrm>
            <a:off x="4562475" y="6972300"/>
            <a:ext cx="2688145" cy="98107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Several staff can work the same table without overwriting each other.</a:t>
            </a:r>
            <a:endParaRPr lang="en-US" sz="1800" dirty="0"/>
          </a:p>
        </p:txBody>
      </p:sp>
      <p:sp>
        <p:nvSpPr>
          <p:cNvPr id="17" name="Shape 15"/>
          <p:cNvSpPr/>
          <p:nvPr/>
        </p:nvSpPr>
        <p:spPr>
          <a:xfrm>
            <a:off x="7515225" y="5438775"/>
            <a:ext cx="3257550" cy="4076700"/>
          </a:xfrm>
          <a:prstGeom prst="rect">
            <a:avLst/>
          </a:prstGeom>
          <a:solidFill>
            <a:srgbClr val="FFFFFF"/>
          </a:solidFill>
          <a:ln/>
        </p:spPr>
      </p:sp>
      <p:sp>
        <p:nvSpPr>
          <p:cNvPr id="18" name="Shape 16"/>
          <p:cNvSpPr/>
          <p:nvPr/>
        </p:nvSpPr>
        <p:spPr>
          <a:xfrm>
            <a:off x="7839075" y="5895975"/>
            <a:ext cx="361950" cy="247650"/>
          </a:xfrm>
          <a:prstGeom prst="rect">
            <a:avLst/>
          </a:prstGeom>
          <a:ln w="19050">
            <a:solidFill>
              <a:srgbClr val="241D17"/>
            </a:solidFill>
            <a:prstDash val="solid"/>
          </a:ln>
        </p:spPr>
      </p:sp>
      <p:sp>
        <p:nvSpPr>
          <p:cNvPr id="19" name="Shape 17"/>
          <p:cNvSpPr/>
          <p:nvPr/>
        </p:nvSpPr>
        <p:spPr>
          <a:xfrm>
            <a:off x="8201025" y="6015038"/>
            <a:ext cx="171450" cy="9525"/>
          </a:xfrm>
          <a:prstGeom prst="rect">
            <a:avLst/>
          </a:prstGeom>
          <a:solidFill>
            <a:srgbClr val="E2D8C6"/>
          </a:solidFill>
          <a:ln/>
        </p:spPr>
      </p:sp>
      <p:sp>
        <p:nvSpPr>
          <p:cNvPr id="20" name="Shape 18"/>
          <p:cNvSpPr/>
          <p:nvPr/>
        </p:nvSpPr>
        <p:spPr>
          <a:xfrm>
            <a:off x="8372475" y="5915025"/>
            <a:ext cx="209550" cy="209550"/>
          </a:xfrm>
          <a:prstGeom prst="rect">
            <a:avLst/>
          </a:prstGeom>
          <a:ln w="19050">
            <a:solidFill>
              <a:srgbClr val="E2D8C6"/>
            </a:solidFill>
            <a:prstDash val="solid"/>
          </a:ln>
        </p:spPr>
      </p:sp>
      <p:sp>
        <p:nvSpPr>
          <p:cNvPr id="21" name="Text 19"/>
          <p:cNvSpPr/>
          <p:nvPr/>
        </p:nvSpPr>
        <p:spPr>
          <a:xfrm>
            <a:off x="7839075" y="6448425"/>
            <a:ext cx="2870835"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Permissions</a:t>
            </a:r>
            <a:endParaRPr lang="en-US" sz="2550" dirty="0"/>
          </a:p>
        </p:txBody>
      </p:sp>
      <p:sp>
        <p:nvSpPr>
          <p:cNvPr id="22" name="Text 20"/>
          <p:cNvSpPr/>
          <p:nvPr/>
        </p:nvSpPr>
        <p:spPr>
          <a:xfrm>
            <a:off x="7839075" y="6972300"/>
            <a:ext cx="2688145" cy="129540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Discounts and cancellations need the right person to approve them.</a:t>
            </a:r>
            <a:endParaRPr lang="en-US" sz="1800" dirty="0"/>
          </a:p>
        </p:txBody>
      </p:sp>
      <p:sp>
        <p:nvSpPr>
          <p:cNvPr id="23" name="Shape 21"/>
          <p:cNvSpPr/>
          <p:nvPr/>
        </p:nvSpPr>
        <p:spPr>
          <a:xfrm>
            <a:off x="10791825" y="5438775"/>
            <a:ext cx="3257550" cy="4076700"/>
          </a:xfrm>
          <a:prstGeom prst="rect">
            <a:avLst/>
          </a:prstGeom>
          <a:solidFill>
            <a:srgbClr val="FFFFFF"/>
          </a:solidFill>
          <a:ln/>
        </p:spPr>
      </p:sp>
      <p:sp>
        <p:nvSpPr>
          <p:cNvPr id="24" name="Shape 22"/>
          <p:cNvSpPr/>
          <p:nvPr/>
        </p:nvSpPr>
        <p:spPr>
          <a:xfrm>
            <a:off x="11115675" y="5919788"/>
            <a:ext cx="571500" cy="28575"/>
          </a:xfrm>
          <a:prstGeom prst="rect">
            <a:avLst/>
          </a:prstGeom>
          <a:solidFill>
            <a:srgbClr val="241D17"/>
          </a:solidFill>
          <a:ln/>
        </p:spPr>
      </p:sp>
      <p:sp>
        <p:nvSpPr>
          <p:cNvPr id="25" name="Shape 23"/>
          <p:cNvSpPr/>
          <p:nvPr/>
        </p:nvSpPr>
        <p:spPr>
          <a:xfrm>
            <a:off x="11115675" y="6005513"/>
            <a:ext cx="419100" cy="28575"/>
          </a:xfrm>
          <a:prstGeom prst="rect">
            <a:avLst/>
          </a:prstGeom>
          <a:solidFill>
            <a:srgbClr val="B8862B"/>
          </a:solidFill>
          <a:ln/>
        </p:spPr>
      </p:sp>
      <p:sp>
        <p:nvSpPr>
          <p:cNvPr id="26" name="Shape 24"/>
          <p:cNvSpPr/>
          <p:nvPr/>
        </p:nvSpPr>
        <p:spPr>
          <a:xfrm>
            <a:off x="11115675" y="6091238"/>
            <a:ext cx="495300" cy="28575"/>
          </a:xfrm>
          <a:prstGeom prst="rect">
            <a:avLst/>
          </a:prstGeom>
          <a:solidFill>
            <a:srgbClr val="E2D8C6"/>
          </a:solidFill>
          <a:ln/>
        </p:spPr>
      </p:sp>
      <p:sp>
        <p:nvSpPr>
          <p:cNvPr id="27" name="Text 25"/>
          <p:cNvSpPr/>
          <p:nvPr/>
        </p:nvSpPr>
        <p:spPr>
          <a:xfrm>
            <a:off x="11115675" y="6448425"/>
            <a:ext cx="2870835"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Audit trail</a:t>
            </a:r>
            <a:endParaRPr lang="en-US" sz="2550" dirty="0"/>
          </a:p>
        </p:txBody>
      </p:sp>
      <p:sp>
        <p:nvSpPr>
          <p:cNvPr id="28" name="Text 26"/>
          <p:cNvSpPr/>
          <p:nvPr/>
        </p:nvSpPr>
        <p:spPr>
          <a:xfrm>
            <a:off x="11115675" y="6972300"/>
            <a:ext cx="2688145" cy="98107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Every action keeps a name and a timestamp, permanently.</a:t>
            </a:r>
            <a:endParaRPr lang="en-US" sz="1800" dirty="0"/>
          </a:p>
        </p:txBody>
      </p:sp>
      <p:sp>
        <p:nvSpPr>
          <p:cNvPr id="29" name="Shape 27"/>
          <p:cNvSpPr/>
          <p:nvPr/>
        </p:nvSpPr>
        <p:spPr>
          <a:xfrm>
            <a:off x="14068425" y="5438775"/>
            <a:ext cx="3257550" cy="4076700"/>
          </a:xfrm>
          <a:prstGeom prst="rect">
            <a:avLst/>
          </a:prstGeom>
          <a:solidFill>
            <a:srgbClr val="FFFFFF"/>
          </a:solidFill>
          <a:ln/>
        </p:spPr>
      </p:sp>
      <p:sp>
        <p:nvSpPr>
          <p:cNvPr id="30" name="Shape 28"/>
          <p:cNvSpPr/>
          <p:nvPr/>
        </p:nvSpPr>
        <p:spPr>
          <a:xfrm>
            <a:off x="14392275" y="5838825"/>
            <a:ext cx="285750" cy="361950"/>
          </a:xfrm>
          <a:prstGeom prst="roundRect">
            <a:avLst>
              <a:gd name="adj" fmla="val 13333"/>
            </a:avLst>
          </a:prstGeom>
          <a:ln w="19050">
            <a:solidFill>
              <a:srgbClr val="241D17"/>
            </a:solidFill>
            <a:prstDash val="solid"/>
          </a:ln>
        </p:spPr>
      </p:sp>
      <p:sp>
        <p:nvSpPr>
          <p:cNvPr id="31" name="Shape 29"/>
          <p:cNvSpPr/>
          <p:nvPr/>
        </p:nvSpPr>
        <p:spPr>
          <a:xfrm>
            <a:off x="14773275" y="5838825"/>
            <a:ext cx="457200" cy="361950"/>
          </a:xfrm>
          <a:prstGeom prst="roundRect">
            <a:avLst>
              <a:gd name="adj" fmla="val 10526"/>
            </a:avLst>
          </a:prstGeom>
          <a:ln w="19050">
            <a:solidFill>
              <a:srgbClr val="E2D8C6"/>
            </a:solidFill>
            <a:prstDash val="solid"/>
          </a:ln>
        </p:spPr>
      </p:sp>
      <p:sp>
        <p:nvSpPr>
          <p:cNvPr id="32" name="Text 30"/>
          <p:cNvSpPr/>
          <p:nvPr/>
        </p:nvSpPr>
        <p:spPr>
          <a:xfrm>
            <a:off x="14392275" y="6448425"/>
            <a:ext cx="2870835" cy="409575"/>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191512"/>
                </a:solidFill>
                <a:latin typeface="Arial" pitchFamily="34" charset="0"/>
                <a:ea typeface="Arial" pitchFamily="34" charset="-122"/>
                <a:cs typeface="Arial" pitchFamily="34" charset="-120"/>
              </a:rPr>
              <a:t>Touch devices</a:t>
            </a:r>
            <a:endParaRPr lang="en-US" sz="2550" dirty="0"/>
          </a:p>
        </p:txBody>
      </p:sp>
      <p:sp>
        <p:nvSpPr>
          <p:cNvPr id="33" name="Text 31"/>
          <p:cNvSpPr/>
          <p:nvPr/>
        </p:nvSpPr>
        <p:spPr>
          <a:xfrm>
            <a:off x="14392275" y="6972300"/>
            <a:ext cx="2688145" cy="981075"/>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A7F71"/>
                </a:solidFill>
                <a:latin typeface="Arial" pitchFamily="34" charset="0"/>
                <a:ea typeface="Arial" pitchFamily="34" charset="-122"/>
                <a:cs typeface="Arial" pitchFamily="34" charset="-120"/>
              </a:rPr>
              <a:t>Large targets, few taps, readable in low light and a busy room.</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SCOPE</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A SMALL FIRST VERSION, ON PURPOSE.</a:t>
            </a:r>
            <a:endParaRPr lang="en-US" sz="6300" dirty="0"/>
          </a:p>
        </p:txBody>
      </p:sp>
      <p:sp>
        <p:nvSpPr>
          <p:cNvPr id="4" name="Shape 2"/>
          <p:cNvSpPr/>
          <p:nvPr/>
        </p:nvSpPr>
        <p:spPr>
          <a:xfrm>
            <a:off x="952500" y="2647950"/>
            <a:ext cx="16383000" cy="6877050"/>
          </a:xfrm>
          <a:prstGeom prst="rect">
            <a:avLst/>
          </a:prstGeom>
          <a:solidFill>
            <a:srgbClr val="E0D6C6"/>
          </a:solidFill>
          <a:ln w="9525">
            <a:solidFill>
              <a:srgbClr val="E0D6C6"/>
            </a:solidFill>
            <a:prstDash val="solid"/>
          </a:ln>
        </p:spPr>
      </p:sp>
      <p:sp>
        <p:nvSpPr>
          <p:cNvPr id="5" name="Shape 3"/>
          <p:cNvSpPr/>
          <p:nvPr/>
        </p:nvSpPr>
        <p:spPr>
          <a:xfrm>
            <a:off x="962025" y="2657475"/>
            <a:ext cx="11072217" cy="6858000"/>
          </a:xfrm>
          <a:prstGeom prst="rect">
            <a:avLst/>
          </a:prstGeom>
          <a:solidFill>
            <a:srgbClr val="241D17"/>
          </a:solidFill>
          <a:ln/>
        </p:spPr>
      </p:sp>
      <p:sp>
        <p:nvSpPr>
          <p:cNvPr id="6" name="Text 4"/>
          <p:cNvSpPr/>
          <p:nvPr/>
        </p:nvSpPr>
        <p:spPr>
          <a:xfrm>
            <a:off x="1495425" y="3152775"/>
            <a:ext cx="1775773" cy="819150"/>
          </a:xfrm>
          <a:prstGeom prst="rect">
            <a:avLst/>
          </a:prstGeom>
          <a:noFill/>
          <a:ln/>
        </p:spPr>
        <p:txBody>
          <a:bodyPr wrap="square" lIns="25400" tIns="25400" rIns="25400" bIns="25400" rtlCol="0" anchor="t">
            <a:normAutofit/>
          </a:bodyPr>
          <a:lstStyle/>
          <a:p>
            <a:pPr algn="l" indent="0" marL="0">
              <a:buNone/>
            </a:pPr>
            <a:r>
              <a:rPr lang="en-US" sz="5400" b="1" spc="-162" kern="0" dirty="0">
                <a:solidFill>
                  <a:srgbClr val="D8A94A"/>
                </a:solidFill>
                <a:latin typeface="Arial" pitchFamily="34" charset="0"/>
                <a:ea typeface="Arial" pitchFamily="34" charset="-122"/>
                <a:cs typeface="Arial" pitchFamily="34" charset="-120"/>
              </a:rPr>
              <a:t>NOW</a:t>
            </a:r>
            <a:endParaRPr lang="en-US" sz="5400" dirty="0"/>
          </a:p>
        </p:txBody>
      </p:sp>
      <p:sp>
        <p:nvSpPr>
          <p:cNvPr id="7" name="Text 5"/>
          <p:cNvSpPr/>
          <p:nvPr/>
        </p:nvSpPr>
        <p:spPr>
          <a:xfrm>
            <a:off x="3357414" y="3619500"/>
            <a:ext cx="2640821" cy="257175"/>
          </a:xfrm>
          <a:prstGeom prst="rect">
            <a:avLst/>
          </a:prstGeom>
          <a:noFill/>
          <a:ln/>
        </p:spPr>
        <p:txBody>
          <a:bodyPr wrap="square" lIns="25400" tIns="25400" rIns="25400" bIns="25400" rtlCol="0" anchor="t">
            <a:normAutofit/>
          </a:bodyPr>
          <a:lstStyle/>
          <a:p>
            <a:pPr algn="l" indent="0" marL="0">
              <a:buNone/>
            </a:pPr>
            <a:r>
              <a:rPr lang="en-US" sz="1575" dirty="0">
                <a:solidFill>
                  <a:srgbClr val="8F857A"/>
                </a:solidFill>
                <a:latin typeface="Courier New" pitchFamily="34" charset="0"/>
                <a:ea typeface="Courier New" pitchFamily="34" charset="-122"/>
                <a:cs typeface="Courier New" pitchFamily="34" charset="-120"/>
              </a:rPr>
              <a:t>First implementation</a:t>
            </a:r>
            <a:endParaRPr lang="en-US" sz="1575" dirty="0"/>
          </a:p>
        </p:txBody>
      </p:sp>
      <p:sp>
        <p:nvSpPr>
          <p:cNvPr id="8" name="Text 6"/>
          <p:cNvSpPr/>
          <p:nvPr/>
        </p:nvSpPr>
        <p:spPr>
          <a:xfrm>
            <a:off x="1495425" y="43148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Floor and table states</a:t>
            </a:r>
            <a:endParaRPr lang="en-US" sz="2400" dirty="0"/>
          </a:p>
        </p:txBody>
      </p:sp>
      <p:sp>
        <p:nvSpPr>
          <p:cNvPr id="9" name="Text 7"/>
          <p:cNvSpPr/>
          <p:nvPr/>
        </p:nvSpPr>
        <p:spPr>
          <a:xfrm>
            <a:off x="1495425" y="47625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Live map of the dining room</a:t>
            </a:r>
            <a:endParaRPr lang="en-US" sz="1725" dirty="0"/>
          </a:p>
        </p:txBody>
      </p:sp>
      <p:sp>
        <p:nvSpPr>
          <p:cNvPr id="10" name="Text 8"/>
          <p:cNvSpPr/>
          <p:nvPr/>
        </p:nvSpPr>
        <p:spPr>
          <a:xfrm>
            <a:off x="6707684" y="43148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Waiter ordering</a:t>
            </a:r>
            <a:endParaRPr lang="en-US" sz="2400" dirty="0"/>
          </a:p>
        </p:txBody>
      </p:sp>
      <p:sp>
        <p:nvSpPr>
          <p:cNvPr id="11" name="Text 9"/>
          <p:cNvSpPr/>
          <p:nvPr/>
        </p:nvSpPr>
        <p:spPr>
          <a:xfrm>
            <a:off x="6707684" y="47625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Menu, quantities, notes</a:t>
            </a:r>
            <a:endParaRPr lang="en-US" sz="1725" dirty="0"/>
          </a:p>
        </p:txBody>
      </p:sp>
      <p:sp>
        <p:nvSpPr>
          <p:cNvPr id="12" name="Text 10"/>
          <p:cNvSpPr/>
          <p:nvPr/>
        </p:nvSpPr>
        <p:spPr>
          <a:xfrm>
            <a:off x="1495425" y="59912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Kitchen queue</a:t>
            </a:r>
            <a:endParaRPr lang="en-US" sz="2400" dirty="0"/>
          </a:p>
        </p:txBody>
      </p:sp>
      <p:sp>
        <p:nvSpPr>
          <p:cNvPr id="13" name="Text 11"/>
          <p:cNvSpPr/>
          <p:nvPr/>
        </p:nvSpPr>
        <p:spPr>
          <a:xfrm>
            <a:off x="1495425" y="64389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Queued, preparing, ready</a:t>
            </a:r>
            <a:endParaRPr lang="en-US" sz="1725" dirty="0"/>
          </a:p>
        </p:txBody>
      </p:sp>
      <p:sp>
        <p:nvSpPr>
          <p:cNvPr id="14" name="Text 12"/>
          <p:cNvSpPr/>
          <p:nvPr/>
        </p:nvSpPr>
        <p:spPr>
          <a:xfrm>
            <a:off x="6707684" y="59912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Billing and settlement</a:t>
            </a:r>
            <a:endParaRPr lang="en-US" sz="2400" dirty="0"/>
          </a:p>
        </p:txBody>
      </p:sp>
      <p:sp>
        <p:nvSpPr>
          <p:cNvPr id="15" name="Text 13"/>
          <p:cNvSpPr/>
          <p:nvPr/>
        </p:nvSpPr>
        <p:spPr>
          <a:xfrm>
            <a:off x="6707684" y="64389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GST, UPI, cash, card</a:t>
            </a:r>
            <a:endParaRPr lang="en-US" sz="1725" dirty="0"/>
          </a:p>
        </p:txBody>
      </p:sp>
      <p:sp>
        <p:nvSpPr>
          <p:cNvPr id="16" name="Text 14"/>
          <p:cNvSpPr/>
          <p:nvPr/>
        </p:nvSpPr>
        <p:spPr>
          <a:xfrm>
            <a:off x="1495425" y="76676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Roles and permissions</a:t>
            </a:r>
            <a:endParaRPr lang="en-US" sz="2400" dirty="0"/>
          </a:p>
        </p:txBody>
      </p:sp>
      <p:sp>
        <p:nvSpPr>
          <p:cNvPr id="17" name="Text 15"/>
          <p:cNvSpPr/>
          <p:nvPr/>
        </p:nvSpPr>
        <p:spPr>
          <a:xfrm>
            <a:off x="1495425" y="81153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Waiter, cook, cashier, manager</a:t>
            </a:r>
            <a:endParaRPr lang="en-US" sz="1725" dirty="0"/>
          </a:p>
        </p:txBody>
      </p:sp>
      <p:sp>
        <p:nvSpPr>
          <p:cNvPr id="18" name="Text 16"/>
          <p:cNvSpPr/>
          <p:nvPr/>
        </p:nvSpPr>
        <p:spPr>
          <a:xfrm>
            <a:off x="6707684" y="7667625"/>
            <a:ext cx="527247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F7F1E6"/>
                </a:solidFill>
                <a:latin typeface="Arial" pitchFamily="34" charset="0"/>
                <a:ea typeface="Arial" pitchFamily="34" charset="-122"/>
                <a:cs typeface="Arial" pitchFamily="34" charset="-120"/>
              </a:rPr>
              <a:t>Daily reports</a:t>
            </a:r>
            <a:endParaRPr lang="en-US" sz="2400" dirty="0"/>
          </a:p>
        </p:txBody>
      </p:sp>
      <p:sp>
        <p:nvSpPr>
          <p:cNvPr id="19" name="Text 17"/>
          <p:cNvSpPr/>
          <p:nvPr/>
        </p:nvSpPr>
        <p:spPr>
          <a:xfrm>
            <a:off x="6707684" y="8115300"/>
            <a:ext cx="5272474" cy="295275"/>
          </a:xfrm>
          <a:prstGeom prst="rect">
            <a:avLst/>
          </a:prstGeom>
          <a:noFill/>
          <a:ln/>
        </p:spPr>
        <p:txBody>
          <a:bodyPr wrap="square" lIns="25400" tIns="25400" rIns="25400" bIns="25400" rtlCol="0" anchor="t">
            <a:normAutofit/>
          </a:bodyPr>
          <a:lstStyle/>
          <a:p>
            <a:pPr algn="l" indent="0" marL="0">
              <a:buNone/>
            </a:pPr>
            <a:r>
              <a:rPr lang="en-US" sz="1725" dirty="0">
                <a:solidFill>
                  <a:srgbClr val="8F857A"/>
                </a:solidFill>
                <a:latin typeface="Arial" pitchFamily="34" charset="0"/>
                <a:ea typeface="Arial" pitchFamily="34" charset="-122"/>
                <a:cs typeface="Arial" pitchFamily="34" charset="-120"/>
              </a:rPr>
              <a:t>Sales, items, speed, turnover</a:t>
            </a:r>
            <a:endParaRPr lang="en-US" sz="1725" dirty="0"/>
          </a:p>
        </p:txBody>
      </p:sp>
      <p:sp>
        <p:nvSpPr>
          <p:cNvPr id="20" name="Shape 18"/>
          <p:cNvSpPr/>
          <p:nvPr/>
        </p:nvSpPr>
        <p:spPr>
          <a:xfrm>
            <a:off x="12053292" y="2657475"/>
            <a:ext cx="5272683" cy="6858000"/>
          </a:xfrm>
          <a:prstGeom prst="rect">
            <a:avLst/>
          </a:prstGeom>
          <a:solidFill>
            <a:srgbClr val="FFFFFF"/>
          </a:solidFill>
          <a:ln/>
        </p:spPr>
      </p:sp>
      <p:sp>
        <p:nvSpPr>
          <p:cNvPr id="21" name="Text 19"/>
          <p:cNvSpPr/>
          <p:nvPr/>
        </p:nvSpPr>
        <p:spPr>
          <a:xfrm>
            <a:off x="12472392" y="3152775"/>
            <a:ext cx="1693917" cy="609600"/>
          </a:xfrm>
          <a:prstGeom prst="rect">
            <a:avLst/>
          </a:prstGeom>
          <a:noFill/>
          <a:ln/>
        </p:spPr>
        <p:txBody>
          <a:bodyPr wrap="square" lIns="25400" tIns="25400" rIns="25400" bIns="25400" rtlCol="0" anchor="t">
            <a:normAutofit/>
          </a:bodyPr>
          <a:lstStyle/>
          <a:p>
            <a:pPr algn="l" indent="0" marL="0">
              <a:buNone/>
            </a:pPr>
            <a:r>
              <a:rPr lang="en-US" sz="3900" b="1" spc="-117" kern="0" dirty="0">
                <a:solidFill>
                  <a:srgbClr val="9A8F82"/>
                </a:solidFill>
                <a:latin typeface="Arial" pitchFamily="34" charset="0"/>
                <a:ea typeface="Arial" pitchFamily="34" charset="-122"/>
                <a:cs typeface="Arial" pitchFamily="34" charset="-120"/>
              </a:rPr>
              <a:t>LATER</a:t>
            </a:r>
            <a:endParaRPr lang="en-US" sz="3900" dirty="0"/>
          </a:p>
        </p:txBody>
      </p:sp>
      <p:sp>
        <p:nvSpPr>
          <p:cNvPr id="22" name="Text 20"/>
          <p:cNvSpPr/>
          <p:nvPr/>
        </p:nvSpPr>
        <p:spPr>
          <a:xfrm>
            <a:off x="12472392" y="4105275"/>
            <a:ext cx="4877931" cy="342900"/>
          </a:xfrm>
          <a:prstGeom prst="rect">
            <a:avLst/>
          </a:prstGeom>
          <a:noFill/>
          <a:ln/>
        </p:spPr>
        <p:txBody>
          <a:bodyPr wrap="square" lIns="25400" tIns="25400" rIns="25400" bIns="25400" rtlCol="0" anchor="t">
            <a:normAutofit/>
          </a:bodyPr>
          <a:lstStyle/>
          <a:p>
            <a:pPr algn="l" indent="0" marL="0">
              <a:buNone/>
            </a:pPr>
            <a:r>
              <a:rPr lang="en-US" sz="2100" dirty="0">
                <a:solidFill>
                  <a:srgbClr val="6F6455"/>
                </a:solidFill>
                <a:latin typeface="Arial" pitchFamily="34" charset="0"/>
                <a:ea typeface="Arial" pitchFamily="34" charset="-122"/>
                <a:cs typeface="Arial" pitchFamily="34" charset="-120"/>
              </a:rPr>
              <a:t>Inventory and recipe costing</a:t>
            </a:r>
            <a:endParaRPr lang="en-US" sz="2100" dirty="0"/>
          </a:p>
        </p:txBody>
      </p:sp>
      <p:sp>
        <p:nvSpPr>
          <p:cNvPr id="23" name="Text 21"/>
          <p:cNvSpPr/>
          <p:nvPr/>
        </p:nvSpPr>
        <p:spPr>
          <a:xfrm>
            <a:off x="12472392" y="4657725"/>
            <a:ext cx="4877931" cy="342900"/>
          </a:xfrm>
          <a:prstGeom prst="rect">
            <a:avLst/>
          </a:prstGeom>
          <a:noFill/>
          <a:ln/>
        </p:spPr>
        <p:txBody>
          <a:bodyPr wrap="square" lIns="25400" tIns="25400" rIns="25400" bIns="25400" rtlCol="0" anchor="t">
            <a:normAutofit/>
          </a:bodyPr>
          <a:lstStyle/>
          <a:p>
            <a:pPr algn="l" indent="0" marL="0">
              <a:buNone/>
            </a:pPr>
            <a:r>
              <a:rPr lang="en-US" sz="2100" dirty="0">
                <a:solidFill>
                  <a:srgbClr val="6F6455"/>
                </a:solidFill>
                <a:latin typeface="Arial" pitchFamily="34" charset="0"/>
                <a:ea typeface="Arial" pitchFamily="34" charset="-122"/>
                <a:cs typeface="Arial" pitchFamily="34" charset="-120"/>
              </a:rPr>
              <a:t>Reservations and waitlist</a:t>
            </a:r>
            <a:endParaRPr lang="en-US" sz="2100" dirty="0"/>
          </a:p>
        </p:txBody>
      </p:sp>
      <p:sp>
        <p:nvSpPr>
          <p:cNvPr id="24" name="Text 22"/>
          <p:cNvSpPr/>
          <p:nvPr/>
        </p:nvSpPr>
        <p:spPr>
          <a:xfrm>
            <a:off x="12472392" y="5210175"/>
            <a:ext cx="4877931" cy="342900"/>
          </a:xfrm>
          <a:prstGeom prst="rect">
            <a:avLst/>
          </a:prstGeom>
          <a:noFill/>
          <a:ln/>
        </p:spPr>
        <p:txBody>
          <a:bodyPr wrap="square" lIns="25400" tIns="25400" rIns="25400" bIns="25400" rtlCol="0" anchor="t">
            <a:normAutofit/>
          </a:bodyPr>
          <a:lstStyle/>
          <a:p>
            <a:pPr algn="l" indent="0" marL="0">
              <a:buNone/>
            </a:pPr>
            <a:r>
              <a:rPr lang="en-US" sz="2100" dirty="0">
                <a:solidFill>
                  <a:srgbClr val="6F6455"/>
                </a:solidFill>
                <a:latin typeface="Arial" pitchFamily="34" charset="0"/>
                <a:ea typeface="Arial" pitchFamily="34" charset="-122"/>
                <a:cs typeface="Arial" pitchFamily="34" charset="-120"/>
              </a:rPr>
              <a:t>Takeaway and delivery</a:t>
            </a:r>
            <a:endParaRPr lang="en-US" sz="2100" dirty="0"/>
          </a:p>
        </p:txBody>
      </p:sp>
      <p:sp>
        <p:nvSpPr>
          <p:cNvPr id="25" name="Text 23"/>
          <p:cNvSpPr/>
          <p:nvPr/>
        </p:nvSpPr>
        <p:spPr>
          <a:xfrm>
            <a:off x="12472392" y="5762625"/>
            <a:ext cx="4877931" cy="342900"/>
          </a:xfrm>
          <a:prstGeom prst="rect">
            <a:avLst/>
          </a:prstGeom>
          <a:noFill/>
          <a:ln/>
        </p:spPr>
        <p:txBody>
          <a:bodyPr wrap="square" lIns="25400" tIns="25400" rIns="25400" bIns="25400" rtlCol="0" anchor="t">
            <a:normAutofit/>
          </a:bodyPr>
          <a:lstStyle/>
          <a:p>
            <a:pPr algn="l" indent="0" marL="0">
              <a:buNone/>
            </a:pPr>
            <a:r>
              <a:rPr lang="en-US" sz="2100" dirty="0">
                <a:solidFill>
                  <a:srgbClr val="6F6455"/>
                </a:solidFill>
                <a:latin typeface="Arial" pitchFamily="34" charset="0"/>
                <a:ea typeface="Arial" pitchFamily="34" charset="-122"/>
                <a:cs typeface="Arial" pitchFamily="34" charset="-120"/>
              </a:rPr>
              <a:t>Guest history and loyalty</a:t>
            </a:r>
            <a:endParaRPr lang="en-US" sz="2100" dirty="0"/>
          </a:p>
        </p:txBody>
      </p:sp>
      <p:sp>
        <p:nvSpPr>
          <p:cNvPr id="26" name="Text 24"/>
          <p:cNvSpPr/>
          <p:nvPr/>
        </p:nvSpPr>
        <p:spPr>
          <a:xfrm>
            <a:off x="12472392" y="6315075"/>
            <a:ext cx="4877931" cy="342900"/>
          </a:xfrm>
          <a:prstGeom prst="rect">
            <a:avLst/>
          </a:prstGeom>
          <a:noFill/>
          <a:ln/>
        </p:spPr>
        <p:txBody>
          <a:bodyPr wrap="square" lIns="25400" tIns="25400" rIns="25400" bIns="25400" rtlCol="0" anchor="t">
            <a:normAutofit/>
          </a:bodyPr>
          <a:lstStyle/>
          <a:p>
            <a:pPr algn="l" indent="0" marL="0">
              <a:buNone/>
            </a:pPr>
            <a:r>
              <a:rPr lang="en-US" sz="2100" dirty="0">
                <a:solidFill>
                  <a:srgbClr val="6F6455"/>
                </a:solidFill>
                <a:latin typeface="Arial" pitchFamily="34" charset="0"/>
                <a:ea typeface="Arial" pitchFamily="34" charset="-122"/>
                <a:cs typeface="Arial" pitchFamily="34" charset="-120"/>
              </a:rPr>
              <a:t>Second outlet</a:t>
            </a:r>
            <a:endParaRPr lang="en-US" sz="2100" dirty="0"/>
          </a:p>
        </p:txBody>
      </p:sp>
      <p:sp>
        <p:nvSpPr>
          <p:cNvPr id="27" name="Text 25"/>
          <p:cNvSpPr/>
          <p:nvPr/>
        </p:nvSpPr>
        <p:spPr>
          <a:xfrm>
            <a:off x="12472392" y="8448675"/>
            <a:ext cx="4567517" cy="609600"/>
          </a:xfrm>
          <a:prstGeom prst="rect">
            <a:avLst/>
          </a:prstGeom>
          <a:noFill/>
          <a:ln/>
        </p:spPr>
        <p:txBody>
          <a:bodyPr wrap="square" lIns="25400" tIns="25400" rIns="25400" bIns="25400" rtlCol="0" anchor="t">
            <a:normAutofit/>
          </a:bodyPr>
          <a:lstStyle/>
          <a:p>
            <a:pPr algn="l" indent="0" marL="0">
              <a:lnSpc>
                <a:spcPct val="130435"/>
              </a:lnSpc>
              <a:buNone/>
            </a:pPr>
            <a:r>
              <a:rPr lang="en-US" sz="1500" dirty="0">
                <a:solidFill>
                  <a:srgbClr val="9A8F82"/>
                </a:solidFill>
                <a:latin typeface="Courier New" pitchFamily="34" charset="0"/>
                <a:ea typeface="Courier New" pitchFamily="34" charset="-122"/>
                <a:cs typeface="Courier New" pitchFamily="34" charset="-120"/>
              </a:rPr>
              <a:t>Added once the first version is part of daily service.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EAE0"/>
        </a:solidFill>
      </p:bgPr>
    </p:bg>
    <p:spTree>
      <p:nvGrpSpPr>
        <p:cNvPr id="1" name=""/>
        <p:cNvGrpSpPr/>
        <p:nvPr/>
      </p:nvGrpSpPr>
      <p:grpSpPr>
        <a:xfrm>
          <a:off x="0" y="0"/>
          <a:ext cx="0" cy="0"/>
          <a:chOff x="0" y="0"/>
          <a:chExt cx="0" cy="0"/>
        </a:xfrm>
      </p:grpSpPr>
      <p:sp>
        <p:nvSpPr>
          <p:cNvPr id="2" name="Text 0"/>
          <p:cNvSpPr/>
          <p:nvPr/>
        </p:nvSpPr>
        <p:spPr>
          <a:xfrm>
            <a:off x="952500" y="876300"/>
            <a:ext cx="18021300" cy="24765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9A8F82"/>
                </a:solidFill>
                <a:latin typeface="Courier New" pitchFamily="34" charset="0"/>
                <a:ea typeface="Courier New" pitchFamily="34" charset="-122"/>
                <a:cs typeface="Courier New" pitchFamily="34" charset="-120"/>
              </a:rPr>
              <a:t>IMPLEMENTATION</a:t>
            </a:r>
            <a:endParaRPr lang="en-US" sz="1425" dirty="0"/>
          </a:p>
        </p:txBody>
      </p:sp>
      <p:sp>
        <p:nvSpPr>
          <p:cNvPr id="3" name="Text 1"/>
          <p:cNvSpPr/>
          <p:nvPr/>
        </p:nvSpPr>
        <p:spPr>
          <a:xfrm>
            <a:off x="952500" y="1333500"/>
            <a:ext cx="18021300" cy="838200"/>
          </a:xfrm>
          <a:prstGeom prst="rect">
            <a:avLst/>
          </a:prstGeom>
          <a:noFill/>
          <a:ln/>
        </p:spPr>
        <p:txBody>
          <a:bodyPr wrap="square" lIns="25400" tIns="25400" rIns="25400" bIns="25400" rtlCol="0" anchor="t">
            <a:normAutofit/>
          </a:bodyPr>
          <a:lstStyle/>
          <a:p>
            <a:pPr algn="l" indent="0" marL="0">
              <a:lnSpc>
                <a:spcPct val="86598"/>
              </a:lnSpc>
              <a:buNone/>
            </a:pPr>
            <a:r>
              <a:rPr lang="en-US" sz="6300" b="1" spc="-189" kern="0" dirty="0">
                <a:solidFill>
                  <a:srgbClr val="191512"/>
                </a:solidFill>
                <a:latin typeface="Arial" pitchFamily="34" charset="0"/>
                <a:ea typeface="Arial" pitchFamily="34" charset="-122"/>
                <a:cs typeface="Arial" pitchFamily="34" charset="-120"/>
              </a:rPr>
              <a:t>SIX STEPS, NO DISRUPTED SERVICE.</a:t>
            </a:r>
            <a:endParaRPr lang="en-US" sz="6300" dirty="0"/>
          </a:p>
        </p:txBody>
      </p:sp>
      <p:sp>
        <p:nvSpPr>
          <p:cNvPr id="4" name="Shape 2"/>
          <p:cNvSpPr/>
          <p:nvPr/>
        </p:nvSpPr>
        <p:spPr>
          <a:xfrm>
            <a:off x="952500" y="6677025"/>
            <a:ext cx="16383000" cy="2286000"/>
          </a:xfrm>
          <a:prstGeom prst="rect">
            <a:avLst/>
          </a:prstGeom>
          <a:solidFill>
            <a:srgbClr val="DCD2C1"/>
          </a:solidFill>
          <a:ln w="9525">
            <a:solidFill>
              <a:srgbClr val="DCD2C1"/>
            </a:solidFill>
            <a:prstDash val="solid"/>
          </a:ln>
        </p:spPr>
      </p:sp>
      <p:sp>
        <p:nvSpPr>
          <p:cNvPr id="5" name="Shape 3"/>
          <p:cNvSpPr/>
          <p:nvPr/>
        </p:nvSpPr>
        <p:spPr>
          <a:xfrm>
            <a:off x="962025" y="6686550"/>
            <a:ext cx="2765971" cy="2266950"/>
          </a:xfrm>
          <a:prstGeom prst="rect">
            <a:avLst/>
          </a:prstGeom>
          <a:solidFill>
            <a:srgbClr val="FFFFFF"/>
          </a:solidFill>
          <a:ln/>
        </p:spPr>
      </p:sp>
      <p:sp>
        <p:nvSpPr>
          <p:cNvPr id="6" name="Text 4"/>
          <p:cNvSpPr/>
          <p:nvPr/>
        </p:nvSpPr>
        <p:spPr>
          <a:xfrm>
            <a:off x="1247775" y="7048500"/>
            <a:ext cx="2413918"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01</a:t>
            </a:r>
            <a:endParaRPr lang="en-US" sz="1275" dirty="0"/>
          </a:p>
        </p:txBody>
      </p:sp>
      <p:sp>
        <p:nvSpPr>
          <p:cNvPr id="7" name="Text 5"/>
          <p:cNvSpPr/>
          <p:nvPr/>
        </p:nvSpPr>
        <p:spPr>
          <a:xfrm>
            <a:off x="1247775" y="7419975"/>
            <a:ext cx="2413918"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191512"/>
                </a:solidFill>
                <a:latin typeface="Arial" pitchFamily="34" charset="0"/>
                <a:ea typeface="Arial" pitchFamily="34" charset="-122"/>
                <a:cs typeface="Arial" pitchFamily="34" charset="-120"/>
              </a:rPr>
              <a:t>UNDERSTAND</a:t>
            </a:r>
            <a:endParaRPr lang="en-US" sz="2550" dirty="0"/>
          </a:p>
        </p:txBody>
      </p:sp>
      <p:sp>
        <p:nvSpPr>
          <p:cNvPr id="8" name="Text 6"/>
          <p:cNvSpPr/>
          <p:nvPr/>
        </p:nvSpPr>
        <p:spPr>
          <a:xfrm>
            <a:off x="1247775" y="7981950"/>
            <a:ext cx="2270671"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A7F71"/>
                </a:solidFill>
                <a:latin typeface="Arial" pitchFamily="34" charset="0"/>
                <a:ea typeface="Arial" pitchFamily="34" charset="-122"/>
                <a:cs typeface="Arial" pitchFamily="34" charset="-120"/>
              </a:rPr>
              <a:t>Two services observed, end to end</a:t>
            </a:r>
            <a:endParaRPr lang="en-US" sz="1725" dirty="0"/>
          </a:p>
        </p:txBody>
      </p:sp>
      <p:sp>
        <p:nvSpPr>
          <p:cNvPr id="9" name="Shape 7"/>
          <p:cNvSpPr/>
          <p:nvPr/>
        </p:nvSpPr>
        <p:spPr>
          <a:xfrm>
            <a:off x="3747046" y="6686550"/>
            <a:ext cx="2700486" cy="2266950"/>
          </a:xfrm>
          <a:prstGeom prst="rect">
            <a:avLst/>
          </a:prstGeom>
          <a:solidFill>
            <a:srgbClr val="FFFFFF"/>
          </a:solidFill>
          <a:ln/>
        </p:spPr>
      </p:sp>
      <p:sp>
        <p:nvSpPr>
          <p:cNvPr id="10" name="Text 8"/>
          <p:cNvSpPr/>
          <p:nvPr/>
        </p:nvSpPr>
        <p:spPr>
          <a:xfrm>
            <a:off x="4032796" y="7048500"/>
            <a:ext cx="234188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02</a:t>
            </a:r>
            <a:endParaRPr lang="en-US" sz="1275" dirty="0"/>
          </a:p>
        </p:txBody>
      </p:sp>
      <p:sp>
        <p:nvSpPr>
          <p:cNvPr id="11" name="Text 9"/>
          <p:cNvSpPr/>
          <p:nvPr/>
        </p:nvSpPr>
        <p:spPr>
          <a:xfrm>
            <a:off x="4032796" y="7419975"/>
            <a:ext cx="2341885"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191512"/>
                </a:solidFill>
                <a:latin typeface="Arial" pitchFamily="34" charset="0"/>
                <a:ea typeface="Arial" pitchFamily="34" charset="-122"/>
                <a:cs typeface="Arial" pitchFamily="34" charset="-120"/>
              </a:rPr>
              <a:t>CONFIGURE</a:t>
            </a:r>
            <a:endParaRPr lang="en-US" sz="2550" dirty="0"/>
          </a:p>
        </p:txBody>
      </p:sp>
      <p:sp>
        <p:nvSpPr>
          <p:cNvPr id="12" name="Text 10"/>
          <p:cNvSpPr/>
          <p:nvPr/>
        </p:nvSpPr>
        <p:spPr>
          <a:xfrm>
            <a:off x="4032796" y="7981950"/>
            <a:ext cx="2205186"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A7F71"/>
                </a:solidFill>
                <a:latin typeface="Arial" pitchFamily="34" charset="0"/>
                <a:ea typeface="Arial" pitchFamily="34" charset="-122"/>
                <a:cs typeface="Arial" pitchFamily="34" charset="-120"/>
              </a:rPr>
              <a:t>Your menu, tables, staff and rates</a:t>
            </a:r>
            <a:endParaRPr lang="en-US" sz="1725" dirty="0"/>
          </a:p>
        </p:txBody>
      </p:sp>
      <p:sp>
        <p:nvSpPr>
          <p:cNvPr id="13" name="Shape 11"/>
          <p:cNvSpPr/>
          <p:nvPr/>
        </p:nvSpPr>
        <p:spPr>
          <a:xfrm>
            <a:off x="6466582" y="6686550"/>
            <a:ext cx="2700486" cy="2266950"/>
          </a:xfrm>
          <a:prstGeom prst="rect">
            <a:avLst/>
          </a:prstGeom>
          <a:solidFill>
            <a:srgbClr val="FFFFFF"/>
          </a:solidFill>
          <a:ln/>
        </p:spPr>
      </p:sp>
      <p:sp>
        <p:nvSpPr>
          <p:cNvPr id="14" name="Text 12"/>
          <p:cNvSpPr/>
          <p:nvPr/>
        </p:nvSpPr>
        <p:spPr>
          <a:xfrm>
            <a:off x="6752332" y="7048500"/>
            <a:ext cx="234188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03</a:t>
            </a:r>
            <a:endParaRPr lang="en-US" sz="1275" dirty="0"/>
          </a:p>
        </p:txBody>
      </p:sp>
      <p:sp>
        <p:nvSpPr>
          <p:cNvPr id="15" name="Text 13"/>
          <p:cNvSpPr/>
          <p:nvPr/>
        </p:nvSpPr>
        <p:spPr>
          <a:xfrm>
            <a:off x="6752332" y="7419975"/>
            <a:ext cx="2341885"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191512"/>
                </a:solidFill>
                <a:latin typeface="Arial" pitchFamily="34" charset="0"/>
                <a:ea typeface="Arial" pitchFamily="34" charset="-122"/>
                <a:cs typeface="Arial" pitchFamily="34" charset="-120"/>
              </a:rPr>
              <a:t>DEPLOY</a:t>
            </a:r>
            <a:endParaRPr lang="en-US" sz="2550" dirty="0"/>
          </a:p>
        </p:txBody>
      </p:sp>
      <p:sp>
        <p:nvSpPr>
          <p:cNvPr id="16" name="Text 14"/>
          <p:cNvSpPr/>
          <p:nvPr/>
        </p:nvSpPr>
        <p:spPr>
          <a:xfrm>
            <a:off x="6752332" y="7981950"/>
            <a:ext cx="2205186"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A7F71"/>
                </a:solidFill>
                <a:latin typeface="Arial" pitchFamily="34" charset="0"/>
                <a:ea typeface="Arial" pitchFamily="34" charset="-122"/>
                <a:cs typeface="Arial" pitchFamily="34" charset="-120"/>
              </a:rPr>
              <a:t>Devices placed, staff trained in one shift</a:t>
            </a:r>
            <a:endParaRPr lang="en-US" sz="1725" dirty="0"/>
          </a:p>
        </p:txBody>
      </p:sp>
      <p:sp>
        <p:nvSpPr>
          <p:cNvPr id="17" name="Shape 15"/>
          <p:cNvSpPr/>
          <p:nvPr/>
        </p:nvSpPr>
        <p:spPr>
          <a:xfrm>
            <a:off x="9186118" y="6686550"/>
            <a:ext cx="2700486" cy="2266950"/>
          </a:xfrm>
          <a:prstGeom prst="rect">
            <a:avLst/>
          </a:prstGeom>
          <a:solidFill>
            <a:srgbClr val="FFFFFF"/>
          </a:solidFill>
          <a:ln/>
        </p:spPr>
      </p:sp>
      <p:sp>
        <p:nvSpPr>
          <p:cNvPr id="18" name="Text 16"/>
          <p:cNvSpPr/>
          <p:nvPr/>
        </p:nvSpPr>
        <p:spPr>
          <a:xfrm>
            <a:off x="9471868" y="7048500"/>
            <a:ext cx="234188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04</a:t>
            </a:r>
            <a:endParaRPr lang="en-US" sz="1275" dirty="0"/>
          </a:p>
        </p:txBody>
      </p:sp>
      <p:sp>
        <p:nvSpPr>
          <p:cNvPr id="19" name="Text 17"/>
          <p:cNvSpPr/>
          <p:nvPr/>
        </p:nvSpPr>
        <p:spPr>
          <a:xfrm>
            <a:off x="9471868" y="7419975"/>
            <a:ext cx="2341885"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191512"/>
                </a:solidFill>
                <a:latin typeface="Arial" pitchFamily="34" charset="0"/>
                <a:ea typeface="Arial" pitchFamily="34" charset="-122"/>
                <a:cs typeface="Arial" pitchFamily="34" charset="-120"/>
              </a:rPr>
              <a:t>RUN</a:t>
            </a:r>
            <a:endParaRPr lang="en-US" sz="2550" dirty="0"/>
          </a:p>
        </p:txBody>
      </p:sp>
      <p:sp>
        <p:nvSpPr>
          <p:cNvPr id="20" name="Text 18"/>
          <p:cNvSpPr/>
          <p:nvPr/>
        </p:nvSpPr>
        <p:spPr>
          <a:xfrm>
            <a:off x="9471868" y="7981950"/>
            <a:ext cx="2205186"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A7F71"/>
                </a:solidFill>
                <a:latin typeface="Arial" pitchFamily="34" charset="0"/>
                <a:ea typeface="Arial" pitchFamily="34" charset="-122"/>
                <a:cs typeface="Arial" pitchFamily="34" charset="-120"/>
              </a:rPr>
              <a:t>Live service, paper kept as backup</a:t>
            </a:r>
            <a:endParaRPr lang="en-US" sz="1725" dirty="0"/>
          </a:p>
        </p:txBody>
      </p:sp>
      <p:sp>
        <p:nvSpPr>
          <p:cNvPr id="21" name="Shape 19"/>
          <p:cNvSpPr/>
          <p:nvPr/>
        </p:nvSpPr>
        <p:spPr>
          <a:xfrm>
            <a:off x="11905655" y="6686550"/>
            <a:ext cx="2700486" cy="2266950"/>
          </a:xfrm>
          <a:prstGeom prst="rect">
            <a:avLst/>
          </a:prstGeom>
          <a:solidFill>
            <a:srgbClr val="FFFFFF"/>
          </a:solidFill>
          <a:ln/>
        </p:spPr>
      </p:sp>
      <p:sp>
        <p:nvSpPr>
          <p:cNvPr id="22" name="Text 20"/>
          <p:cNvSpPr/>
          <p:nvPr/>
        </p:nvSpPr>
        <p:spPr>
          <a:xfrm>
            <a:off x="12191405" y="7048500"/>
            <a:ext cx="234188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B8862B"/>
                </a:solidFill>
                <a:latin typeface="Courier New" pitchFamily="34" charset="0"/>
                <a:ea typeface="Courier New" pitchFamily="34" charset="-122"/>
                <a:cs typeface="Courier New" pitchFamily="34" charset="-120"/>
              </a:rPr>
              <a:t>05</a:t>
            </a:r>
            <a:endParaRPr lang="en-US" sz="1275" dirty="0"/>
          </a:p>
        </p:txBody>
      </p:sp>
      <p:sp>
        <p:nvSpPr>
          <p:cNvPr id="23" name="Text 21"/>
          <p:cNvSpPr/>
          <p:nvPr/>
        </p:nvSpPr>
        <p:spPr>
          <a:xfrm>
            <a:off x="12191405" y="7419975"/>
            <a:ext cx="2341885"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191512"/>
                </a:solidFill>
                <a:latin typeface="Arial" pitchFamily="34" charset="0"/>
                <a:ea typeface="Arial" pitchFamily="34" charset="-122"/>
                <a:cs typeface="Arial" pitchFamily="34" charset="-120"/>
              </a:rPr>
              <a:t>REFINE</a:t>
            </a:r>
            <a:endParaRPr lang="en-US" sz="2550" dirty="0"/>
          </a:p>
        </p:txBody>
      </p:sp>
      <p:sp>
        <p:nvSpPr>
          <p:cNvPr id="24" name="Text 22"/>
          <p:cNvSpPr/>
          <p:nvPr/>
        </p:nvSpPr>
        <p:spPr>
          <a:xfrm>
            <a:off x="12191405" y="7981950"/>
            <a:ext cx="2205186"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A7F71"/>
                </a:solidFill>
                <a:latin typeface="Arial" pitchFamily="34" charset="0"/>
                <a:ea typeface="Arial" pitchFamily="34" charset="-122"/>
                <a:cs typeface="Arial" pitchFamily="34" charset="-120"/>
              </a:rPr>
              <a:t>Adjusted to how your floor actually works</a:t>
            </a:r>
            <a:endParaRPr lang="en-US" sz="1725" dirty="0"/>
          </a:p>
        </p:txBody>
      </p:sp>
      <p:sp>
        <p:nvSpPr>
          <p:cNvPr id="25" name="Shape 23"/>
          <p:cNvSpPr/>
          <p:nvPr/>
        </p:nvSpPr>
        <p:spPr>
          <a:xfrm>
            <a:off x="14625191" y="6686550"/>
            <a:ext cx="2700486" cy="2266950"/>
          </a:xfrm>
          <a:prstGeom prst="rect">
            <a:avLst/>
          </a:prstGeom>
          <a:solidFill>
            <a:srgbClr val="241D17"/>
          </a:solidFill>
          <a:ln/>
        </p:spPr>
      </p:sp>
      <p:sp>
        <p:nvSpPr>
          <p:cNvPr id="26" name="Text 24"/>
          <p:cNvSpPr/>
          <p:nvPr/>
        </p:nvSpPr>
        <p:spPr>
          <a:xfrm>
            <a:off x="14910941" y="7048500"/>
            <a:ext cx="2341885" cy="219075"/>
          </a:xfrm>
          <a:prstGeom prst="rect">
            <a:avLst/>
          </a:prstGeom>
          <a:noFill/>
          <a:ln/>
        </p:spPr>
        <p:txBody>
          <a:bodyPr wrap="square" lIns="25400" tIns="25400" rIns="25400" bIns="25400" rtlCol="0" anchor="t">
            <a:normAutofit/>
          </a:bodyPr>
          <a:lstStyle/>
          <a:p>
            <a:pPr algn="l" indent="0" marL="0">
              <a:buNone/>
            </a:pPr>
            <a:r>
              <a:rPr lang="en-US" sz="1275" spc="179" kern="0" dirty="0">
                <a:solidFill>
                  <a:srgbClr val="D8A94A"/>
                </a:solidFill>
                <a:latin typeface="Courier New" pitchFamily="34" charset="0"/>
                <a:ea typeface="Courier New" pitchFamily="34" charset="-122"/>
                <a:cs typeface="Courier New" pitchFamily="34" charset="-120"/>
              </a:rPr>
              <a:t>06</a:t>
            </a:r>
            <a:endParaRPr lang="en-US" sz="1275" dirty="0"/>
          </a:p>
        </p:txBody>
      </p:sp>
      <p:sp>
        <p:nvSpPr>
          <p:cNvPr id="27" name="Text 25"/>
          <p:cNvSpPr/>
          <p:nvPr/>
        </p:nvSpPr>
        <p:spPr>
          <a:xfrm>
            <a:off x="14910941" y="7419975"/>
            <a:ext cx="2341885" cy="409575"/>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F7F1E6"/>
                </a:solidFill>
                <a:latin typeface="Arial" pitchFamily="34" charset="0"/>
                <a:ea typeface="Arial" pitchFamily="34" charset="-122"/>
                <a:cs typeface="Arial" pitchFamily="34" charset="-120"/>
              </a:rPr>
              <a:t>SCALE</a:t>
            </a:r>
            <a:endParaRPr lang="en-US" sz="2550" dirty="0"/>
          </a:p>
        </p:txBody>
      </p:sp>
      <p:sp>
        <p:nvSpPr>
          <p:cNvPr id="28" name="Text 26"/>
          <p:cNvSpPr/>
          <p:nvPr/>
        </p:nvSpPr>
        <p:spPr>
          <a:xfrm>
            <a:off x="14910941" y="7981950"/>
            <a:ext cx="2205186" cy="647700"/>
          </a:xfrm>
          <a:prstGeom prst="rect">
            <a:avLst/>
          </a:prstGeom>
          <a:noFill/>
          <a:ln/>
        </p:spPr>
        <p:txBody>
          <a:bodyPr wrap="square" lIns="25400" tIns="25400" rIns="25400" bIns="25400" rtlCol="0" anchor="t">
            <a:normAutofit/>
          </a:bodyPr>
          <a:lstStyle/>
          <a:p>
            <a:pPr algn="l" indent="0" marL="0">
              <a:lnSpc>
                <a:spcPct val="119259"/>
              </a:lnSpc>
              <a:buNone/>
            </a:pPr>
            <a:r>
              <a:rPr lang="en-US" sz="1725" dirty="0">
                <a:solidFill>
                  <a:srgbClr val="8F857A"/>
                </a:solidFill>
                <a:latin typeface="Arial" pitchFamily="34" charset="0"/>
                <a:ea typeface="Arial" pitchFamily="34" charset="-122"/>
                <a:cs typeface="Arial" pitchFamily="34" charset="-120"/>
              </a:rPr>
              <a:t>More capability, or a second outlet</a:t>
            </a:r>
            <a:endParaRPr lang="en-US" sz="1725" dirty="0"/>
          </a:p>
        </p:txBody>
      </p:sp>
      <p:sp>
        <p:nvSpPr>
          <p:cNvPr id="29" name="Text 27"/>
          <p:cNvSpPr/>
          <p:nvPr/>
        </p:nvSpPr>
        <p:spPr>
          <a:xfrm>
            <a:off x="952500" y="9305925"/>
            <a:ext cx="1496482" cy="257175"/>
          </a:xfrm>
          <a:prstGeom prst="rect">
            <a:avLst/>
          </a:prstGeom>
          <a:noFill/>
          <a:ln/>
        </p:spPr>
        <p:txBody>
          <a:bodyPr wrap="square" lIns="25400" tIns="25400" rIns="25400" bIns="25400" rtlCol="0" anchor="t">
            <a:normAutofit/>
          </a:bodyPr>
          <a:lstStyle/>
          <a:p>
            <a:pPr algn="l" indent="0" marL="0">
              <a:buNone/>
            </a:pPr>
            <a:r>
              <a:rPr lang="en-US" sz="1575" spc="126" kern="0" dirty="0">
                <a:solidFill>
                  <a:srgbClr val="8A7F71"/>
                </a:solidFill>
                <a:latin typeface="Courier New" pitchFamily="34" charset="0"/>
                <a:ea typeface="Courier New" pitchFamily="34" charset="-122"/>
                <a:cs typeface="Courier New" pitchFamily="34" charset="-120"/>
              </a:rPr>
              <a:t>Week 1 — 2</a:t>
            </a:r>
            <a:endParaRPr lang="en-US" sz="1575" dirty="0"/>
          </a:p>
        </p:txBody>
      </p:sp>
      <p:sp>
        <p:nvSpPr>
          <p:cNvPr id="30" name="Text 28"/>
          <p:cNvSpPr/>
          <p:nvPr/>
        </p:nvSpPr>
        <p:spPr>
          <a:xfrm>
            <a:off x="8259663" y="9305925"/>
            <a:ext cx="1496482" cy="257175"/>
          </a:xfrm>
          <a:prstGeom prst="rect">
            <a:avLst/>
          </a:prstGeom>
          <a:noFill/>
          <a:ln/>
        </p:spPr>
        <p:txBody>
          <a:bodyPr wrap="square" lIns="25400" tIns="25400" rIns="25400" bIns="25400" rtlCol="0" anchor="t">
            <a:normAutofit/>
          </a:bodyPr>
          <a:lstStyle/>
          <a:p>
            <a:pPr algn="l" indent="0" marL="0">
              <a:buNone/>
            </a:pPr>
            <a:r>
              <a:rPr lang="en-US" sz="1575" spc="126" kern="0" dirty="0">
                <a:solidFill>
                  <a:srgbClr val="8A7F71"/>
                </a:solidFill>
                <a:latin typeface="Courier New" pitchFamily="34" charset="0"/>
                <a:ea typeface="Courier New" pitchFamily="34" charset="-122"/>
                <a:cs typeface="Courier New" pitchFamily="34" charset="-120"/>
              </a:rPr>
              <a:t>Week 3 — 4</a:t>
            </a:r>
            <a:endParaRPr lang="en-US" sz="1575" dirty="0"/>
          </a:p>
        </p:txBody>
      </p:sp>
      <p:sp>
        <p:nvSpPr>
          <p:cNvPr id="31" name="Text 29"/>
          <p:cNvSpPr/>
          <p:nvPr/>
        </p:nvSpPr>
        <p:spPr>
          <a:xfrm>
            <a:off x="15566827" y="9305925"/>
            <a:ext cx="1945377" cy="257175"/>
          </a:xfrm>
          <a:prstGeom prst="rect">
            <a:avLst/>
          </a:prstGeom>
          <a:noFill/>
          <a:ln/>
        </p:spPr>
        <p:txBody>
          <a:bodyPr wrap="square" lIns="25400" tIns="25400" rIns="25400" bIns="25400" rtlCol="0" anchor="t">
            <a:normAutofit/>
          </a:bodyPr>
          <a:lstStyle/>
          <a:p>
            <a:pPr algn="l" indent="0" marL="0">
              <a:buNone/>
            </a:pPr>
            <a:r>
              <a:rPr lang="en-US" sz="1575" spc="126" kern="0" dirty="0">
                <a:solidFill>
                  <a:srgbClr val="8A7F71"/>
                </a:solidFill>
                <a:latin typeface="Courier New" pitchFamily="34" charset="0"/>
                <a:ea typeface="Courier New" pitchFamily="34" charset="-122"/>
                <a:cs typeface="Courier New" pitchFamily="34" charset="-120"/>
              </a:rPr>
              <a:t>Week 5 onward</a:t>
            </a:r>
            <a:endParaRPr lang="en-US" sz="15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00D"/>
        </a:solidFill>
      </p:bgPr>
    </p:bg>
    <p:spTree>
      <p:nvGrpSpPr>
        <p:cNvPr id="1" name=""/>
        <p:cNvGrpSpPr/>
        <p:nvPr/>
      </p:nvGrpSpPr>
      <p:grpSpPr>
        <a:xfrm>
          <a:off x="0" y="0"/>
          <a:ext cx="0" cy="0"/>
          <a:chOff x="0" y="0"/>
          <a:chExt cx="0" cy="0"/>
        </a:xfrm>
      </p:grpSpPr>
      <p:sp>
        <p:nvSpPr>
          <p:cNvPr id="2" name="Shape 0"/>
          <p:cNvSpPr/>
          <p:nvPr/>
        </p:nvSpPr>
        <p:spPr>
          <a:xfrm>
            <a:off x="-1714500" y="4381500"/>
            <a:ext cx="9525000" cy="9525000"/>
          </a:xfrm>
          <a:prstGeom prst="ellipse">
            <a:avLst/>
          </a:prstGeom>
          <a:gradFill rotWithShape="1">
            <a:gsLst>
              <a:gs pos="0">
                <a:srgbClr val="B8862B">
                  <a:alpha val="16000"/>
                </a:srgbClr>
              </a:gs>
              <a:gs pos="68000">
                <a:srgbClr val="B8862B">
                  <a:alpha val="0"/>
                </a:srgbClr>
              </a:gs>
            </a:gsLst>
            <a:path path="circle">
              <a:fillToRect l="50000" t="50000" r="50000" b="50000"/>
            </a:path>
          </a:gradFill>
          <a:ln/>
        </p:spPr>
      </p:sp>
      <p:sp>
        <p:nvSpPr>
          <p:cNvPr id="3" name="Shape 1"/>
          <p:cNvSpPr/>
          <p:nvPr/>
        </p:nvSpPr>
        <p:spPr>
          <a:xfrm>
            <a:off x="952500" y="876300"/>
            <a:ext cx="914400" cy="19050"/>
          </a:xfrm>
          <a:prstGeom prst="rect">
            <a:avLst/>
          </a:prstGeom>
          <a:solidFill>
            <a:srgbClr val="B8862B"/>
          </a:solidFill>
          <a:ln/>
        </p:spPr>
      </p:sp>
      <p:sp>
        <p:nvSpPr>
          <p:cNvPr id="4" name="Text 2"/>
          <p:cNvSpPr/>
          <p:nvPr/>
        </p:nvSpPr>
        <p:spPr>
          <a:xfrm>
            <a:off x="952500" y="3738563"/>
            <a:ext cx="16874490" cy="2724150"/>
          </a:xfrm>
          <a:prstGeom prst="rect">
            <a:avLst/>
          </a:prstGeom>
          <a:noFill/>
          <a:ln/>
        </p:spPr>
        <p:txBody>
          <a:bodyPr wrap="square" lIns="25400" tIns="25400" rIns="25400" bIns="25400" rtlCol="0" anchor="t">
            <a:normAutofit/>
          </a:bodyPr>
          <a:lstStyle/>
          <a:p>
            <a:pPr algn="l" indent="0" marL="0">
              <a:lnSpc>
                <a:spcPct val="81503"/>
              </a:lnSpc>
              <a:buNone/>
            </a:pPr>
            <a:r>
              <a:rPr lang="en-US" sz="11250" b="1" spc="-394" kern="0" dirty="0">
                <a:solidFill>
                  <a:srgbClr val="F7F1E6"/>
                </a:solidFill>
                <a:latin typeface="Arial" pitchFamily="34" charset="0"/>
                <a:ea typeface="Arial" pitchFamily="34" charset="-122"/>
                <a:cs typeface="Arial" pitchFamily="34" charset="-120"/>
              </a:rPr>
              <a:t>LET'S BUILD IT AROUND KENT'S.</a:t>
            </a:r>
            <a:endParaRPr lang="en-US" sz="11250" dirty="0"/>
          </a:p>
        </p:txBody>
      </p:sp>
      <p:sp>
        <p:nvSpPr>
          <p:cNvPr id="5" name="Text 3"/>
          <p:cNvSpPr/>
          <p:nvPr/>
        </p:nvSpPr>
        <p:spPr>
          <a:xfrm>
            <a:off x="952500" y="9267825"/>
            <a:ext cx="2942540"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B8862B"/>
                </a:solidFill>
                <a:latin typeface="Courier New" pitchFamily="34" charset="0"/>
                <a:ea typeface="Courier New" pitchFamily="34" charset="-122"/>
                <a:cs typeface="Courier New" pitchFamily="34" charset="-120"/>
              </a:rPr>
              <a:t>KENT'S × VERITY</a:t>
            </a:r>
            <a:endParaRPr lang="en-US" sz="1800" dirty="0"/>
          </a:p>
        </p:txBody>
      </p:sp>
      <p:sp>
        <p:nvSpPr>
          <p:cNvPr id="6" name="Text 4"/>
          <p:cNvSpPr/>
          <p:nvPr/>
        </p:nvSpPr>
        <p:spPr>
          <a:xfrm>
            <a:off x="14065895" y="9286875"/>
            <a:ext cx="3596566" cy="276225"/>
          </a:xfrm>
          <a:prstGeom prst="rect">
            <a:avLst/>
          </a:prstGeom>
          <a:noFill/>
          <a:ln/>
        </p:spPr>
        <p:txBody>
          <a:bodyPr wrap="square" lIns="25400" tIns="25400" rIns="25400" bIns="25400" rtlCol="0" anchor="t">
            <a:normAutofit/>
          </a:bodyPr>
          <a:lstStyle/>
          <a:p>
            <a:pPr algn="l" indent="0" marL="0">
              <a:buNone/>
            </a:pPr>
            <a:r>
              <a:rPr lang="en-US" sz="1650" dirty="0">
                <a:solidFill>
                  <a:srgbClr val="6E655C"/>
                </a:solidFill>
                <a:latin typeface="Courier New" pitchFamily="34" charset="0"/>
                <a:ea typeface="Courier New" pitchFamily="34" charset="-122"/>
                <a:cs typeface="Courier New" pitchFamily="34" charset="-120"/>
              </a:rPr>
              <a:t>Defence Colony · New Delhi</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2026-09-01T19:04:57Z</dcterms:created>
  <dcterms:modified xsi:type="dcterms:W3CDTF">2026-09-01T19:04:57Z</dcterms:modified>
</cp:coreProperties>
</file>